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Caveat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7" roundtripDataSignature="AMtx7miXHry0Q4GHOL7KoTKQd9lX62vm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429986-F9CE-4E80-9E20-D7C813FEEA1A}">
  <a:tblStyle styleId="{48429986-F9CE-4E80-9E20-D7C813FEEA1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Caveat-bold.fntdata"/><Relationship Id="rId25" Type="http://schemas.openxmlformats.org/officeDocument/2006/relationships/font" Target="fonts/Caveat-regular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6a556f04c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e6a556f04c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b2f583ca1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g3eb2f583ca1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b2f583ca1_0_12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eb2f583ca1_0_1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b2f583ca1_0_12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eb2f583ca1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b2f583ca1_0_14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eb2f583ca1_0_1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b2f583ca1_0_16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eb2f583ca1_0_1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b2f583ca1_0_25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eb2f583ca1_0_2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6a556f04c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3e6a556f04c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b2f583ca1_0_3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eb2f583ca1_0_3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b2f583ca1_0_28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eb2f583ca1_0_2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b2f583ca1_0_29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g3eb2f583ca1_0_2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eb2f583ca1_0_42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eb2f583ca1_0_4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b2f583ca1_0_460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3eb2f583ca1_0_4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eb2f583ca1_0_460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eb2f583ca1_0_4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eb2f583ca1_0_46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eb2f583ca1_0_4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ad7eb9dca_146_0)">
  <p:cSld name="Generated (g3dad7eb9dca_146_0)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 and body (g3decdefcddd_7_0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decdefcddd_0_1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g3decdefcddd_0_1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g3decdefcddd_0_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"/>
          <p:cNvGrpSpPr/>
          <p:nvPr/>
        </p:nvGrpSpPr>
        <p:grpSpPr>
          <a:xfrm>
            <a:off x="0" y="0"/>
            <a:ext cx="9144000" cy="1143000"/>
            <a:chOff x="0" y="0"/>
            <a:chExt cx="9144000" cy="1143000"/>
          </a:xfrm>
        </p:grpSpPr>
        <p:sp>
          <p:nvSpPr>
            <p:cNvPr id="60" name="Google Shape;60;p1"/>
            <p:cNvSpPr/>
            <p:nvPr/>
          </p:nvSpPr>
          <p:spPr>
            <a:xfrm>
              <a:off x="0" y="0"/>
              <a:ext cx="9144000" cy="1143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" name="Google Shape;61;p1"/>
            <p:cNvPicPr preferRelativeResize="0"/>
            <p:nvPr/>
          </p:nvPicPr>
          <p:blipFill rotWithShape="1">
            <a:blip r:embed="rId4">
              <a:alphaModFix/>
            </a:blip>
            <a:srcRect b="0" l="3341" r="3341" t="0"/>
            <a:stretch/>
          </p:blipFill>
          <p:spPr>
            <a:xfrm>
              <a:off x="4286250" y="228600"/>
              <a:ext cx="571500" cy="685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" name="Google Shape;62;p1"/>
          <p:cNvSpPr txBox="1"/>
          <p:nvPr/>
        </p:nvSpPr>
        <p:spPr>
          <a:xfrm>
            <a:off x="381000" y="1333500"/>
            <a:ext cx="838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000000"/>
              </a:buClr>
              <a:buSzPts val="1665"/>
              <a:buFont typeface="Arial"/>
              <a:buNone/>
            </a:pPr>
            <a:r>
              <a:rPr b="1" lang="en" sz="3330">
                <a:solidFill>
                  <a:srgbClr val="1E3A8A"/>
                </a:solidFill>
              </a:rPr>
              <a:t>Building a Multi-Level Validation Framework for KG</a:t>
            </a:r>
            <a:endParaRPr b="0" i="0" sz="1665" u="none" cap="none" strike="noStrike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"/>
          <p:cNvGrpSpPr/>
          <p:nvPr/>
        </p:nvGrpSpPr>
        <p:grpSpPr>
          <a:xfrm>
            <a:off x="2667000" y="2667000"/>
            <a:ext cx="3810000" cy="1333500"/>
            <a:chOff x="2667000" y="2667000"/>
            <a:chExt cx="3810000" cy="1333500"/>
          </a:xfrm>
        </p:grpSpPr>
        <p:sp>
          <p:nvSpPr>
            <p:cNvPr id="64" name="Google Shape;64;p1"/>
            <p:cNvSpPr/>
            <p:nvPr/>
          </p:nvSpPr>
          <p:spPr>
            <a:xfrm>
              <a:off x="2667000" y="2667000"/>
              <a:ext cx="3810000" cy="1333500"/>
            </a:xfrm>
            <a:prstGeom prst="roundRect">
              <a:avLst>
                <a:gd fmla="val 8571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 txBox="1"/>
            <p:nvPr/>
          </p:nvSpPr>
          <p:spPr>
            <a:xfrm>
              <a:off x="2667000" y="2667000"/>
              <a:ext cx="3810000" cy="1333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Nilesh Gupta</a:t>
              </a:r>
              <a:endParaRPr b="1" i="0" sz="1800" u="none" cap="none" strike="noStrike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(25CS60R64)</a:t>
              </a:r>
              <a:endParaRPr b="0" i="0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" name="Google Shape;66;p1"/>
          <p:cNvGrpSpPr/>
          <p:nvPr/>
        </p:nvGrpSpPr>
        <p:grpSpPr>
          <a:xfrm>
            <a:off x="0" y="4696255"/>
            <a:ext cx="9144000" cy="447446"/>
            <a:chOff x="0" y="4381500"/>
            <a:chExt cx="9144000" cy="762000"/>
          </a:xfrm>
        </p:grpSpPr>
        <p:sp>
          <p:nvSpPr>
            <p:cNvPr id="67" name="Google Shape;67;p1"/>
            <p:cNvSpPr/>
            <p:nvPr/>
          </p:nvSpPr>
          <p:spPr>
            <a:xfrm>
              <a:off x="0" y="4381500"/>
              <a:ext cx="9144000" cy="7620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 txBox="1"/>
            <p:nvPr/>
          </p:nvSpPr>
          <p:spPr>
            <a:xfrm>
              <a:off x="381000" y="4381500"/>
              <a:ext cx="4000500" cy="7620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Department of Computer Science and Engineering</a:t>
              </a:r>
              <a:endParaRPr b="0" i="0" sz="1200" u="none" cap="none" strike="noStrike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 txBox="1"/>
            <p:nvPr/>
          </p:nvSpPr>
          <p:spPr>
            <a:xfrm>
              <a:off x="4762500" y="4381500"/>
              <a:ext cx="4000500" cy="7620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" sz="1200" u="none" cap="none" strike="noStrike">
                  <a:solidFill>
                    <a:srgbClr val="1A2733"/>
                  </a:solidFill>
                  <a:latin typeface="Arial"/>
                  <a:ea typeface="Arial"/>
                  <a:cs typeface="Arial"/>
                  <a:sym typeface="Arial"/>
                </a:rPr>
                <a:t>Indian Institute of Technology, Kharagpur</a:t>
              </a:r>
              <a:endParaRPr b="0" i="0" sz="1200" u="none" cap="none" strike="noStrike">
                <a:solidFill>
                  <a:srgbClr val="1A27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6a556f04c_0_9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720">
                <a:solidFill>
                  <a:srgbClr val="1C4587"/>
                </a:solidFill>
              </a:rPr>
              <a:t>Motivation</a:t>
            </a:r>
            <a:endParaRPr b="1" sz="2720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b="1" sz="2720">
              <a:solidFill>
                <a:srgbClr val="1C4587"/>
              </a:solidFill>
            </a:endParaRPr>
          </a:p>
        </p:txBody>
      </p:sp>
      <p:sp>
        <p:nvSpPr>
          <p:cNvPr id="75" name="Google Shape;75;g3e6a556f04c_0_91"/>
          <p:cNvSpPr/>
          <p:nvPr/>
        </p:nvSpPr>
        <p:spPr>
          <a:xfrm>
            <a:off x="530100" y="920325"/>
            <a:ext cx="8302200" cy="40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rPr b="1" lang="en" sz="1500">
                <a:solidFill>
                  <a:srgbClr val="073763"/>
                </a:solidFill>
              </a:rPr>
              <a:t>Why Knowledge Graph Validation Matters? </a:t>
            </a:r>
            <a:endParaRPr b="1" i="0" sz="1500" u="none" cap="none" strike="noStrike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1A2733"/>
                </a:solidFill>
              </a:rPr>
              <a:t>Knowledge Graphs constructed from LLMs and scientific literature often contain: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Hallucinated triples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Incorrect relations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Ontology inconsistencies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Unsupported scientific claims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Duplicate and noisy entities</a:t>
            </a:r>
            <a:endParaRPr sz="1500">
              <a:solidFill>
                <a:srgbClr val="1A2733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rgbClr val="1A2733"/>
                </a:solidFill>
              </a:rPr>
              <a:t>Weak reasoning paths</a:t>
            </a:r>
            <a:endParaRPr sz="1500">
              <a:solidFill>
                <a:srgbClr val="1A273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</a:rPr>
              <a:t>Key Question</a:t>
            </a:r>
            <a:endParaRPr b="1" sz="1500">
              <a:solidFill>
                <a:srgbClr val="07376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How can we automatically validate extracted knowledge before inserting it into the Knowledge Graph?</a:t>
            </a:r>
            <a:endParaRPr b="1" i="0" sz="1500" u="none" cap="none" strike="noStrike">
              <a:solidFill>
                <a:srgbClr val="07376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b2f583ca1_0_3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Proposed Validation Framework</a:t>
            </a:r>
            <a:endParaRPr b="1" sz="30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" name="Google Shape;81;g3eb2f583ca1_0_323"/>
          <p:cNvGrpSpPr/>
          <p:nvPr/>
        </p:nvGrpSpPr>
        <p:grpSpPr>
          <a:xfrm>
            <a:off x="311705" y="1556383"/>
            <a:ext cx="8610905" cy="2653518"/>
            <a:chOff x="381000" y="1095375"/>
            <a:chExt cx="8191500" cy="2524275"/>
          </a:xfrm>
        </p:grpSpPr>
        <p:sp>
          <p:nvSpPr>
            <p:cNvPr id="82" name="Google Shape;82;g3eb2f583ca1_0_323"/>
            <p:cNvSpPr/>
            <p:nvPr/>
          </p:nvSpPr>
          <p:spPr>
            <a:xfrm>
              <a:off x="381000" y="1095375"/>
              <a:ext cx="21909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15025">
              <a:solidFill>
                <a:srgbClr val="64748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83" name="Google Shape;83;g3eb2f583ca1_0_323"/>
            <p:cNvSpPr txBox="1"/>
            <p:nvPr/>
          </p:nvSpPr>
          <p:spPr>
            <a:xfrm>
              <a:off x="381000" y="1095375"/>
              <a:ext cx="21909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150" lIns="120150" spcFirstLastPara="1" rIns="120150" wrap="square" tIns="120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Phase 1: Extraction &amp; Grounding</a:t>
              </a:r>
              <a:endParaRPr b="1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2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1. Scientific Papers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2. Ontology-Aware Extraction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3. Local Citation Grounding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g3eb2f583ca1_0_323"/>
            <p:cNvSpPr/>
            <p:nvPr/>
          </p:nvSpPr>
          <p:spPr>
            <a:xfrm>
              <a:off x="381000" y="2476500"/>
              <a:ext cx="2190900" cy="666900"/>
            </a:xfrm>
            <a:prstGeom prst="roundRect">
              <a:avLst>
                <a:gd fmla="val 11428" name="adj"/>
              </a:avLst>
            </a:prstGeom>
            <a:solidFill>
              <a:srgbClr val="F8FAFC"/>
            </a:solidFill>
            <a:ln cap="flat" cmpd="sng" w="15025">
              <a:solidFill>
                <a:srgbClr val="64748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85" name="Google Shape;85;g3eb2f583ca1_0_323"/>
            <p:cNvSpPr txBox="1"/>
            <p:nvPr/>
          </p:nvSpPr>
          <p:spPr>
            <a:xfrm>
              <a:off x="381000" y="2476500"/>
              <a:ext cx="2190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150" lIns="120150" spcFirstLastPara="1" rIns="120150" wrap="square" tIns="120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Phase 2: Validation</a:t>
              </a:r>
              <a:endParaRPr b="1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2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4. Structural + Ontology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g3eb2f583ca1_0_323"/>
            <p:cNvSpPr/>
            <p:nvPr/>
          </p:nvSpPr>
          <p:spPr>
            <a:xfrm>
              <a:off x="3143250" y="1095375"/>
              <a:ext cx="2190900" cy="1381200"/>
            </a:xfrm>
            <a:prstGeom prst="roundRect">
              <a:avLst>
                <a:gd fmla="val 5516" name="adj"/>
              </a:avLst>
            </a:prstGeom>
            <a:solidFill>
              <a:srgbClr val="F1F5F9"/>
            </a:solidFill>
            <a:ln cap="flat" cmpd="sng" w="20025">
              <a:solidFill>
                <a:srgbClr val="33415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87" name="Google Shape;87;g3eb2f583ca1_0_323"/>
            <p:cNvSpPr txBox="1"/>
            <p:nvPr/>
          </p:nvSpPr>
          <p:spPr>
            <a:xfrm>
              <a:off x="3143250" y="1095375"/>
              <a:ext cx="2190900" cy="1381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20150" lIns="120150" spcFirstLastPara="1" rIns="120150" wrap="square" tIns="120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Phase 3: RAG Retrieval &amp; Validation</a:t>
              </a:r>
              <a:endParaRPr b="1" i="0" sz="12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2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5. Multi-Doc Retrieval</a:t>
              </a:r>
              <a:endParaRPr b="0" i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2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6. Evidence Reranking</a:t>
              </a:r>
              <a:endParaRPr b="0" i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20"/>
                </a:spcBef>
                <a:spcAft>
                  <a:spcPts val="420"/>
                </a:spcAft>
                <a:buNone/>
              </a:pPr>
              <a:r>
                <a:rPr b="0" i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7. LLM Evidence Validation</a:t>
              </a:r>
              <a:endParaRPr b="0" i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g3eb2f583ca1_0_323"/>
            <p:cNvSpPr/>
            <p:nvPr/>
          </p:nvSpPr>
          <p:spPr>
            <a:xfrm>
              <a:off x="3143250" y="2762250"/>
              <a:ext cx="2190900" cy="857400"/>
            </a:xfrm>
            <a:prstGeom prst="roundRect">
              <a:avLst>
                <a:gd fmla="val 8888" name="adj"/>
              </a:avLst>
            </a:prstGeom>
            <a:solidFill>
              <a:srgbClr val="F8FAFC"/>
            </a:solidFill>
            <a:ln cap="flat" cmpd="sng" w="15025">
              <a:solidFill>
                <a:srgbClr val="64748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89" name="Google Shape;89;g3eb2f583ca1_0_323"/>
            <p:cNvSpPr txBox="1"/>
            <p:nvPr/>
          </p:nvSpPr>
          <p:spPr>
            <a:xfrm>
              <a:off x="3143250" y="2762250"/>
              <a:ext cx="2190900" cy="857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120150" lIns="120150" spcFirstLastPara="1" rIns="120150" wrap="square" tIns="120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Phase 4: Evidence Scoring</a:t>
              </a:r>
              <a:endParaRPr b="1" i="0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20"/>
                </a:spcBef>
                <a:spcAft>
                  <a:spcPts val="0"/>
                </a:spcAft>
                <a:buNone/>
              </a:pPr>
              <a:r>
                <a:rPr b="0" i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8. Cross-Doc Evidence Fusion</a:t>
              </a:r>
              <a:endParaRPr b="0" i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20"/>
                </a:spcBef>
                <a:spcAft>
                  <a:spcPts val="420"/>
                </a:spcAft>
                <a:buNone/>
              </a:pPr>
              <a:r>
                <a:rPr b="0" i="0"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9. Global Confidence Scoring</a:t>
              </a:r>
              <a:endParaRPr b="0" i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g3eb2f583ca1_0_323"/>
            <p:cNvSpPr/>
            <p:nvPr/>
          </p:nvSpPr>
          <p:spPr>
            <a:xfrm>
              <a:off x="5905500" y="1095375"/>
              <a:ext cx="2667000" cy="1285800"/>
            </a:xfrm>
            <a:prstGeom prst="roundRect">
              <a:avLst>
                <a:gd fmla="val 5925" name="adj"/>
              </a:avLst>
            </a:prstGeom>
            <a:solidFill>
              <a:srgbClr val="F8FAFC"/>
            </a:solidFill>
            <a:ln cap="flat" cmpd="sng" w="15025">
              <a:solidFill>
                <a:srgbClr val="64748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91" name="Google Shape;91;g3eb2f583ca1_0_323"/>
            <p:cNvSpPr txBox="1"/>
            <p:nvPr/>
          </p:nvSpPr>
          <p:spPr>
            <a:xfrm>
              <a:off x="5905500" y="1095375"/>
              <a:ext cx="26670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0150" lIns="120150" spcFirstLastPara="1" rIns="120150" wrap="square" tIns="1201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Phase 5: KG Construction</a:t>
              </a:r>
              <a:endParaRPr b="1" sz="12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2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10. Knowledge Graph Construction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11. Reasoning Path Generation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12. Reasoning Path Validation</a:t>
              </a:r>
              <a:endParaRPr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" name="Google Shape;92;g3eb2f583ca1_0_323"/>
          <p:cNvSpPr/>
          <p:nvPr/>
        </p:nvSpPr>
        <p:spPr>
          <a:xfrm>
            <a:off x="2805725" y="2424975"/>
            <a:ext cx="279600" cy="25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3" name="Google Shape;93;g3eb2f583ca1_0_323"/>
          <p:cNvSpPr/>
          <p:nvPr/>
        </p:nvSpPr>
        <p:spPr>
          <a:xfrm>
            <a:off x="5621825" y="2383550"/>
            <a:ext cx="279600" cy="258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>
                <a:solidFill>
                  <a:srgbClr val="1C4587"/>
                </a:solidFill>
              </a:rPr>
              <a:t>Stage 1: Ontology-Aware Triple Extraction </a:t>
            </a:r>
            <a:endParaRPr b="1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 txBox="1"/>
          <p:nvPr>
            <p:ph idx="1" type="body"/>
          </p:nvPr>
        </p:nvSpPr>
        <p:spPr>
          <a:xfrm>
            <a:off x="450275" y="1230300"/>
            <a:ext cx="8382000" cy="364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Triple Extraction from Scientific Literature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Input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Scientific PDFs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Research papers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Domain literature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Objective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Convert unstructured scientific text into structured knowledge tuples.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Example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(Pesticide Exposure | increases | Oxidative Stress)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5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b2f583ca1_0_12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>
                <a:solidFill>
                  <a:srgbClr val="1C4587"/>
                </a:solidFill>
              </a:rPr>
              <a:t>Stage 2: Local Citation Grounding </a:t>
            </a:r>
            <a:r>
              <a:rPr b="1" lang="en">
                <a:solidFill>
                  <a:srgbClr val="1C4587"/>
                </a:solidFill>
              </a:rPr>
              <a:t> </a:t>
            </a:r>
            <a:endParaRPr b="1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05" name="Google Shape;105;g3eb2f583ca1_0_1255"/>
          <p:cNvSpPr txBox="1"/>
          <p:nvPr>
            <p:ph idx="1" type="body"/>
          </p:nvPr>
        </p:nvSpPr>
        <p:spPr>
          <a:xfrm>
            <a:off x="450275" y="1068675"/>
            <a:ext cx="8520600" cy="381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dk1"/>
                </a:solidFill>
              </a:rPr>
              <a:t>Attach provenance information directly from the source paper during extraction.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500">
                <a:solidFill>
                  <a:schemeClr val="dk1"/>
                </a:solidFill>
              </a:rPr>
              <a:t>Stored Citation Metadata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Supporting sentence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Paragraph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Section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DOI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Paper title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Page number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SzPts val="1100"/>
              <a:buNone/>
            </a:pPr>
            <a:r>
              <a:rPr b="1" lang="en" sz="1500">
                <a:solidFill>
                  <a:schemeClr val="dk1"/>
                </a:solidFill>
              </a:rPr>
              <a:t>Example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" sz="1500">
                <a:solidFill>
                  <a:schemeClr val="dk1"/>
                </a:solidFill>
              </a:rPr>
              <a:t>Triple : </a:t>
            </a:r>
            <a:r>
              <a:rPr lang="en" sz="1500">
                <a:solidFill>
                  <a:schemeClr val="dk1"/>
                </a:solidFill>
              </a:rPr>
              <a:t>(Pesticide Exposure | increases | Inflammation)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200"/>
              </a:spcAft>
              <a:buSzPts val="1100"/>
              <a:buNone/>
            </a:pPr>
            <a:r>
              <a:rPr b="1" lang="en" sz="1500">
                <a:solidFill>
                  <a:schemeClr val="dk1"/>
                </a:solidFill>
              </a:rPr>
              <a:t>Evidence : </a:t>
            </a:r>
            <a:r>
              <a:rPr lang="en" sz="1500">
                <a:solidFill>
                  <a:schemeClr val="dk1"/>
                </a:solidFill>
              </a:rPr>
              <a:t>“Chronic pesticide exposure induces inflammatory responses…”</a:t>
            </a:r>
            <a:endParaRPr b="1" sz="15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b2f583ca1_0_12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b="1" lang="en">
                <a:solidFill>
                  <a:srgbClr val="1C4587"/>
                </a:solidFill>
              </a:rPr>
              <a:t>Stage 3: Structural + Ontology Validation </a:t>
            </a:r>
            <a:endParaRPr b="1">
              <a:solidFill>
                <a:srgbClr val="1C4587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11" name="Google Shape;111;g3eb2f583ca1_0_1262"/>
          <p:cNvSpPr txBox="1"/>
          <p:nvPr>
            <p:ph idx="1" type="body"/>
          </p:nvPr>
        </p:nvSpPr>
        <p:spPr>
          <a:xfrm>
            <a:off x="450275" y="1068675"/>
            <a:ext cx="8520600" cy="6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500">
                <a:solidFill>
                  <a:srgbClr val="20124D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 sz="1500">
              <a:solidFill>
                <a:srgbClr val="20124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accent2"/>
                </a:solidFill>
              </a:rPr>
              <a:t>Remove malformed and logically inconsistent triples before graph insertion.</a:t>
            </a:r>
            <a:endParaRPr sz="1500">
              <a:solidFill>
                <a:schemeClr val="accent2"/>
              </a:solidFill>
            </a:endParaRPr>
          </a:p>
        </p:txBody>
      </p:sp>
      <p:grpSp>
        <p:nvGrpSpPr>
          <p:cNvPr id="112" name="Google Shape;112;g3eb2f583ca1_0_1262"/>
          <p:cNvGrpSpPr/>
          <p:nvPr/>
        </p:nvGrpSpPr>
        <p:grpSpPr>
          <a:xfrm>
            <a:off x="311467" y="1809750"/>
            <a:ext cx="4143300" cy="3048000"/>
            <a:chOff x="311468" y="1809750"/>
            <a:chExt cx="4143300" cy="3048000"/>
          </a:xfrm>
        </p:grpSpPr>
        <p:sp>
          <p:nvSpPr>
            <p:cNvPr id="113" name="Google Shape;113;g3eb2f583ca1_0_1262"/>
            <p:cNvSpPr/>
            <p:nvPr/>
          </p:nvSpPr>
          <p:spPr>
            <a:xfrm>
              <a:off x="311467" y="1809750"/>
              <a:ext cx="41433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19050">
              <a:solidFill>
                <a:srgbClr val="D0E4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g3eb2f583ca1_0_1262"/>
            <p:cNvSpPr/>
            <p:nvPr/>
          </p:nvSpPr>
          <p:spPr>
            <a:xfrm>
              <a:off x="311467" y="1809750"/>
              <a:ext cx="4143300" cy="428700"/>
            </a:xfrm>
            <a:prstGeom prst="roundRect">
              <a:avLst>
                <a:gd fmla="val 26666" name="adj"/>
              </a:avLst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3eb2f583ca1_0_1262"/>
            <p:cNvSpPr/>
            <p:nvPr/>
          </p:nvSpPr>
          <p:spPr>
            <a:xfrm>
              <a:off x="311467" y="2047875"/>
              <a:ext cx="4143300" cy="1905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g3eb2f583ca1_0_1262"/>
            <p:cNvSpPr txBox="1"/>
            <p:nvPr/>
          </p:nvSpPr>
          <p:spPr>
            <a:xfrm>
              <a:off x="311467" y="1809750"/>
              <a:ext cx="4143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Structural Validation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g3eb2f583ca1_0_1262"/>
            <p:cNvSpPr txBox="1"/>
            <p:nvPr/>
          </p:nvSpPr>
          <p:spPr>
            <a:xfrm>
              <a:off x="501967" y="2333625"/>
              <a:ext cx="37623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C4587"/>
                  </a:solidFill>
                </a:rPr>
                <a:t>Checks Performed</a:t>
              </a:r>
              <a:endParaRPr b="1" sz="1500">
                <a:solidFill>
                  <a:srgbClr val="1C4587"/>
                </a:solidFill>
              </a:endParaRPr>
            </a:p>
            <a:p>
              <a:pPr indent="-3238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lang="en" sz="1500">
                  <a:solidFill>
                    <a:srgbClr val="334155"/>
                  </a:solidFill>
                </a:rPr>
                <a:t>missing entities</a:t>
              </a:r>
              <a:endParaRPr sz="1500">
                <a:solidFill>
                  <a:srgbClr val="334155"/>
                </a:solidFill>
              </a:endParaRPr>
            </a:p>
            <a:p>
              <a:pPr indent="-3238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lang="en" sz="1500">
                  <a:solidFill>
                    <a:srgbClr val="334155"/>
                  </a:solidFill>
                </a:rPr>
                <a:t>invalid tuple structure</a:t>
              </a:r>
              <a:endParaRPr sz="1500">
                <a:solidFill>
                  <a:srgbClr val="334155"/>
                </a:solidFill>
              </a:endParaRPr>
            </a:p>
            <a:p>
              <a:pPr indent="-3238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lang="en" sz="1500">
                  <a:solidFill>
                    <a:srgbClr val="334155"/>
                  </a:solidFill>
                </a:rPr>
                <a:t>empty relations</a:t>
              </a:r>
              <a:endParaRPr sz="1500">
                <a:solidFill>
                  <a:srgbClr val="334155"/>
                </a:solidFill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9F1239"/>
                  </a:solidFill>
                  <a:highlight>
                    <a:srgbClr val="FFF1F2"/>
                  </a:highlight>
                </a:rPr>
                <a:t>Invalid Example:</a:t>
              </a:r>
              <a:endParaRPr b="1" sz="1500">
                <a:solidFill>
                  <a:srgbClr val="9F1239"/>
                </a:solidFill>
                <a:highlight>
                  <a:srgbClr val="FFF1F2"/>
                </a:highlight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BE123C"/>
                  </a:solidFill>
                  <a:highlight>
                    <a:srgbClr val="FFF1F2"/>
                  </a:highlight>
                </a:rPr>
                <a:t>(Pesticide Exposure | | Oxidative Stress)</a:t>
              </a:r>
              <a:endParaRPr sz="1500">
                <a:solidFill>
                  <a:srgbClr val="BE123C"/>
                </a:solidFill>
                <a:highlight>
                  <a:srgbClr val="FFF1F2"/>
                </a:highlight>
              </a:endParaRPr>
            </a:p>
          </p:txBody>
        </p:sp>
      </p:grpSp>
      <p:grpSp>
        <p:nvGrpSpPr>
          <p:cNvPr id="118" name="Google Shape;118;g3eb2f583ca1_0_1262"/>
          <p:cNvGrpSpPr/>
          <p:nvPr/>
        </p:nvGrpSpPr>
        <p:grpSpPr>
          <a:xfrm>
            <a:off x="4689158" y="1809750"/>
            <a:ext cx="4143300" cy="3048000"/>
            <a:chOff x="4689158" y="1809750"/>
            <a:chExt cx="4143300" cy="3048000"/>
          </a:xfrm>
        </p:grpSpPr>
        <p:sp>
          <p:nvSpPr>
            <p:cNvPr id="119" name="Google Shape;119;g3eb2f583ca1_0_1262"/>
            <p:cNvSpPr/>
            <p:nvPr/>
          </p:nvSpPr>
          <p:spPr>
            <a:xfrm>
              <a:off x="4689158" y="1809750"/>
              <a:ext cx="41433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19050">
              <a:solidFill>
                <a:srgbClr val="D0E4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g3eb2f583ca1_0_1262"/>
            <p:cNvSpPr/>
            <p:nvPr/>
          </p:nvSpPr>
          <p:spPr>
            <a:xfrm>
              <a:off x="4689158" y="1809750"/>
              <a:ext cx="4143300" cy="428700"/>
            </a:xfrm>
            <a:prstGeom prst="roundRect">
              <a:avLst>
                <a:gd fmla="val 26666" name="adj"/>
              </a:avLst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g3eb2f583ca1_0_1262"/>
            <p:cNvSpPr/>
            <p:nvPr/>
          </p:nvSpPr>
          <p:spPr>
            <a:xfrm>
              <a:off x="4689158" y="2047875"/>
              <a:ext cx="4143300" cy="1905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g3eb2f583ca1_0_1262"/>
            <p:cNvSpPr txBox="1"/>
            <p:nvPr/>
          </p:nvSpPr>
          <p:spPr>
            <a:xfrm>
              <a:off x="4689158" y="1809750"/>
              <a:ext cx="4143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Ontology Validation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g3eb2f583ca1_0_1262"/>
            <p:cNvSpPr txBox="1"/>
            <p:nvPr/>
          </p:nvSpPr>
          <p:spPr>
            <a:xfrm>
              <a:off x="4879658" y="2333625"/>
              <a:ext cx="37623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C4587"/>
                  </a:solidFill>
                </a:rPr>
                <a:t>Purpose</a:t>
              </a:r>
              <a:endParaRPr b="1" sz="1300">
                <a:solidFill>
                  <a:srgbClr val="1C4587"/>
                </a:solidFill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334155"/>
                  </a:solidFill>
                </a:rPr>
                <a:t>Ensure triples satisfy domain ontology constraints.</a:t>
              </a:r>
              <a:endParaRPr sz="1300">
                <a:solidFill>
                  <a:srgbClr val="334155"/>
                </a:solidFill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C4587"/>
                  </a:solidFill>
                </a:rPr>
                <a:t>Validation Types</a:t>
              </a:r>
              <a:endParaRPr b="1" sz="1300">
                <a:solidFill>
                  <a:srgbClr val="1C4587"/>
                </a:solidFill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34155"/>
                  </a:solidFill>
                </a:rPr>
                <a:t>Entity Type Validation</a:t>
              </a:r>
              <a:endParaRPr b="1" sz="1300">
                <a:solidFill>
                  <a:srgbClr val="334155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334155"/>
                  </a:solidFill>
                </a:rPr>
                <a:t>Pesticide → Chemical | Parkinson Disease → Disease</a:t>
              </a:r>
              <a:endParaRPr sz="1300">
                <a:solidFill>
                  <a:srgbClr val="334155"/>
                </a:solidFill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334155"/>
                  </a:solidFill>
                </a:rPr>
                <a:t>Domain-Range Validation</a:t>
              </a:r>
              <a:endParaRPr b="1" sz="1300">
                <a:solidFill>
                  <a:srgbClr val="334155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334155"/>
                  </a:solidFill>
                </a:rPr>
                <a:t>causes(Chemical, Disease)</a:t>
              </a:r>
              <a:endParaRPr sz="1300">
                <a:solidFill>
                  <a:srgbClr val="334155"/>
                </a:solidFill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9F1239"/>
                  </a:solidFill>
                  <a:highlight>
                    <a:srgbClr val="FFF1F2"/>
                  </a:highlight>
                </a:rPr>
                <a:t>Invalid Example:</a:t>
              </a:r>
              <a:endParaRPr b="1" sz="1300">
                <a:solidFill>
                  <a:srgbClr val="9F1239"/>
                </a:solidFill>
                <a:highlight>
                  <a:srgbClr val="FFF1F2"/>
                </a:highlight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BE123C"/>
                  </a:solidFill>
                  <a:highlight>
                    <a:srgbClr val="FFF1F2"/>
                  </a:highlight>
                </a:rPr>
                <a:t>(Parkinson Disease | causes | Pesticide)</a:t>
              </a:r>
              <a:endParaRPr sz="1300">
                <a:solidFill>
                  <a:srgbClr val="BE123C"/>
                </a:solidFill>
                <a:highlight>
                  <a:srgbClr val="FFF1F2"/>
                </a:highlight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b2f583ca1_0_14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solidFill>
                  <a:srgbClr val="1C4587"/>
                </a:solidFill>
              </a:rPr>
              <a:t>Stage 4: Scientific Multi-Document Retrieval </a:t>
            </a:r>
            <a:endParaRPr/>
          </a:p>
        </p:txBody>
      </p:sp>
      <p:sp>
        <p:nvSpPr>
          <p:cNvPr id="129" name="Google Shape;129;g3eb2f583ca1_0_1434"/>
          <p:cNvSpPr txBox="1"/>
          <p:nvPr>
            <p:ph idx="1" type="body"/>
          </p:nvPr>
        </p:nvSpPr>
        <p:spPr>
          <a:xfrm>
            <a:off x="450275" y="1068675"/>
            <a:ext cx="8520600" cy="86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5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Core Idea</a:t>
            </a:r>
            <a:endParaRPr b="1" sz="1500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SzPts val="1100"/>
              <a:buNone/>
            </a:pPr>
            <a:r>
              <a:rPr lang="en" sz="1500">
                <a:solidFill>
                  <a:schemeClr val="accent2"/>
                </a:solidFill>
              </a:rPr>
              <a:t>Retrieve supporting evidence from multiple scientific papers to validate knowledge graph triples.</a:t>
            </a:r>
            <a:endParaRPr sz="1500">
              <a:solidFill>
                <a:schemeClr val="accent2"/>
              </a:solidFill>
            </a:endParaRPr>
          </a:p>
        </p:txBody>
      </p:sp>
      <p:grpSp>
        <p:nvGrpSpPr>
          <p:cNvPr id="130" name="Google Shape;130;g3eb2f583ca1_0_1434"/>
          <p:cNvGrpSpPr/>
          <p:nvPr/>
        </p:nvGrpSpPr>
        <p:grpSpPr>
          <a:xfrm>
            <a:off x="311700" y="2000250"/>
            <a:ext cx="4143300" cy="2857500"/>
            <a:chOff x="311700" y="2000250"/>
            <a:chExt cx="4143300" cy="2857500"/>
          </a:xfrm>
        </p:grpSpPr>
        <p:sp>
          <p:nvSpPr>
            <p:cNvPr id="131" name="Google Shape;131;g3eb2f583ca1_0_1434"/>
            <p:cNvSpPr/>
            <p:nvPr/>
          </p:nvSpPr>
          <p:spPr>
            <a:xfrm>
              <a:off x="311700" y="2000250"/>
              <a:ext cx="41433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9050">
              <a:solidFill>
                <a:srgbClr val="D0E4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g3eb2f583ca1_0_1434"/>
            <p:cNvSpPr/>
            <p:nvPr/>
          </p:nvSpPr>
          <p:spPr>
            <a:xfrm>
              <a:off x="311700" y="2000250"/>
              <a:ext cx="4143300" cy="428700"/>
            </a:xfrm>
            <a:prstGeom prst="roundRect">
              <a:avLst>
                <a:gd fmla="val 26666" name="adj"/>
              </a:avLst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g3eb2f583ca1_0_1434"/>
            <p:cNvSpPr/>
            <p:nvPr/>
          </p:nvSpPr>
          <p:spPr>
            <a:xfrm>
              <a:off x="311700" y="2238375"/>
              <a:ext cx="4143300" cy="1905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g3eb2f583ca1_0_1434"/>
            <p:cNvSpPr txBox="1"/>
            <p:nvPr/>
          </p:nvSpPr>
          <p:spPr>
            <a:xfrm>
              <a:off x="311700" y="2000250"/>
              <a:ext cx="4143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 Sources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g3eb2f583ca1_0_1434"/>
            <p:cNvSpPr txBox="1"/>
            <p:nvPr/>
          </p:nvSpPr>
          <p:spPr>
            <a:xfrm>
              <a:off x="502200" y="2524125"/>
              <a:ext cx="3762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Primary Repositories:</a:t>
              </a:r>
              <a:endParaRPr b="1" sz="13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PubMed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Semantic Scholar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Scientific corpora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Domain-specific repositories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" name="Google Shape;136;g3eb2f583ca1_0_1434"/>
          <p:cNvGrpSpPr/>
          <p:nvPr/>
        </p:nvGrpSpPr>
        <p:grpSpPr>
          <a:xfrm>
            <a:off x="4689005" y="2000250"/>
            <a:ext cx="4143300" cy="2857500"/>
            <a:chOff x="4689005" y="2000250"/>
            <a:chExt cx="4143300" cy="2857500"/>
          </a:xfrm>
        </p:grpSpPr>
        <p:sp>
          <p:nvSpPr>
            <p:cNvPr id="137" name="Google Shape;137;g3eb2f583ca1_0_1434"/>
            <p:cNvSpPr/>
            <p:nvPr/>
          </p:nvSpPr>
          <p:spPr>
            <a:xfrm>
              <a:off x="4689005" y="2000250"/>
              <a:ext cx="41433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9050">
              <a:solidFill>
                <a:srgbClr val="D0E4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g3eb2f583ca1_0_1434"/>
            <p:cNvSpPr/>
            <p:nvPr/>
          </p:nvSpPr>
          <p:spPr>
            <a:xfrm>
              <a:off x="4689005" y="2000250"/>
              <a:ext cx="4143300" cy="428700"/>
            </a:xfrm>
            <a:prstGeom prst="roundRect">
              <a:avLst>
                <a:gd fmla="val 26666" name="adj"/>
              </a:avLst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g3eb2f583ca1_0_1434"/>
            <p:cNvSpPr/>
            <p:nvPr/>
          </p:nvSpPr>
          <p:spPr>
            <a:xfrm>
              <a:off x="4689005" y="2238375"/>
              <a:ext cx="4143300" cy="1905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g3eb2f583ca1_0_1434"/>
            <p:cNvSpPr txBox="1"/>
            <p:nvPr/>
          </p:nvSpPr>
          <p:spPr>
            <a:xfrm>
              <a:off x="4689005" y="2000250"/>
              <a:ext cx="4143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Why Multi-Document?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g3eb2f583ca1_0_1434"/>
            <p:cNvSpPr txBox="1"/>
            <p:nvPr/>
          </p:nvSpPr>
          <p:spPr>
            <a:xfrm>
              <a:off x="4879505" y="2524125"/>
              <a:ext cx="3762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Mitigating Single-Paper Risks:</a:t>
              </a:r>
              <a:endParaRPr b="1" sz="13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Weak evidence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Uncertain findings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300"/>
                <a:buFont typeface="Arial"/>
                <a:buChar char="●"/>
              </a:pPr>
              <a:r>
                <a:rPr lang="en" sz="13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Incomplete conclusions</a:t>
              </a:r>
              <a:endParaRPr sz="13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2B6CB0"/>
                  </a:solidFill>
                  <a:highlight>
                    <a:srgbClr val="EBF8FF"/>
                  </a:highlight>
                  <a:latin typeface="Arial"/>
                  <a:ea typeface="Arial"/>
                  <a:cs typeface="Arial"/>
                  <a:sym typeface="Arial"/>
                </a:rPr>
                <a:t>Cross-verification improves scientific reliability and robustness.</a:t>
              </a:r>
              <a:endParaRPr b="1" sz="1100">
                <a:solidFill>
                  <a:srgbClr val="2B6CB0"/>
                </a:solidFill>
                <a:highlight>
                  <a:srgbClr val="EBF8FF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b2f583ca1_0_16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solidFill>
                  <a:srgbClr val="1C4587"/>
                </a:solidFill>
              </a:rPr>
              <a:t>Stage 5: Evidence Reranking </a:t>
            </a:r>
            <a:endParaRPr/>
          </a:p>
        </p:txBody>
      </p:sp>
      <p:grpSp>
        <p:nvGrpSpPr>
          <p:cNvPr id="147" name="Google Shape;147;g3eb2f583ca1_0_1600"/>
          <p:cNvGrpSpPr/>
          <p:nvPr/>
        </p:nvGrpSpPr>
        <p:grpSpPr>
          <a:xfrm>
            <a:off x="311467" y="1333500"/>
            <a:ext cx="4143300" cy="2857500"/>
            <a:chOff x="311468" y="1333500"/>
            <a:chExt cx="4143300" cy="2857500"/>
          </a:xfrm>
        </p:grpSpPr>
        <p:sp>
          <p:nvSpPr>
            <p:cNvPr id="148" name="Google Shape;148;g3eb2f583ca1_0_1600"/>
            <p:cNvSpPr/>
            <p:nvPr/>
          </p:nvSpPr>
          <p:spPr>
            <a:xfrm>
              <a:off x="311467" y="1333500"/>
              <a:ext cx="41433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9050">
              <a:solidFill>
                <a:srgbClr val="D0E4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g3eb2f583ca1_0_1600"/>
            <p:cNvSpPr/>
            <p:nvPr/>
          </p:nvSpPr>
          <p:spPr>
            <a:xfrm>
              <a:off x="311467" y="1333500"/>
              <a:ext cx="4143300" cy="428700"/>
            </a:xfrm>
            <a:prstGeom prst="roundRect">
              <a:avLst>
                <a:gd fmla="val 26666" name="adj"/>
              </a:avLst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g3eb2f583ca1_0_1600"/>
            <p:cNvSpPr/>
            <p:nvPr/>
          </p:nvSpPr>
          <p:spPr>
            <a:xfrm>
              <a:off x="311467" y="1571625"/>
              <a:ext cx="4143300" cy="1905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g3eb2f583ca1_0_1600"/>
            <p:cNvSpPr txBox="1"/>
            <p:nvPr/>
          </p:nvSpPr>
          <p:spPr>
            <a:xfrm>
              <a:off x="311467" y="1333500"/>
              <a:ext cx="4143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Problem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g3eb2f583ca1_0_1600"/>
            <p:cNvSpPr txBox="1"/>
            <p:nvPr/>
          </p:nvSpPr>
          <p:spPr>
            <a:xfrm>
              <a:off x="501967" y="1905000"/>
              <a:ext cx="3762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Retrieved documents may contain:</a:t>
              </a:r>
              <a:endParaRPr b="1" sz="15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b="0"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noisy passages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b="0"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irrelevant chunks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10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b="0"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weak semantic matches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3" name="Google Shape;153;g3eb2f583ca1_0_1600"/>
          <p:cNvGrpSpPr/>
          <p:nvPr/>
        </p:nvGrpSpPr>
        <p:grpSpPr>
          <a:xfrm>
            <a:off x="4689158" y="1333500"/>
            <a:ext cx="4143300" cy="2857500"/>
            <a:chOff x="4689158" y="1333500"/>
            <a:chExt cx="4143300" cy="2857500"/>
          </a:xfrm>
        </p:grpSpPr>
        <p:sp>
          <p:nvSpPr>
            <p:cNvPr id="154" name="Google Shape;154;g3eb2f583ca1_0_1600"/>
            <p:cNvSpPr/>
            <p:nvPr/>
          </p:nvSpPr>
          <p:spPr>
            <a:xfrm>
              <a:off x="4689158" y="1333500"/>
              <a:ext cx="41433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19050">
              <a:solidFill>
                <a:srgbClr val="D0E4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g3eb2f583ca1_0_1600"/>
            <p:cNvSpPr/>
            <p:nvPr/>
          </p:nvSpPr>
          <p:spPr>
            <a:xfrm>
              <a:off x="4689158" y="1333500"/>
              <a:ext cx="4143300" cy="428700"/>
            </a:xfrm>
            <a:prstGeom prst="roundRect">
              <a:avLst>
                <a:gd fmla="val 26666" name="adj"/>
              </a:avLst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g3eb2f583ca1_0_1600"/>
            <p:cNvSpPr/>
            <p:nvPr/>
          </p:nvSpPr>
          <p:spPr>
            <a:xfrm>
              <a:off x="4689158" y="1571625"/>
              <a:ext cx="4143300" cy="1905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g3eb2f583ca1_0_1600"/>
            <p:cNvSpPr txBox="1"/>
            <p:nvPr/>
          </p:nvSpPr>
          <p:spPr>
            <a:xfrm>
              <a:off x="4689158" y="1333500"/>
              <a:ext cx="41433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Solution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g3eb2f583ca1_0_1600"/>
            <p:cNvSpPr txBox="1"/>
            <p:nvPr/>
          </p:nvSpPr>
          <p:spPr>
            <a:xfrm>
              <a:off x="4879658" y="1905000"/>
              <a:ext cx="3762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Rerank evidence using:</a:t>
              </a:r>
              <a:endParaRPr b="1" sz="15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b="0"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semantic similarity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b="0"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ontology relevance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b="0"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scientific context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b="0"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relation alignment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" name="Google Shape;159;g3eb2f583ca1_0_1600"/>
          <p:cNvSpPr txBox="1"/>
          <p:nvPr/>
        </p:nvSpPr>
        <p:spPr>
          <a:xfrm>
            <a:off x="311468" y="4524375"/>
            <a:ext cx="8520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Benefit:</a:t>
            </a:r>
            <a:r>
              <a:rPr b="1" lang="en" sz="15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lang="en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Improves quality of evidence passed to the validator model.</a:t>
            </a:r>
            <a:endParaRPr b="1" sz="15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eb2f583ca1_0_25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8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Stage 6: LLM Evidence Validation</a:t>
            </a:r>
            <a:endParaRPr b="1" sz="238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g3eb2f583ca1_0_2512"/>
          <p:cNvSpPr txBox="1"/>
          <p:nvPr/>
        </p:nvSpPr>
        <p:spPr>
          <a:xfrm>
            <a:off x="400050" y="1095375"/>
            <a:ext cx="8334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Objective: </a:t>
            </a:r>
            <a:r>
              <a:rPr lang="en">
                <a:solidFill>
                  <a:srgbClr val="334155"/>
                </a:solidFill>
              </a:rPr>
              <a:t>Assess whether retrieved scientific evidence locally supports or contradicts the extracted triple </a:t>
            </a:r>
            <a:endParaRPr b="1" sz="1400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g3eb2f583ca1_0_2512"/>
          <p:cNvGrpSpPr/>
          <p:nvPr/>
        </p:nvGrpSpPr>
        <p:grpSpPr>
          <a:xfrm>
            <a:off x="400050" y="1571625"/>
            <a:ext cx="2667000" cy="2667000"/>
            <a:chOff x="400050" y="1571625"/>
            <a:chExt cx="2667000" cy="2667000"/>
          </a:xfrm>
        </p:grpSpPr>
        <p:sp>
          <p:nvSpPr>
            <p:cNvPr id="167" name="Google Shape;167;g3eb2f583ca1_0_2512"/>
            <p:cNvSpPr/>
            <p:nvPr/>
          </p:nvSpPr>
          <p:spPr>
            <a:xfrm>
              <a:off x="400050" y="1571625"/>
              <a:ext cx="26670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9050">
              <a:solidFill>
                <a:srgbClr val="D0E4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g3eb2f583ca1_0_2512"/>
            <p:cNvSpPr/>
            <p:nvPr/>
          </p:nvSpPr>
          <p:spPr>
            <a:xfrm>
              <a:off x="400050" y="1571625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g3eb2f583ca1_0_2512"/>
            <p:cNvSpPr/>
            <p:nvPr/>
          </p:nvSpPr>
          <p:spPr>
            <a:xfrm>
              <a:off x="400050" y="1809750"/>
              <a:ext cx="2667000" cy="1428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g3eb2f583ca1_0_2512"/>
            <p:cNvSpPr txBox="1"/>
            <p:nvPr/>
          </p:nvSpPr>
          <p:spPr>
            <a:xfrm>
              <a:off x="400050" y="1571625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Validation Input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g3eb2f583ca1_0_2512"/>
            <p:cNvSpPr txBox="1"/>
            <p:nvPr/>
          </p:nvSpPr>
          <p:spPr>
            <a:xfrm>
              <a:off x="495300" y="2047875"/>
              <a:ext cx="2476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Triple</a:t>
              </a:r>
              <a:endParaRPr b="1" sz="15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i="1"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(Pesticide Exposure | increases | Oxidative Stress)</a:t>
              </a:r>
              <a:endParaRPr b="0" i="1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Evidence</a:t>
              </a:r>
              <a:endParaRPr b="1" sz="15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Retrieved scientific passages from multiple papers.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" name="Google Shape;172;g3eb2f583ca1_0_2512"/>
          <p:cNvGrpSpPr/>
          <p:nvPr/>
        </p:nvGrpSpPr>
        <p:grpSpPr>
          <a:xfrm>
            <a:off x="3238500" y="1571625"/>
            <a:ext cx="2667000" cy="2667000"/>
            <a:chOff x="3238500" y="1571625"/>
            <a:chExt cx="2667000" cy="2667000"/>
          </a:xfrm>
        </p:grpSpPr>
        <p:sp>
          <p:nvSpPr>
            <p:cNvPr id="173" name="Google Shape;173;g3eb2f583ca1_0_2512"/>
            <p:cNvSpPr/>
            <p:nvPr/>
          </p:nvSpPr>
          <p:spPr>
            <a:xfrm>
              <a:off x="3238500" y="1571625"/>
              <a:ext cx="26670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9050">
              <a:solidFill>
                <a:srgbClr val="D0E4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g3eb2f583ca1_0_2512"/>
            <p:cNvSpPr/>
            <p:nvPr/>
          </p:nvSpPr>
          <p:spPr>
            <a:xfrm>
              <a:off x="3238500" y="1571625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g3eb2f583ca1_0_2512"/>
            <p:cNvSpPr/>
            <p:nvPr/>
          </p:nvSpPr>
          <p:spPr>
            <a:xfrm>
              <a:off x="3238500" y="1809750"/>
              <a:ext cx="2667000" cy="1428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g3eb2f583ca1_0_2512"/>
            <p:cNvSpPr txBox="1"/>
            <p:nvPr/>
          </p:nvSpPr>
          <p:spPr>
            <a:xfrm>
              <a:off x="3238500" y="1571625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Validator Tasks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g3eb2f583ca1_0_2512"/>
            <p:cNvSpPr txBox="1"/>
            <p:nvPr/>
          </p:nvSpPr>
          <p:spPr>
            <a:xfrm>
              <a:off x="3333750" y="2047875"/>
              <a:ext cx="2476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238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Char char="●"/>
              </a:pPr>
              <a:r>
                <a:rPr lang="en" sz="1500">
                  <a:solidFill>
                    <a:srgbClr val="334155"/>
                  </a:solidFill>
                </a:rPr>
                <a:t>verify evidence support</a:t>
              </a:r>
              <a:endParaRPr sz="1500">
                <a:solidFill>
                  <a:srgbClr val="334155"/>
                </a:solidFill>
              </a:endParaRPr>
            </a:p>
            <a:p>
              <a:pPr indent="-3238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Char char="●"/>
              </a:pPr>
              <a:r>
                <a:rPr lang="en" sz="1500">
                  <a:solidFill>
                    <a:srgbClr val="334155"/>
                  </a:solidFill>
                </a:rPr>
                <a:t>detect contradictory evidence</a:t>
              </a:r>
              <a:endParaRPr sz="1500">
                <a:solidFill>
                  <a:srgbClr val="334155"/>
                </a:solidFill>
              </a:endParaRPr>
            </a:p>
            <a:p>
              <a:pPr indent="-3238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Char char="●"/>
              </a:pPr>
              <a:r>
                <a:rPr lang="en" sz="1500">
                  <a:solidFill>
                    <a:srgbClr val="334155"/>
                  </a:solidFill>
                </a:rPr>
                <a:t>evaluate semantic consistency</a:t>
              </a:r>
              <a:endParaRPr sz="1500">
                <a:solidFill>
                  <a:srgbClr val="334155"/>
                </a:solidFill>
              </a:endParaRPr>
            </a:p>
            <a:p>
              <a:pPr indent="-3238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Char char="●"/>
              </a:pPr>
              <a:r>
                <a:rPr lang="en" sz="1500">
                  <a:solidFill>
                    <a:srgbClr val="334155"/>
                  </a:solidFill>
                </a:rPr>
                <a:t>assess scientific plausibility</a:t>
              </a:r>
              <a:endParaRPr sz="1500">
                <a:solidFill>
                  <a:srgbClr val="334155"/>
                </a:solidFill>
              </a:endParaRPr>
            </a:p>
          </p:txBody>
        </p:sp>
      </p:grpSp>
      <p:grpSp>
        <p:nvGrpSpPr>
          <p:cNvPr id="178" name="Google Shape;178;g3eb2f583ca1_0_2512"/>
          <p:cNvGrpSpPr/>
          <p:nvPr/>
        </p:nvGrpSpPr>
        <p:grpSpPr>
          <a:xfrm>
            <a:off x="6076950" y="1571625"/>
            <a:ext cx="2667000" cy="2667000"/>
            <a:chOff x="6076950" y="1571625"/>
            <a:chExt cx="2667000" cy="2667000"/>
          </a:xfrm>
        </p:grpSpPr>
        <p:sp>
          <p:nvSpPr>
            <p:cNvPr id="179" name="Google Shape;179;g3eb2f583ca1_0_2512"/>
            <p:cNvSpPr/>
            <p:nvPr/>
          </p:nvSpPr>
          <p:spPr>
            <a:xfrm>
              <a:off x="6076950" y="1571625"/>
              <a:ext cx="2667000" cy="26670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9050">
              <a:solidFill>
                <a:srgbClr val="D0E4F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g3eb2f583ca1_0_2512"/>
            <p:cNvSpPr/>
            <p:nvPr/>
          </p:nvSpPr>
          <p:spPr>
            <a:xfrm>
              <a:off x="6076950" y="1571625"/>
              <a:ext cx="2667000" cy="381000"/>
            </a:xfrm>
            <a:prstGeom prst="roundRect">
              <a:avLst>
                <a:gd fmla="val 30000" name="adj"/>
              </a:avLst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g3eb2f583ca1_0_2512"/>
            <p:cNvSpPr/>
            <p:nvPr/>
          </p:nvSpPr>
          <p:spPr>
            <a:xfrm>
              <a:off x="6076950" y="1809750"/>
              <a:ext cx="2667000" cy="1428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g3eb2f583ca1_0_2512"/>
            <p:cNvSpPr txBox="1"/>
            <p:nvPr/>
          </p:nvSpPr>
          <p:spPr>
            <a:xfrm>
              <a:off x="6076950" y="1571625"/>
              <a:ext cx="2667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Evidence-Level Assessment 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g3eb2f583ca1_0_2512"/>
            <p:cNvSpPr txBox="1"/>
            <p:nvPr/>
          </p:nvSpPr>
          <p:spPr>
            <a:xfrm>
              <a:off x="6172200" y="2047875"/>
              <a:ext cx="2476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238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F9A825"/>
                </a:buClr>
                <a:buSzPts val="1500"/>
                <a:buFont typeface="Arial"/>
                <a:buChar char="●"/>
              </a:pPr>
              <a:r>
                <a:rPr b="1" lang="en" sz="1500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rPr>
                <a:t>Locally </a:t>
              </a:r>
              <a:r>
                <a:rPr b="1" lang="en" sz="1500">
                  <a:solidFill>
                    <a:srgbClr val="2E7D32"/>
                  </a:solidFill>
                  <a:latin typeface="Arial"/>
                  <a:ea typeface="Arial"/>
                  <a:cs typeface="Arial"/>
                  <a:sym typeface="Arial"/>
                </a:rPr>
                <a:t>Supported</a:t>
              </a:r>
              <a:endParaRPr b="1" sz="1500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F9A825"/>
                </a:buClr>
                <a:buSzPts val="1500"/>
                <a:buFont typeface="Arial"/>
                <a:buChar char="●"/>
              </a:pPr>
              <a:r>
                <a:rPr b="1" lang="en" sz="1500">
                  <a:solidFill>
                    <a:srgbClr val="C62828"/>
                  </a:solidFill>
                  <a:latin typeface="Arial"/>
                  <a:ea typeface="Arial"/>
                  <a:cs typeface="Arial"/>
                  <a:sym typeface="Arial"/>
                </a:rPr>
                <a:t>Locally </a:t>
              </a:r>
              <a:r>
                <a:rPr b="1" lang="en" sz="1500">
                  <a:solidFill>
                    <a:srgbClr val="C62828"/>
                  </a:solidFill>
                  <a:latin typeface="Arial"/>
                  <a:ea typeface="Arial"/>
                  <a:cs typeface="Arial"/>
                  <a:sym typeface="Arial"/>
                </a:rPr>
                <a:t>Contradicted</a:t>
              </a:r>
              <a:endParaRPr b="1" sz="1500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F9A825"/>
                </a:buClr>
                <a:buSzPts val="1500"/>
                <a:buFont typeface="Arial"/>
                <a:buChar char="●"/>
              </a:pPr>
              <a:r>
                <a:rPr b="1" lang="en" sz="1500">
                  <a:solidFill>
                    <a:srgbClr val="F9A825"/>
                  </a:solidFill>
                  <a:latin typeface="Arial"/>
                  <a:ea typeface="Arial"/>
                  <a:cs typeface="Arial"/>
                  <a:sym typeface="Arial"/>
                </a:rPr>
                <a:t>Insufficient Evidence</a:t>
              </a:r>
              <a:endParaRPr b="1" sz="1500">
                <a:solidFill>
                  <a:srgbClr val="F9A82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" name="Google Shape;184;g3eb2f583ca1_0_2512"/>
          <p:cNvSpPr txBox="1"/>
          <p:nvPr/>
        </p:nvSpPr>
        <p:spPr>
          <a:xfrm>
            <a:off x="400050" y="4429125"/>
            <a:ext cx="8334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Importance: </a:t>
            </a:r>
            <a:r>
              <a:rPr b="1" lang="en" sz="1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Final scientific confidence is estimated later using cross-document evidence fusion. </a:t>
            </a:r>
            <a:endParaRPr b="1" sz="13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3e6a556f04c_0_108" title="ChatGPT Image May 27, 2026, 09_40_3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g3eb2f583ca1_0_35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eb2f583ca1_0_3535"/>
          <p:cNvSpPr txBox="1"/>
          <p:nvPr/>
        </p:nvSpPr>
        <p:spPr>
          <a:xfrm>
            <a:off x="381000" y="38100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Stage 7: Cross-Document Evidence Fusion</a:t>
            </a:r>
            <a:endParaRPr b="1" sz="24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eb2f583ca1_0_3535"/>
          <p:cNvSpPr txBox="1"/>
          <p:nvPr/>
        </p:nvSpPr>
        <p:spPr>
          <a:xfrm>
            <a:off x="571500" y="3762375"/>
            <a:ext cx="8001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Key Observation</a:t>
            </a:r>
            <a:endParaRPr b="1" sz="14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eb2f583ca1_0_3535"/>
          <p:cNvSpPr txBox="1"/>
          <p:nvPr/>
        </p:nvSpPr>
        <p:spPr>
          <a:xfrm>
            <a:off x="762000" y="4095750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RAG retrieves evidence from multiple papers, but does not explicitly maintain structured multi-document evidence representations.</a:t>
            </a:r>
            <a:endParaRPr b="0" sz="130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" name="Google Shape;198;g3eb2f583ca1_0_3535"/>
          <p:cNvGrpSpPr/>
          <p:nvPr/>
        </p:nvGrpSpPr>
        <p:grpSpPr>
          <a:xfrm>
            <a:off x="381000" y="1047750"/>
            <a:ext cx="4000500" cy="2286000"/>
            <a:chOff x="0" y="0"/>
            <a:chExt cx="4000500" cy="2286000"/>
          </a:xfrm>
        </p:grpSpPr>
        <p:sp>
          <p:nvSpPr>
            <p:cNvPr id="199" name="Google Shape;199;g3eb2f583ca1_0_3535"/>
            <p:cNvSpPr/>
            <p:nvPr/>
          </p:nvSpPr>
          <p:spPr>
            <a:xfrm>
              <a:off x="0" y="0"/>
              <a:ext cx="40005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1C45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g3eb2f583ca1_0_3535"/>
            <p:cNvSpPr/>
            <p:nvPr/>
          </p:nvSpPr>
          <p:spPr>
            <a:xfrm>
              <a:off x="0" y="0"/>
              <a:ext cx="4000500" cy="428700"/>
            </a:xfrm>
            <a:prstGeom prst="roundRect">
              <a:avLst>
                <a:gd fmla="val 26661" name="adj"/>
              </a:avLst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g3eb2f583ca1_0_3535"/>
            <p:cNvSpPr/>
            <p:nvPr/>
          </p:nvSpPr>
          <p:spPr>
            <a:xfrm>
              <a:off x="0" y="285750"/>
              <a:ext cx="4000500" cy="1428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g3eb2f583ca1_0_3535"/>
            <p:cNvSpPr txBox="1"/>
            <p:nvPr/>
          </p:nvSpPr>
          <p:spPr>
            <a:xfrm>
              <a:off x="0" y="0"/>
              <a:ext cx="40005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The Standard RAG Pipeline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g3eb2f583ca1_0_3535"/>
            <p:cNvSpPr txBox="1"/>
            <p:nvPr/>
          </p:nvSpPr>
          <p:spPr>
            <a:xfrm>
              <a:off x="190500" y="571500"/>
              <a:ext cx="3619500" cy="1524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Standard RAG (Multiple Papers)</a:t>
              </a:r>
              <a:endParaRPr b="1" sz="11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b="1" sz="11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Retrieved Chunks</a:t>
              </a:r>
              <a:endParaRPr b="1" sz="11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b="1" sz="11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LLM Prompt Context</a:t>
              </a:r>
              <a:endParaRPr b="1" sz="11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b="1" sz="11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C4587"/>
                  </a:solidFill>
                  <a:latin typeface="Arial"/>
                  <a:ea typeface="Arial"/>
                  <a:cs typeface="Arial"/>
                  <a:sym typeface="Arial"/>
                </a:rPr>
                <a:t>Generated Answer</a:t>
              </a:r>
              <a:endParaRPr b="1" sz="110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" name="Google Shape;204;g3eb2f583ca1_0_3535"/>
          <p:cNvGrpSpPr/>
          <p:nvPr/>
        </p:nvGrpSpPr>
        <p:grpSpPr>
          <a:xfrm>
            <a:off x="4762500" y="1047750"/>
            <a:ext cx="4000500" cy="2286000"/>
            <a:chOff x="0" y="0"/>
            <a:chExt cx="4000500" cy="2286000"/>
          </a:xfrm>
        </p:grpSpPr>
        <p:sp>
          <p:nvSpPr>
            <p:cNvPr id="205" name="Google Shape;205;g3eb2f583ca1_0_3535"/>
            <p:cNvSpPr/>
            <p:nvPr/>
          </p:nvSpPr>
          <p:spPr>
            <a:xfrm>
              <a:off x="0" y="0"/>
              <a:ext cx="40005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1C45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g3eb2f583ca1_0_3535"/>
            <p:cNvSpPr/>
            <p:nvPr/>
          </p:nvSpPr>
          <p:spPr>
            <a:xfrm>
              <a:off x="0" y="0"/>
              <a:ext cx="4000500" cy="428700"/>
            </a:xfrm>
            <a:prstGeom prst="roundRect">
              <a:avLst>
                <a:gd fmla="val 26661" name="adj"/>
              </a:avLst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g3eb2f583ca1_0_3535"/>
            <p:cNvSpPr/>
            <p:nvPr/>
          </p:nvSpPr>
          <p:spPr>
            <a:xfrm>
              <a:off x="0" y="285750"/>
              <a:ext cx="4000500" cy="142800"/>
            </a:xfrm>
            <a:prstGeom prst="rect">
              <a:avLst/>
            </a:prstGeom>
            <a:solidFill>
              <a:srgbClr val="1C45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g3eb2f583ca1_0_3535"/>
            <p:cNvSpPr txBox="1"/>
            <p:nvPr/>
          </p:nvSpPr>
          <p:spPr>
            <a:xfrm>
              <a:off x="0" y="0"/>
              <a:ext cx="4000500" cy="428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Limitations &amp; Bottlenecks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g3eb2f583ca1_0_3535"/>
            <p:cNvSpPr txBox="1"/>
            <p:nvPr/>
          </p:nvSpPr>
          <p:spPr>
            <a:xfrm>
              <a:off x="238125" y="619125"/>
              <a:ext cx="3524400" cy="1476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Aggregation happens inside prompt context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Evidence relationships are temporary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Contradictions are not explicitly modeled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04800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4155"/>
                </a:buClr>
                <a:buSzPts val="1200"/>
                <a:buFont typeface="Arial"/>
                <a:buChar char="●"/>
              </a:pP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No persistent confidence representation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b2f583ca1_0_2812"/>
          <p:cNvSpPr txBox="1"/>
          <p:nvPr>
            <p:ph type="title"/>
          </p:nvPr>
        </p:nvSpPr>
        <p:spPr>
          <a:xfrm>
            <a:off x="311468" y="285750"/>
            <a:ext cx="8520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95250" lIns="95250" spcFirstLastPara="1" rIns="95250" wrap="square" tIns="952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8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Stage 7: Cross-Document Evidence Fusion (cont)</a:t>
            </a:r>
            <a:endParaRPr b="1" sz="238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g3eb2f583ca1_0_2812"/>
          <p:cNvGrpSpPr/>
          <p:nvPr/>
        </p:nvGrpSpPr>
        <p:grpSpPr>
          <a:xfrm>
            <a:off x="381000" y="1047750"/>
            <a:ext cx="4095900" cy="2857500"/>
            <a:chOff x="381000" y="1047750"/>
            <a:chExt cx="4095900" cy="2857500"/>
          </a:xfrm>
        </p:grpSpPr>
        <p:sp>
          <p:nvSpPr>
            <p:cNvPr id="216" name="Google Shape;216;g3eb2f583ca1_0_2812"/>
            <p:cNvSpPr/>
            <p:nvPr/>
          </p:nvSpPr>
          <p:spPr>
            <a:xfrm>
              <a:off x="381000" y="1047750"/>
              <a:ext cx="40959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g3eb2f583ca1_0_2812"/>
            <p:cNvSpPr/>
            <p:nvPr/>
          </p:nvSpPr>
          <p:spPr>
            <a:xfrm>
              <a:off x="381000" y="1047750"/>
              <a:ext cx="4095900" cy="428700"/>
            </a:xfrm>
            <a:prstGeom prst="roundRect">
              <a:avLst>
                <a:gd fmla="val 26666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g3eb2f583ca1_0_2812"/>
            <p:cNvSpPr/>
            <p:nvPr/>
          </p:nvSpPr>
          <p:spPr>
            <a:xfrm>
              <a:off x="381000" y="1333500"/>
              <a:ext cx="4095900" cy="1428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g3eb2f583ca1_0_2812"/>
            <p:cNvSpPr txBox="1"/>
            <p:nvPr/>
          </p:nvSpPr>
          <p:spPr>
            <a:xfrm>
              <a:off x="381000" y="1047750"/>
              <a:ext cx="4095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Proposed Fusion Framework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3eb2f583ca1_0_2812"/>
            <p:cNvSpPr txBox="1"/>
            <p:nvPr/>
          </p:nvSpPr>
          <p:spPr>
            <a:xfrm>
              <a:off x="476250" y="1571625"/>
              <a:ext cx="3905400" cy="22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Multiple Papers</a:t>
              </a:r>
              <a:endParaRPr b="1" sz="11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Evidence Validation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Entity &amp; Relation Alignment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Contradiction Analysis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Confidence Aggregation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Structured Evidence Representation</a:t>
              </a:r>
              <a:endParaRPr b="1" sz="11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1" name="Google Shape;221;g3eb2f583ca1_0_2812"/>
          <p:cNvGrpSpPr/>
          <p:nvPr/>
        </p:nvGrpSpPr>
        <p:grpSpPr>
          <a:xfrm>
            <a:off x="4667250" y="1047750"/>
            <a:ext cx="4095900" cy="2857500"/>
            <a:chOff x="4667250" y="1047750"/>
            <a:chExt cx="4095900" cy="2857500"/>
          </a:xfrm>
        </p:grpSpPr>
        <p:sp>
          <p:nvSpPr>
            <p:cNvPr id="222" name="Google Shape;222;g3eb2f583ca1_0_2812"/>
            <p:cNvSpPr/>
            <p:nvPr/>
          </p:nvSpPr>
          <p:spPr>
            <a:xfrm>
              <a:off x="4667250" y="1047750"/>
              <a:ext cx="4095900" cy="28575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g3eb2f583ca1_0_2812"/>
            <p:cNvSpPr/>
            <p:nvPr/>
          </p:nvSpPr>
          <p:spPr>
            <a:xfrm>
              <a:off x="4667250" y="1047750"/>
              <a:ext cx="4095900" cy="428700"/>
            </a:xfrm>
            <a:prstGeom prst="roundRect">
              <a:avLst>
                <a:gd fmla="val 26666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g3eb2f583ca1_0_2812"/>
            <p:cNvSpPr/>
            <p:nvPr/>
          </p:nvSpPr>
          <p:spPr>
            <a:xfrm>
              <a:off x="4667250" y="1333500"/>
              <a:ext cx="4095900" cy="1428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g3eb2f583ca1_0_2812"/>
            <p:cNvSpPr txBox="1"/>
            <p:nvPr/>
          </p:nvSpPr>
          <p:spPr>
            <a:xfrm>
              <a:off x="4667250" y="1047750"/>
              <a:ext cx="4095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Fusion Operations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g3eb2f583ca1_0_2812"/>
            <p:cNvSpPr txBox="1"/>
            <p:nvPr/>
          </p:nvSpPr>
          <p:spPr>
            <a:xfrm>
              <a:off x="4857750" y="1619250"/>
              <a:ext cx="3714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238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Entity normalization</a:t>
              </a:r>
              <a:endParaRPr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Relation alignment</a:t>
              </a:r>
              <a:endParaRPr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Duplicate evidence merging</a:t>
              </a:r>
              <a:endParaRPr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Contradiction detection</a:t>
              </a:r>
              <a:endParaRPr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238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500"/>
                <a:buFont typeface="Arial"/>
                <a:buChar char="●"/>
              </a:pPr>
              <a:r>
                <a:rPr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Evidence accumulation</a:t>
              </a:r>
              <a:endParaRPr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7" name="Google Shape;227;g3eb2f583ca1_0_2812"/>
          <p:cNvSpPr txBox="1"/>
          <p:nvPr/>
        </p:nvSpPr>
        <p:spPr>
          <a:xfrm>
            <a:off x="498075" y="4137175"/>
            <a:ext cx="8147400" cy="70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Goal:  </a:t>
            </a:r>
            <a:r>
              <a:rPr lang="en" sz="1500">
                <a:solidFill>
                  <a:schemeClr val="accent2"/>
                </a:solidFill>
              </a:rPr>
              <a:t>Estimate scientific reliability using aggregated evidence across documents..</a:t>
            </a:r>
            <a:endParaRPr sz="15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eb2f583ca1_0_29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380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Stage 7: Cross-Document Evidence Fusion (cont)</a:t>
            </a:r>
            <a:endParaRPr b="1" i="0" sz="2380">
              <a:solidFill>
                <a:srgbClr val="1C45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3" name="Google Shape;233;g3eb2f583ca1_0_2978"/>
          <p:cNvGraphicFramePr/>
          <p:nvPr/>
        </p:nvGraphicFramePr>
        <p:xfrm>
          <a:off x="466963" y="120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{48429986-F9CE-4E80-9E20-D7C813FEEA1A}</a:tableStyleId>
              </a:tblPr>
              <a:tblGrid>
                <a:gridCol w="2069575"/>
                <a:gridCol w="2604850"/>
              </a:tblGrid>
              <a:tr h="638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Standard RAG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Cross-Document Fusion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temporary aggregation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persistent evidence representation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prompt-based reasoning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structured evidence modeling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implicit support estimation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explicit confidence scoring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contradiction tracking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contradiction-aware fusion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answer generation focused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scientific validation focused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g3eb2f583ca1_0_2978"/>
          <p:cNvSpPr txBox="1"/>
          <p:nvPr/>
        </p:nvSpPr>
        <p:spPr>
          <a:xfrm>
            <a:off x="5260500" y="1204050"/>
            <a:ext cx="3571800" cy="3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Paper A → support score = 0.91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B → support score = 0.88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C → contradiction score = 0.32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Pesticide Exposure → Oxidative Stress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Count = 2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Contradictions = 1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Consensus Score = 0.84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Supporting Citations = [...]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b2f583ca1_0_4214"/>
          <p:cNvSpPr txBox="1"/>
          <p:nvPr/>
        </p:nvSpPr>
        <p:spPr>
          <a:xfrm>
            <a:off x="381000" y="28575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Stage 8: Global Confidence Scoring</a:t>
            </a:r>
            <a:endParaRPr b="1" sz="28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0" name="Google Shape;240;g3eb2f583ca1_0_4214"/>
          <p:cNvGrpSpPr/>
          <p:nvPr/>
        </p:nvGrpSpPr>
        <p:grpSpPr>
          <a:xfrm>
            <a:off x="381000" y="1714500"/>
            <a:ext cx="4095900" cy="3048000"/>
            <a:chOff x="381000" y="1714500"/>
            <a:chExt cx="4095900" cy="3048000"/>
          </a:xfrm>
        </p:grpSpPr>
        <p:sp>
          <p:nvSpPr>
            <p:cNvPr id="241" name="Google Shape;241;g3eb2f583ca1_0_4214"/>
            <p:cNvSpPr/>
            <p:nvPr/>
          </p:nvSpPr>
          <p:spPr>
            <a:xfrm>
              <a:off x="381000" y="1714500"/>
              <a:ext cx="40959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g3eb2f583ca1_0_4214"/>
            <p:cNvSpPr/>
            <p:nvPr/>
          </p:nvSpPr>
          <p:spPr>
            <a:xfrm>
              <a:off x="381000" y="1714500"/>
              <a:ext cx="4095900" cy="428700"/>
            </a:xfrm>
            <a:prstGeom prst="roundRect">
              <a:avLst>
                <a:gd fmla="val 26666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g3eb2f583ca1_0_4214"/>
            <p:cNvSpPr/>
            <p:nvPr/>
          </p:nvSpPr>
          <p:spPr>
            <a:xfrm>
              <a:off x="381000" y="2000250"/>
              <a:ext cx="4095900" cy="1428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g3eb2f583ca1_0_4214"/>
            <p:cNvSpPr txBox="1"/>
            <p:nvPr/>
          </p:nvSpPr>
          <p:spPr>
            <a:xfrm>
              <a:off x="381000" y="1714500"/>
              <a:ext cx="4095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Conceptual Confidence Estimation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eb2f583ca1_0_4214"/>
            <p:cNvSpPr txBox="1"/>
            <p:nvPr/>
          </p:nvSpPr>
          <p:spPr>
            <a:xfrm>
              <a:off x="571500" y="22860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Global Confidence =</a:t>
              </a:r>
              <a:endParaRPr b="1" sz="15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Multi-Document Agreement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 b="1" sz="15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334155"/>
                  </a:solidFill>
                </a:rPr>
                <a:t>Semantic Alignment </a:t>
              </a:r>
              <a:endParaRPr b="0" sz="15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−</a:t>
              </a:r>
              <a:endParaRPr b="1" sz="15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Contradiction Strength</a:t>
              </a:r>
              <a:endParaRPr b="0" sz="150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g3eb2f583ca1_0_4214"/>
          <p:cNvGrpSpPr/>
          <p:nvPr/>
        </p:nvGrpSpPr>
        <p:grpSpPr>
          <a:xfrm>
            <a:off x="4667250" y="1714500"/>
            <a:ext cx="4095900" cy="3048000"/>
            <a:chOff x="4667250" y="1714500"/>
            <a:chExt cx="4095900" cy="3048000"/>
          </a:xfrm>
        </p:grpSpPr>
        <p:sp>
          <p:nvSpPr>
            <p:cNvPr id="247" name="Google Shape;247;g3eb2f583ca1_0_4214"/>
            <p:cNvSpPr/>
            <p:nvPr/>
          </p:nvSpPr>
          <p:spPr>
            <a:xfrm>
              <a:off x="4667250" y="1714500"/>
              <a:ext cx="40959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g3eb2f583ca1_0_4214"/>
            <p:cNvSpPr/>
            <p:nvPr/>
          </p:nvSpPr>
          <p:spPr>
            <a:xfrm>
              <a:off x="4667250" y="1714500"/>
              <a:ext cx="4095900" cy="428700"/>
            </a:xfrm>
            <a:prstGeom prst="roundRect">
              <a:avLst>
                <a:gd fmla="val 26665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g3eb2f583ca1_0_4214"/>
            <p:cNvSpPr/>
            <p:nvPr/>
          </p:nvSpPr>
          <p:spPr>
            <a:xfrm>
              <a:off x="4667250" y="2000250"/>
              <a:ext cx="4095900" cy="1428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g3eb2f583ca1_0_4214"/>
            <p:cNvSpPr txBox="1"/>
            <p:nvPr/>
          </p:nvSpPr>
          <p:spPr>
            <a:xfrm>
              <a:off x="4667250" y="1714500"/>
              <a:ext cx="4095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Example Application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g3eb2f583ca1_0_4214"/>
            <p:cNvSpPr txBox="1"/>
            <p:nvPr/>
          </p:nvSpPr>
          <p:spPr>
            <a:xfrm>
              <a:off x="4857750" y="2286000"/>
              <a:ext cx="37149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Relation</a:t>
              </a:r>
              <a:endParaRPr b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Pesticide Exposure → Oxidative Stress</a:t>
              </a:r>
              <a:endParaRPr b="1"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Evidence Summary</a:t>
              </a:r>
              <a:endParaRPr b="1" sz="11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Supporting Papers: 5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Contradictory Papers: 1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Strong Semantic Alignment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334155"/>
                </a:buClr>
                <a:buSzPts val="1100"/>
                <a:buFont typeface="Arial"/>
                <a:buChar char="●"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Ontology Validated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369A1"/>
                  </a:solidFill>
                  <a:highlight>
                    <a:srgbClr val="F0F9FF"/>
                  </a:highlight>
                  <a:latin typeface="Arial"/>
                  <a:ea typeface="Arial"/>
                  <a:cs typeface="Arial"/>
                  <a:sym typeface="Arial"/>
                </a:rPr>
                <a:t>Final Confidence Score</a:t>
              </a:r>
              <a:endParaRPr b="1" sz="1000">
                <a:solidFill>
                  <a:srgbClr val="0369A1"/>
                </a:solidFill>
                <a:highlight>
                  <a:srgbClr val="F0F9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1C4587"/>
                  </a:solidFill>
                  <a:highlight>
                    <a:srgbClr val="F0F9FF"/>
                  </a:highlight>
                  <a:latin typeface="Arial"/>
                  <a:ea typeface="Arial"/>
                  <a:cs typeface="Arial"/>
                  <a:sym typeface="Arial"/>
                </a:rPr>
                <a:t>0.91</a:t>
              </a:r>
              <a:endParaRPr b="1" sz="2000">
                <a:solidFill>
                  <a:srgbClr val="1C4587"/>
                </a:solidFill>
                <a:highlight>
                  <a:srgbClr val="F0F9FF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2" name="Google Shape;252;g3eb2f583ca1_0_4214"/>
          <p:cNvSpPr txBox="1"/>
          <p:nvPr/>
        </p:nvSpPr>
        <p:spPr>
          <a:xfrm>
            <a:off x="571500" y="952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 sz="1500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Assign a final confidence score using aggregated multi-document scientific evidence.</a:t>
            </a:r>
            <a:endParaRPr b="0" sz="1500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b2f583ca1_0_4603"/>
          <p:cNvSpPr txBox="1"/>
          <p:nvPr>
            <p:ph type="title"/>
          </p:nvPr>
        </p:nvSpPr>
        <p:spPr>
          <a:xfrm>
            <a:off x="311700" y="285750"/>
            <a:ext cx="8520600" cy="57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rPr>
              <a:t>Stage 9: Confidence-Aware KG Construction</a:t>
            </a:r>
            <a:endParaRPr b="1" sz="2800">
              <a:solidFill>
                <a:srgbClr val="1E3A8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8" name="Google Shape;258;g3eb2f583ca1_0_4603"/>
          <p:cNvGrpSpPr/>
          <p:nvPr/>
        </p:nvGrpSpPr>
        <p:grpSpPr>
          <a:xfrm>
            <a:off x="381000" y="1714500"/>
            <a:ext cx="4095900" cy="3048000"/>
            <a:chOff x="381000" y="1714500"/>
            <a:chExt cx="4095900" cy="3048000"/>
          </a:xfrm>
        </p:grpSpPr>
        <p:sp>
          <p:nvSpPr>
            <p:cNvPr id="259" name="Google Shape;259;g3eb2f583ca1_0_4603"/>
            <p:cNvSpPr/>
            <p:nvPr/>
          </p:nvSpPr>
          <p:spPr>
            <a:xfrm>
              <a:off x="381000" y="1714500"/>
              <a:ext cx="40959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g3eb2f583ca1_0_4603"/>
            <p:cNvSpPr/>
            <p:nvPr/>
          </p:nvSpPr>
          <p:spPr>
            <a:xfrm>
              <a:off x="381000" y="1714500"/>
              <a:ext cx="4095900" cy="428700"/>
            </a:xfrm>
            <a:prstGeom prst="roundRect">
              <a:avLst>
                <a:gd fmla="val 26666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g3eb2f583ca1_0_4603"/>
            <p:cNvSpPr/>
            <p:nvPr/>
          </p:nvSpPr>
          <p:spPr>
            <a:xfrm>
              <a:off x="381000" y="2000250"/>
              <a:ext cx="4095900" cy="1428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g3eb2f583ca1_0_4603"/>
            <p:cNvSpPr txBox="1"/>
            <p:nvPr/>
          </p:nvSpPr>
          <p:spPr>
            <a:xfrm>
              <a:off x="381000" y="1714500"/>
              <a:ext cx="4095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Stored Knowledge Representation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g3eb2f583ca1_0_4603"/>
            <p:cNvSpPr txBox="1"/>
            <p:nvPr/>
          </p:nvSpPr>
          <p:spPr>
            <a:xfrm>
              <a:off x="571500" y="22860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40A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subject</a:t>
              </a: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40A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relation</a:t>
              </a: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40A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object</a:t>
              </a: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,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confidence_score,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supporting_evidence,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source_citations,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validation_metadata</a:t>
              </a:r>
              <a:endParaRPr sz="1100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6474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)</a:t>
              </a:r>
              <a:endParaRPr sz="1100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64" name="Google Shape;264;g3eb2f583ca1_0_4603"/>
          <p:cNvGrpSpPr/>
          <p:nvPr/>
        </p:nvGrpSpPr>
        <p:grpSpPr>
          <a:xfrm>
            <a:off x="4667250" y="1714500"/>
            <a:ext cx="4095900" cy="3048000"/>
            <a:chOff x="4667250" y="1714500"/>
            <a:chExt cx="4095900" cy="3048000"/>
          </a:xfrm>
        </p:grpSpPr>
        <p:sp>
          <p:nvSpPr>
            <p:cNvPr id="265" name="Google Shape;265;g3eb2f583ca1_0_4603"/>
            <p:cNvSpPr/>
            <p:nvPr/>
          </p:nvSpPr>
          <p:spPr>
            <a:xfrm>
              <a:off x="4667250" y="1714500"/>
              <a:ext cx="4095900" cy="3048000"/>
            </a:xfrm>
            <a:prstGeom prst="roundRect">
              <a:avLst>
                <a:gd fmla="val 3750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g3eb2f583ca1_0_4603"/>
            <p:cNvSpPr/>
            <p:nvPr/>
          </p:nvSpPr>
          <p:spPr>
            <a:xfrm>
              <a:off x="4667250" y="1714500"/>
              <a:ext cx="4095900" cy="428700"/>
            </a:xfrm>
            <a:prstGeom prst="roundRect">
              <a:avLst>
                <a:gd fmla="val 26666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g3eb2f583ca1_0_4603"/>
            <p:cNvSpPr/>
            <p:nvPr/>
          </p:nvSpPr>
          <p:spPr>
            <a:xfrm>
              <a:off x="4667250" y="2000250"/>
              <a:ext cx="4095900" cy="1428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g3eb2f583ca1_0_4603"/>
            <p:cNvSpPr txBox="1"/>
            <p:nvPr/>
          </p:nvSpPr>
          <p:spPr>
            <a:xfrm>
              <a:off x="4667250" y="1714500"/>
              <a:ext cx="4095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Benefits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3eb2f583ca1_0_4603"/>
            <p:cNvSpPr txBox="1"/>
            <p:nvPr/>
          </p:nvSpPr>
          <p:spPr>
            <a:xfrm>
              <a:off x="4857750" y="2286000"/>
              <a:ext cx="37149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31115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E293B"/>
                </a:buClr>
                <a:buSzPts val="1300"/>
                <a:buFont typeface="Arial"/>
                <a:buChar char="●"/>
              </a:pPr>
              <a:r>
                <a:rPr b="1" lang="en" sz="13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Explainability</a:t>
              </a:r>
              <a:br>
                <a:rPr lang="en" sz="13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Logical rationale for every KG link</a:t>
              </a:r>
              <a:endParaRPr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1E293B"/>
                </a:buClr>
                <a:buSzPts val="1300"/>
                <a:buFont typeface="Arial"/>
                <a:buChar char="●"/>
              </a:pPr>
              <a:r>
                <a:rPr b="1" lang="en" sz="13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Traceability</a:t>
              </a:r>
              <a:br>
                <a:rPr lang="en" sz="13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Full provenance from source documents</a:t>
              </a:r>
              <a:endParaRPr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1E293B"/>
                </a:buClr>
                <a:buSzPts val="1300"/>
                <a:buFont typeface="Arial"/>
                <a:buChar char="●"/>
              </a:pPr>
              <a:r>
                <a:rPr b="1" lang="en" sz="13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Reliable Reasoning</a:t>
              </a:r>
              <a:br>
                <a:rPr lang="en" sz="13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Graph traversal filtered by confidence</a:t>
              </a:r>
              <a:endParaRPr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1E293B"/>
                </a:buClr>
                <a:buSzPts val="1300"/>
                <a:buFont typeface="Arial"/>
                <a:buChar char="●"/>
              </a:pPr>
              <a:r>
                <a:rPr b="1" lang="en" sz="13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Scientific Transparency</a:t>
              </a:r>
              <a:br>
                <a:rPr lang="en" sz="13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Clear evidentiary support mapping</a:t>
              </a:r>
              <a:endParaRPr sz="13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g3eb2f583ca1_0_4603"/>
          <p:cNvSpPr txBox="1"/>
          <p:nvPr/>
        </p:nvSpPr>
        <p:spPr>
          <a:xfrm>
            <a:off x="571500" y="952500"/>
            <a:ext cx="8001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 b="1">
              <a:solidFill>
                <a:srgbClr val="0737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Construct a reliable scientific knowledge graph using only validated and confidence-scored relations.</a:t>
            </a:r>
            <a:endParaRPr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" name="Google Shape;275;g3eb2f583ca1_0_4608"/>
          <p:cNvGrpSpPr/>
          <p:nvPr/>
        </p:nvGrpSpPr>
        <p:grpSpPr>
          <a:xfrm>
            <a:off x="381000" y="285750"/>
            <a:ext cx="8382000" cy="1047900"/>
            <a:chOff x="381000" y="285750"/>
            <a:chExt cx="8382000" cy="1047900"/>
          </a:xfrm>
        </p:grpSpPr>
        <p:sp>
          <p:nvSpPr>
            <p:cNvPr id="276" name="Google Shape;276;g3eb2f583ca1_0_4608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5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Stage 10: Multi-Hop Scientific Reasoning</a:t>
              </a:r>
              <a:endParaRPr b="1" sz="25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3eb2f583ca1_0_4608"/>
            <p:cNvSpPr txBox="1"/>
            <p:nvPr/>
          </p:nvSpPr>
          <p:spPr>
            <a:xfrm>
              <a:off x="381000" y="85725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73763"/>
                  </a:solidFill>
                  <a:latin typeface="Arial"/>
                  <a:ea typeface="Arial"/>
                  <a:cs typeface="Arial"/>
                  <a:sym typeface="Arial"/>
                </a:rPr>
                <a:t>Objective</a:t>
              </a:r>
              <a:endParaRPr b="0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chemeClr val="accent2"/>
                  </a:solidFill>
                  <a:latin typeface="Arial"/>
                  <a:ea typeface="Arial"/>
                  <a:cs typeface="Arial"/>
                  <a:sym typeface="Arial"/>
                </a:rPr>
                <a:t>Discover indirect and hidden relationships across scientific literature using validated knowledge graph connections.</a:t>
              </a:r>
              <a:endParaRPr b="0" sz="15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8" name="Google Shape;278;g3eb2f583ca1_0_4608"/>
          <p:cNvGrpSpPr/>
          <p:nvPr/>
        </p:nvGrpSpPr>
        <p:grpSpPr>
          <a:xfrm>
            <a:off x="381000" y="1824530"/>
            <a:ext cx="3905400" cy="2938291"/>
            <a:chOff x="381000" y="1524000"/>
            <a:chExt cx="3905400" cy="3238500"/>
          </a:xfrm>
        </p:grpSpPr>
        <p:sp>
          <p:nvSpPr>
            <p:cNvPr id="279" name="Google Shape;279;g3eb2f583ca1_0_4608"/>
            <p:cNvSpPr/>
            <p:nvPr/>
          </p:nvSpPr>
          <p:spPr>
            <a:xfrm>
              <a:off x="381000" y="1524000"/>
              <a:ext cx="39054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g3eb2f583ca1_0_4608"/>
            <p:cNvSpPr/>
            <p:nvPr/>
          </p:nvSpPr>
          <p:spPr>
            <a:xfrm>
              <a:off x="381000" y="1524000"/>
              <a:ext cx="3905400" cy="428700"/>
            </a:xfrm>
            <a:prstGeom prst="roundRect">
              <a:avLst>
                <a:gd fmla="val 26666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g3eb2f583ca1_0_4608"/>
            <p:cNvSpPr/>
            <p:nvPr/>
          </p:nvSpPr>
          <p:spPr>
            <a:xfrm>
              <a:off x="381000" y="1838325"/>
              <a:ext cx="3905400" cy="1143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g3eb2f583ca1_0_4608"/>
            <p:cNvSpPr txBox="1"/>
            <p:nvPr/>
          </p:nvSpPr>
          <p:spPr>
            <a:xfrm>
              <a:off x="381000" y="1524000"/>
              <a:ext cx="39054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Example Reasoning Path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g3eb2f583ca1_0_4608"/>
            <p:cNvSpPr txBox="1"/>
            <p:nvPr/>
          </p:nvSpPr>
          <p:spPr>
            <a:xfrm>
              <a:off x="571500" y="2047875"/>
              <a:ext cx="35244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40AF"/>
                  </a:solidFill>
                  <a:highlight>
                    <a:srgbClr val="EFF6FF"/>
                  </a:highlight>
                  <a:latin typeface="Arial"/>
                  <a:ea typeface="Arial"/>
                  <a:cs typeface="Arial"/>
                  <a:sym typeface="Arial"/>
                </a:rPr>
                <a:t>Pesticide Exposure</a:t>
              </a:r>
              <a:endParaRPr b="1" sz="1100">
                <a:solidFill>
                  <a:srgbClr val="1E40AF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sz="1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40AF"/>
                  </a:solidFill>
                  <a:highlight>
                    <a:srgbClr val="EFF6FF"/>
                  </a:highlight>
                  <a:latin typeface="Arial"/>
                  <a:ea typeface="Arial"/>
                  <a:cs typeface="Arial"/>
                  <a:sym typeface="Arial"/>
                </a:rPr>
                <a:t>Oxidative Stress</a:t>
              </a:r>
              <a:endParaRPr b="1" sz="1100">
                <a:solidFill>
                  <a:srgbClr val="1E40AF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sz="1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40AF"/>
                  </a:solidFill>
                  <a:highlight>
                    <a:srgbClr val="EFF6FF"/>
                  </a:highlight>
                  <a:latin typeface="Arial"/>
                  <a:ea typeface="Arial"/>
                  <a:cs typeface="Arial"/>
                  <a:sym typeface="Arial"/>
                </a:rPr>
                <a:t>Neural Inflammation</a:t>
              </a:r>
              <a:endParaRPr b="1" sz="1100">
                <a:solidFill>
                  <a:srgbClr val="1E40AF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sz="1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40AF"/>
                  </a:solidFill>
                  <a:highlight>
                    <a:srgbClr val="EFF6FF"/>
                  </a:highlight>
                  <a:latin typeface="Arial"/>
                  <a:ea typeface="Arial"/>
                  <a:cs typeface="Arial"/>
                  <a:sym typeface="Arial"/>
                </a:rPr>
                <a:t>Parkinson Disease</a:t>
              </a:r>
              <a:endParaRPr b="1" sz="1100">
                <a:solidFill>
                  <a:srgbClr val="1E40AF"/>
                </a:solidFill>
                <a:highlight>
                  <a:srgbClr val="EFF6FF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4" name="Google Shape;284;g3eb2f583ca1_0_4608"/>
          <p:cNvGrpSpPr/>
          <p:nvPr/>
        </p:nvGrpSpPr>
        <p:grpSpPr>
          <a:xfrm>
            <a:off x="4667250" y="1824530"/>
            <a:ext cx="4095900" cy="2938291"/>
            <a:chOff x="4667250" y="1524000"/>
            <a:chExt cx="4095900" cy="3238500"/>
          </a:xfrm>
        </p:grpSpPr>
        <p:sp>
          <p:nvSpPr>
            <p:cNvPr id="285" name="Google Shape;285;g3eb2f583ca1_0_4608"/>
            <p:cNvSpPr/>
            <p:nvPr/>
          </p:nvSpPr>
          <p:spPr>
            <a:xfrm>
              <a:off x="4667250" y="1524000"/>
              <a:ext cx="40959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g3eb2f583ca1_0_4608"/>
            <p:cNvSpPr/>
            <p:nvPr/>
          </p:nvSpPr>
          <p:spPr>
            <a:xfrm>
              <a:off x="4667250" y="1524000"/>
              <a:ext cx="4095900" cy="428700"/>
            </a:xfrm>
            <a:prstGeom prst="roundRect">
              <a:avLst>
                <a:gd fmla="val 26666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g3eb2f583ca1_0_4608"/>
            <p:cNvSpPr/>
            <p:nvPr/>
          </p:nvSpPr>
          <p:spPr>
            <a:xfrm>
              <a:off x="4667250" y="1838325"/>
              <a:ext cx="4095900" cy="1143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g3eb2f583ca1_0_4608"/>
            <p:cNvSpPr txBox="1"/>
            <p:nvPr/>
          </p:nvSpPr>
          <p:spPr>
            <a:xfrm>
              <a:off x="4667250" y="1524000"/>
              <a:ext cx="40959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Applications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g3eb2f583ca1_0_4608"/>
            <p:cNvSpPr txBox="1"/>
            <p:nvPr/>
          </p:nvSpPr>
          <p:spPr>
            <a:xfrm>
              <a:off x="4905375" y="2047875"/>
              <a:ext cx="3667200" cy="26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Hidden Relationship Discovery</a:t>
              </a:r>
              <a:endParaRPr b="1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Identify non-obvious scientific associations.</a:t>
              </a:r>
              <a:endParaRPr b="0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Cross-Domain Knowledge Integration</a:t>
              </a:r>
              <a:endParaRPr b="1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Connect agriculture, environment, and human health literature.</a:t>
              </a:r>
              <a:endParaRPr b="0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Hypothesis Generation</a:t>
              </a:r>
              <a:endParaRPr b="1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Suggest potential scientific relationships for further investigation.</a:t>
              </a:r>
              <a:endParaRPr b="0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Evidence-Aware Reasoning</a:t>
              </a:r>
              <a:endParaRPr b="1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Use only confidence-validated graph relations during traversal.</a:t>
              </a:r>
              <a:endParaRPr b="0"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4" name="Google Shape;294;g3eb2f583ca1_0_4613"/>
          <p:cNvGrpSpPr/>
          <p:nvPr/>
        </p:nvGrpSpPr>
        <p:grpSpPr>
          <a:xfrm>
            <a:off x="381000" y="285750"/>
            <a:ext cx="8382000" cy="1047900"/>
            <a:chOff x="381000" y="285750"/>
            <a:chExt cx="8382000" cy="1047900"/>
          </a:xfrm>
        </p:grpSpPr>
        <p:sp>
          <p:nvSpPr>
            <p:cNvPr id="295" name="Google Shape;295;g3eb2f583ca1_0_4613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800">
                  <a:solidFill>
                    <a:srgbClr val="1E3A8A"/>
                  </a:solidFill>
                  <a:latin typeface="Arial"/>
                  <a:ea typeface="Arial"/>
                  <a:cs typeface="Arial"/>
                  <a:sym typeface="Arial"/>
                </a:rPr>
                <a:t>Stage 11: Validation of Reasoning Paths</a:t>
              </a:r>
              <a:endParaRPr b="1" sz="2800">
                <a:solidFill>
                  <a:srgbClr val="1E3A8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g3eb2f583ca1_0_4613"/>
            <p:cNvSpPr txBox="1"/>
            <p:nvPr/>
          </p:nvSpPr>
          <p:spPr>
            <a:xfrm>
              <a:off x="381000" y="857250"/>
              <a:ext cx="8382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73763"/>
                  </a:solidFill>
                  <a:latin typeface="Arial"/>
                  <a:ea typeface="Arial"/>
                  <a:cs typeface="Arial"/>
                  <a:sym typeface="Arial"/>
                </a:rPr>
                <a:t>Objective</a:t>
              </a:r>
              <a:endParaRPr b="1" sz="1500">
                <a:solidFill>
                  <a:srgbClr val="0737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Validate whether generated multi-hop reasoning paths are scientifically reliable and logically consistent.</a:t>
              </a:r>
              <a:endParaRPr b="0"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7" name="Google Shape;297;g3eb2f583ca1_0_4613"/>
          <p:cNvGrpSpPr/>
          <p:nvPr/>
        </p:nvGrpSpPr>
        <p:grpSpPr>
          <a:xfrm>
            <a:off x="381000" y="1524000"/>
            <a:ext cx="8382000" cy="3238500"/>
            <a:chOff x="381000" y="1524000"/>
            <a:chExt cx="8382000" cy="3238500"/>
          </a:xfrm>
        </p:grpSpPr>
        <p:sp>
          <p:nvSpPr>
            <p:cNvPr id="298" name="Google Shape;298;g3eb2f583ca1_0_4613"/>
            <p:cNvSpPr/>
            <p:nvPr/>
          </p:nvSpPr>
          <p:spPr>
            <a:xfrm>
              <a:off x="381000" y="1524000"/>
              <a:ext cx="8382000" cy="3238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g3eb2f583ca1_0_4613"/>
            <p:cNvSpPr/>
            <p:nvPr/>
          </p:nvSpPr>
          <p:spPr>
            <a:xfrm>
              <a:off x="381000" y="1524000"/>
              <a:ext cx="8382000" cy="428700"/>
            </a:xfrm>
            <a:prstGeom prst="roundRect">
              <a:avLst>
                <a:gd fmla="val 26666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g3eb2f583ca1_0_4613"/>
            <p:cNvSpPr/>
            <p:nvPr/>
          </p:nvSpPr>
          <p:spPr>
            <a:xfrm>
              <a:off x="381000" y="1809750"/>
              <a:ext cx="8382000" cy="142800"/>
            </a:xfrm>
            <a:prstGeom prst="rect">
              <a:avLst/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g3eb2f583ca1_0_4613"/>
            <p:cNvSpPr txBox="1"/>
            <p:nvPr/>
          </p:nvSpPr>
          <p:spPr>
            <a:xfrm>
              <a:off x="381000" y="1524000"/>
              <a:ext cx="8382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Validation Example</a:t>
              </a:r>
              <a:endParaRPr b="1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2" name="Google Shape;302;g3eb2f583ca1_0_4613"/>
          <p:cNvGrpSpPr/>
          <p:nvPr/>
        </p:nvGrpSpPr>
        <p:grpSpPr>
          <a:xfrm>
            <a:off x="571500" y="2047875"/>
            <a:ext cx="2667000" cy="2524275"/>
            <a:chOff x="571500" y="2047875"/>
            <a:chExt cx="2667000" cy="2524275"/>
          </a:xfrm>
        </p:grpSpPr>
        <p:sp>
          <p:nvSpPr>
            <p:cNvPr id="303" name="Google Shape;303;g3eb2f583ca1_0_4613"/>
            <p:cNvSpPr txBox="1"/>
            <p:nvPr/>
          </p:nvSpPr>
          <p:spPr>
            <a:xfrm>
              <a:off x="571500" y="2047875"/>
              <a:ext cx="2667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Candidate Reasoning Path</a:t>
              </a:r>
              <a:endParaRPr b="1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g3eb2f583ca1_0_4613"/>
            <p:cNvSpPr/>
            <p:nvPr/>
          </p:nvSpPr>
          <p:spPr>
            <a:xfrm>
              <a:off x="571500" y="2381250"/>
              <a:ext cx="2667000" cy="2190900"/>
            </a:xfrm>
            <a:prstGeom prst="roundRect">
              <a:avLst>
                <a:gd fmla="val 3478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g3eb2f583ca1_0_4613"/>
            <p:cNvSpPr txBox="1"/>
            <p:nvPr/>
          </p:nvSpPr>
          <p:spPr>
            <a:xfrm>
              <a:off x="666750" y="2476500"/>
              <a:ext cx="24765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40AF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Pesticide Exposure</a:t>
              </a:r>
              <a:endParaRPr b="1" sz="1100">
                <a:solidFill>
                  <a:srgbClr val="1E40A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b="1" sz="14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40AF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Oxidative Stress</a:t>
              </a:r>
              <a:endParaRPr b="1" sz="1100">
                <a:solidFill>
                  <a:srgbClr val="1E40A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b="1" sz="14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40AF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Neural Inflammation</a:t>
              </a:r>
              <a:endParaRPr b="1" sz="1100">
                <a:solidFill>
                  <a:srgbClr val="1E40A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↓</a:t>
              </a:r>
              <a:endParaRPr b="1" sz="14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E40AF"/>
                  </a:solidFill>
                  <a:highlight>
                    <a:srgbClr val="FFFFFF"/>
                  </a:highlight>
                  <a:latin typeface="Arial"/>
                  <a:ea typeface="Arial"/>
                  <a:cs typeface="Arial"/>
                  <a:sym typeface="Arial"/>
                </a:rPr>
                <a:t>Parkinson Disease</a:t>
              </a:r>
              <a:endParaRPr b="1" sz="1100">
                <a:solidFill>
                  <a:srgbClr val="1E40AF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6" name="Google Shape;306;g3eb2f583ca1_0_4613"/>
          <p:cNvGrpSpPr/>
          <p:nvPr/>
        </p:nvGrpSpPr>
        <p:grpSpPr>
          <a:xfrm>
            <a:off x="3429000" y="2047875"/>
            <a:ext cx="5143500" cy="2524275"/>
            <a:chOff x="3429000" y="2047875"/>
            <a:chExt cx="5143500" cy="2524275"/>
          </a:xfrm>
        </p:grpSpPr>
        <p:sp>
          <p:nvSpPr>
            <p:cNvPr id="307" name="Google Shape;307;g3eb2f583ca1_0_4613"/>
            <p:cNvSpPr txBox="1"/>
            <p:nvPr/>
          </p:nvSpPr>
          <p:spPr>
            <a:xfrm>
              <a:off x="3429000" y="2047875"/>
              <a:ext cx="5143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Validation Observations</a:t>
              </a:r>
              <a:endParaRPr b="1" sz="12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g3eb2f583ca1_0_4613"/>
            <p:cNvSpPr/>
            <p:nvPr/>
          </p:nvSpPr>
          <p:spPr>
            <a:xfrm>
              <a:off x="3429000" y="2381250"/>
              <a:ext cx="5143500" cy="1619100"/>
            </a:xfrm>
            <a:prstGeom prst="roundRect">
              <a:avLst>
                <a:gd fmla="val 4705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g3eb2f583ca1_0_4613"/>
            <p:cNvSpPr txBox="1"/>
            <p:nvPr/>
          </p:nvSpPr>
          <p:spPr>
            <a:xfrm>
              <a:off x="3571875" y="2476500"/>
              <a:ext cx="48579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RelationConfidence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Pesticide → Oxidative Stress </a:t>
              </a:r>
              <a:r>
                <a:rPr b="1" lang="en" sz="1100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High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Oxidative Stress → Neural Inflammation </a:t>
              </a:r>
              <a:r>
                <a:rPr b="1" lang="en" sz="1100">
                  <a:solidFill>
                    <a:srgbClr val="16A34A"/>
                  </a:solidFill>
                  <a:latin typeface="Arial"/>
                  <a:ea typeface="Arial"/>
                  <a:cs typeface="Arial"/>
                  <a:sym typeface="Arial"/>
                </a:rPr>
                <a:t>High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Neural Inflammation → Parkinson Disease </a:t>
              </a:r>
              <a:r>
                <a:rPr b="1" lang="en" sz="1100">
                  <a:solidFill>
                    <a:srgbClr val="CA8A04"/>
                  </a:solidFill>
                  <a:latin typeface="Arial"/>
                  <a:ea typeface="Arial"/>
                  <a:cs typeface="Arial"/>
                  <a:sym typeface="Arial"/>
                </a:rPr>
                <a:t>Moderate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g3eb2f583ca1_0_4613"/>
            <p:cNvSpPr/>
            <p:nvPr/>
          </p:nvSpPr>
          <p:spPr>
            <a:xfrm>
              <a:off x="3429000" y="4095750"/>
              <a:ext cx="5143500" cy="476400"/>
            </a:xfrm>
            <a:prstGeom prst="roundRect">
              <a:avLst>
                <a:gd fmla="val 16000" name="adj"/>
              </a:avLst>
            </a:prstGeom>
            <a:solidFill>
              <a:srgbClr val="1E3A8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g3eb2f583ca1_0_4613"/>
            <p:cNvSpPr txBox="1"/>
            <p:nvPr/>
          </p:nvSpPr>
          <p:spPr>
            <a:xfrm>
              <a:off x="3571875" y="4095750"/>
              <a:ext cx="4857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Final Path Confidence: </a:t>
              </a:r>
              <a:r>
                <a:rPr b="1" lang="en" sz="1300">
                  <a:solidFill>
                    <a:srgbClr val="93C5FD"/>
                  </a:solidFill>
                  <a:latin typeface="Arial"/>
                  <a:ea typeface="Arial"/>
                  <a:cs typeface="Arial"/>
                  <a:sym typeface="Arial"/>
                </a:rPr>
                <a:t>Moderate-High</a:t>
              </a:r>
              <a:endParaRPr b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1"/>
          <p:cNvSpPr txBox="1"/>
          <p:nvPr>
            <p:ph type="title"/>
          </p:nvPr>
        </p:nvSpPr>
        <p:spPr>
          <a:xfrm>
            <a:off x="903450" y="801975"/>
            <a:ext cx="7337100" cy="28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5000">
                <a:solidFill>
                  <a:srgbClr val="1C4587"/>
                </a:solidFill>
                <a:latin typeface="Caveat"/>
                <a:ea typeface="Caveat"/>
                <a:cs typeface="Caveat"/>
                <a:sym typeface="Caveat"/>
              </a:rPr>
              <a:t>THANK YOU</a:t>
            </a:r>
            <a:endParaRPr b="1" sz="5000">
              <a:solidFill>
                <a:srgbClr val="1C4587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5000">
              <a:solidFill>
                <a:srgbClr val="1C4587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5000">
                <a:solidFill>
                  <a:srgbClr val="1C4587"/>
                </a:solidFill>
                <a:latin typeface="Caveat"/>
                <a:ea typeface="Caveat"/>
                <a:cs typeface="Caveat"/>
                <a:sym typeface="Caveat"/>
              </a:rPr>
              <a:t>ANY QUESTIONS?</a:t>
            </a:r>
            <a:endParaRPr b="1" sz="5000">
              <a:solidFill>
                <a:srgbClr val="1C4587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