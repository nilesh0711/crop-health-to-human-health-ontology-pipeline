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Caveat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gCwF2/lJMm+SbdiM06ep6Mqxup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423389-6D38-48D3-A21B-8C3CED559572}">
  <a:tblStyle styleId="{2B423389-6D38-48D3-A21B-8C3CED55957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aveat-regular.fntdata"/><Relationship Id="rId25" Type="http://schemas.openxmlformats.org/officeDocument/2006/relationships/slide" Target="slides/slide19.xml"/><Relationship Id="rId28" Type="http://customschemas.google.com/relationships/presentationmetadata" Target="metadata"/><Relationship Id="rId27" Type="http://schemas.openxmlformats.org/officeDocument/2006/relationships/font" Target="fonts/Cave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6a556f04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e6a556f04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6a556f04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e6a556f04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6a556f04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e6a556f04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6a556f04c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e6a556f04c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6a556f04c_0_240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6a556f04c_0_2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e6a556f04c_0_2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6a556f04c_0_1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e6a556f04c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6a556f04c_0_1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e6a556f04c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6a556f04c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e6a556f04c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6a556f04c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e6a556f04c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6a556f04c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e6a556f04c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6a556f04c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e6a556f04c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6a556f04c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e6a556f04c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 (g3decdefcddd_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ecdefcddd_0_1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g3decdefcddd_0_1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g3decdefcddd_0_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ad7eb9dca_146_0)">
  <p:cSld name="Generated (g3dad7eb9dca_146_0)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60" name="Google Shape;60;p1"/>
            <p:cNvSpPr/>
            <p:nvPr/>
          </p:nvSpPr>
          <p:spPr>
            <a:xfrm>
              <a:off x="0" y="0"/>
              <a:ext cx="9144000" cy="1143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1" name="Google Shape;61;p1"/>
            <p:cNvPicPr preferRelativeResize="0"/>
            <p:nvPr/>
          </p:nvPicPr>
          <p:blipFill rotWithShape="1">
            <a:blip r:embed="rId4">
              <a:alphaModFix/>
            </a:blip>
            <a:srcRect b="0" l="3341" r="3341" t="0"/>
            <a:stretch/>
          </p:blipFill>
          <p:spPr>
            <a:xfrm>
              <a:off x="4286250" y="228600"/>
              <a:ext cx="5715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"/>
          <p:cNvSpPr txBox="1"/>
          <p:nvPr/>
        </p:nvSpPr>
        <p:spPr>
          <a:xfrm>
            <a:off x="381000" y="13335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3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Reasoning with Food Knowledge Graphs</a:t>
            </a:r>
            <a:endParaRPr b="1" sz="333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66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Tracing the Journey from Soil Health to Human Health</a:t>
            </a:r>
            <a:endParaRPr b="0" sz="1665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1"/>
          <p:cNvGrpSpPr/>
          <p:nvPr/>
        </p:nvGrpSpPr>
        <p:grpSpPr>
          <a:xfrm>
            <a:off x="2667000" y="2667000"/>
            <a:ext cx="3810000" cy="1333500"/>
            <a:chOff x="2667000" y="2667000"/>
            <a:chExt cx="3810000" cy="1333500"/>
          </a:xfrm>
        </p:grpSpPr>
        <p:sp>
          <p:nvSpPr>
            <p:cNvPr id="64" name="Google Shape;64;p1"/>
            <p:cNvSpPr/>
            <p:nvPr/>
          </p:nvSpPr>
          <p:spPr>
            <a:xfrm>
              <a:off x="2667000" y="2667000"/>
              <a:ext cx="38100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"/>
            <p:cNvSpPr txBox="1"/>
            <p:nvPr/>
          </p:nvSpPr>
          <p:spPr>
            <a:xfrm>
              <a:off x="2667000" y="2667000"/>
              <a:ext cx="3810000" cy="133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Nilesh Gupta</a:t>
              </a:r>
              <a:endParaRPr b="1" sz="18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(25CS60R64)</a:t>
              </a:r>
              <a:endParaRPr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Guide: </a:t>
              </a:r>
              <a:r>
                <a:rPr b="1" lang="en" sz="14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Prof. Partha Pratim Chakrabarti</a:t>
              </a:r>
              <a:endParaRPr b="0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66;p1"/>
          <p:cNvGrpSpPr/>
          <p:nvPr/>
        </p:nvGrpSpPr>
        <p:grpSpPr>
          <a:xfrm>
            <a:off x="0" y="4696255"/>
            <a:ext cx="9144000" cy="447446"/>
            <a:chOff x="0" y="4381500"/>
            <a:chExt cx="9144000" cy="762000"/>
          </a:xfrm>
        </p:grpSpPr>
        <p:sp>
          <p:nvSpPr>
            <p:cNvPr id="67" name="Google Shape;67;p1"/>
            <p:cNvSpPr/>
            <p:nvPr/>
          </p:nvSpPr>
          <p:spPr>
            <a:xfrm>
              <a:off x="0" y="4381500"/>
              <a:ext cx="9144000" cy="7620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"/>
            <p:cNvSpPr txBox="1"/>
            <p:nvPr/>
          </p:nvSpPr>
          <p:spPr>
            <a:xfrm>
              <a:off x="381000" y="4381500"/>
              <a:ext cx="4000500" cy="7620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Department of Computer Science and Engineering</a:t>
              </a:r>
              <a:endParaRPr sz="12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 txBox="1"/>
            <p:nvPr/>
          </p:nvSpPr>
          <p:spPr>
            <a:xfrm>
              <a:off x="4762500" y="4381500"/>
              <a:ext cx="4000500" cy="7620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Indian Institute of Technology, Kharagpur</a:t>
              </a:r>
              <a:endParaRPr sz="12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2"/>
          <p:cNvGrpSpPr/>
          <p:nvPr/>
        </p:nvGrpSpPr>
        <p:grpSpPr>
          <a:xfrm>
            <a:off x="0" y="0"/>
            <a:ext cx="9144000" cy="952500"/>
            <a:chOff x="0" y="0"/>
            <a:chExt cx="9144000" cy="952500"/>
          </a:xfrm>
        </p:grpSpPr>
        <p:sp>
          <p:nvSpPr>
            <p:cNvPr id="75" name="Google Shape;75;p2"/>
            <p:cNvSpPr/>
            <p:nvPr/>
          </p:nvSpPr>
          <p:spPr>
            <a:xfrm>
              <a:off x="0" y="0"/>
              <a:ext cx="9144000" cy="952500"/>
            </a:xfrm>
            <a:prstGeom prst="rect">
              <a:avLst/>
            </a:prstGeom>
            <a:solidFill>
              <a:srgbClr val="F8FAFC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6" name="Google Shape;76;p2"/>
            <p:cNvPicPr preferRelativeResize="0"/>
            <p:nvPr/>
          </p:nvPicPr>
          <p:blipFill rotWithShape="1">
            <a:blip r:embed="rId4">
              <a:alphaModFix/>
            </a:blip>
            <a:srcRect b="140" l="0" r="0" t="140"/>
            <a:stretch/>
          </p:blipFill>
          <p:spPr>
            <a:xfrm>
              <a:off x="4286250" y="142875"/>
              <a:ext cx="571500" cy="63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2"/>
          <p:cNvSpPr txBox="1"/>
          <p:nvPr>
            <p:ph type="title"/>
          </p:nvPr>
        </p:nvSpPr>
        <p:spPr>
          <a:xfrm>
            <a:off x="381000" y="9525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b="1" sz="32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" name="Google Shape;78;p2"/>
          <p:cNvGrpSpPr/>
          <p:nvPr/>
        </p:nvGrpSpPr>
        <p:grpSpPr>
          <a:xfrm>
            <a:off x="571500" y="1619250"/>
            <a:ext cx="8001150" cy="2667000"/>
            <a:chOff x="571500" y="1619250"/>
            <a:chExt cx="8001150" cy="2667000"/>
          </a:xfrm>
        </p:grpSpPr>
        <p:sp>
          <p:nvSpPr>
            <p:cNvPr id="79" name="Google Shape;79;p2"/>
            <p:cNvSpPr/>
            <p:nvPr/>
          </p:nvSpPr>
          <p:spPr>
            <a:xfrm>
              <a:off x="571500" y="1619250"/>
              <a:ext cx="3905400" cy="2667000"/>
            </a:xfrm>
            <a:prstGeom prst="roundRect">
              <a:avLst>
                <a:gd fmla="val 5357" name="adj"/>
              </a:avLst>
            </a:prstGeom>
            <a:solidFill>
              <a:srgbClr val="FFFF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 txBox="1"/>
            <p:nvPr/>
          </p:nvSpPr>
          <p:spPr>
            <a:xfrm>
              <a:off x="762000" y="1714500"/>
              <a:ext cx="3524400" cy="2476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238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A2733"/>
                </a:buClr>
                <a:buSzPts val="1500"/>
                <a:buFont typeface="Arial"/>
                <a:buChar char="●"/>
              </a:pPr>
              <a:r>
                <a:rPr b="1" lang="en" sz="15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Motivation</a:t>
              </a:r>
              <a:endParaRPr b="0" sz="15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2733"/>
                </a:buClr>
                <a:buSzPts val="1500"/>
                <a:buFont typeface="Arial"/>
                <a:buChar char="●"/>
              </a:pPr>
              <a:r>
                <a:rPr b="1" lang="en" sz="15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Literature Review</a:t>
              </a:r>
              <a:endParaRPr b="0" sz="15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2733"/>
                </a:buClr>
                <a:buSzPts val="1500"/>
                <a:buFont typeface="Arial"/>
                <a:buChar char="●"/>
              </a:pPr>
              <a:r>
                <a:rPr b="1" lang="en" sz="15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b="0" sz="15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2733"/>
                </a:buClr>
                <a:buSzPts val="1500"/>
                <a:buFont typeface="Arial"/>
                <a:buChar char="●"/>
              </a:pPr>
              <a:r>
                <a:rPr b="1" lang="en" sz="15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Objective</a:t>
              </a:r>
              <a:endParaRPr b="0" sz="15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2733"/>
                </a:buClr>
                <a:buSzPts val="1500"/>
                <a:buFont typeface="Arial"/>
                <a:buChar char="●"/>
              </a:pPr>
              <a:r>
                <a:rPr b="1" lang="en" sz="15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b="0" sz="15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2733"/>
                </a:buClr>
                <a:buSzPts val="1500"/>
                <a:buFont typeface="Arial"/>
                <a:buChar char="●"/>
              </a:pPr>
              <a:r>
                <a:rPr b="1" lang="en" sz="15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Work Done</a:t>
              </a:r>
              <a:endParaRPr b="0" sz="15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2733"/>
                </a:buClr>
                <a:buSzPts val="1500"/>
                <a:buFont typeface="Arial"/>
                <a:buChar char="●"/>
              </a:pPr>
              <a:r>
                <a:rPr b="1" lang="en" sz="15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Results</a:t>
              </a:r>
              <a:endParaRPr b="0" sz="15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667250" y="1619250"/>
              <a:ext cx="3905400" cy="2667000"/>
            </a:xfrm>
            <a:prstGeom prst="roundRect">
              <a:avLst>
                <a:gd fmla="val 53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 txBox="1"/>
            <p:nvPr/>
          </p:nvSpPr>
          <p:spPr>
            <a:xfrm>
              <a:off x="4857750" y="1714500"/>
              <a:ext cx="3524400" cy="2476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238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A2733"/>
                </a:buClr>
                <a:buSzPts val="1500"/>
                <a:buFont typeface="Arial"/>
                <a:buChar char="●"/>
              </a:pPr>
              <a:r>
                <a:rPr b="1" lang="en" sz="15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Papers Processed &amp; Tools used</a:t>
              </a:r>
              <a:endParaRPr b="0" sz="15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1A2733"/>
                </a:buClr>
                <a:buSzPts val="1500"/>
                <a:buFont typeface="Arial"/>
                <a:buChar char="●"/>
              </a:pPr>
              <a:r>
                <a:rPr b="1" lang="en" sz="15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Plan of work for next semester</a:t>
              </a:r>
              <a:endParaRPr b="0" sz="15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1A2733"/>
                </a:buClr>
                <a:buSzPts val="1500"/>
                <a:buFont typeface="Arial"/>
                <a:buChar char="●"/>
              </a:pPr>
              <a:r>
                <a:rPr b="1" lang="en" sz="15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b="0" sz="15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6a556f04c_0_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solidFill>
                  <a:srgbClr val="1C4587"/>
                </a:solidFill>
              </a:rPr>
              <a:t>Motivation</a:t>
            </a:r>
            <a:endParaRPr b="1" sz="272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720">
              <a:solidFill>
                <a:srgbClr val="1C4587"/>
              </a:solidFill>
            </a:endParaRPr>
          </a:p>
        </p:txBody>
      </p:sp>
      <p:sp>
        <p:nvSpPr>
          <p:cNvPr id="88" name="Google Shape;88;g3e6a556f04c_0_91"/>
          <p:cNvSpPr/>
          <p:nvPr/>
        </p:nvSpPr>
        <p:spPr>
          <a:xfrm>
            <a:off x="529975" y="1017725"/>
            <a:ext cx="8302200" cy="38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lang="en" sz="1500">
                <a:solidFill>
                  <a:srgbClr val="073763"/>
                </a:solidFill>
              </a:rPr>
              <a:t>Agriculture &amp; Health</a:t>
            </a:r>
            <a:endParaRPr b="1" i="0" sz="1500" u="none" cap="none" strike="noStrike">
              <a:solidFill>
                <a:srgbClr val="07376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t/>
            </a:r>
            <a:endParaRPr b="1" sz="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2733"/>
                </a:solidFill>
              </a:rPr>
              <a:t>Agriculture directly impacts human health through nutrition, contaminants, and food safety</a:t>
            </a:r>
            <a:endParaRPr sz="1500">
              <a:solidFill>
                <a:srgbClr val="1A27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27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27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lang="en" sz="1500">
                <a:solidFill>
                  <a:srgbClr val="073763"/>
                </a:solidFill>
              </a:rPr>
              <a:t>Fragmented Research</a:t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t/>
            </a:r>
            <a:endParaRPr b="1" sz="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2733"/>
                </a:solidFill>
              </a:rPr>
              <a:t>Existing systems treat agriculture and health as separate domains, no unified system connects soil to disease outcomes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t/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lang="en" sz="1500">
                <a:solidFill>
                  <a:srgbClr val="073763"/>
                </a:solidFill>
              </a:rPr>
              <a:t>Hidden Causal Chains</a:t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t/>
            </a:r>
            <a:endParaRPr b="1" sz="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2733"/>
                </a:solidFill>
              </a:rPr>
              <a:t>Connections like </a:t>
            </a:r>
            <a:r>
              <a:rPr lang="en" sz="1500">
                <a:solidFill>
                  <a:srgbClr val="0000FF"/>
                </a:solidFill>
              </a:rPr>
              <a:t>Monoculture → Fusarium → Mycotoxins → Cancer</a:t>
            </a:r>
            <a:r>
              <a:rPr lang="en" sz="1500">
                <a:solidFill>
                  <a:srgbClr val="1A2733"/>
                </a:solidFill>
              </a:rPr>
              <a:t> are buried across hundreds of research papers</a:t>
            </a:r>
            <a:endParaRPr sz="1500">
              <a:solidFill>
                <a:srgbClr val="1A273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t/>
            </a:r>
            <a:endParaRPr b="1" sz="15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6a556f04c_0_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720">
                <a:solidFill>
                  <a:srgbClr val="1C4587"/>
                </a:solidFill>
              </a:rPr>
              <a:t>Motivation (cont)</a:t>
            </a:r>
            <a:endParaRPr b="1" sz="272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720">
              <a:solidFill>
                <a:srgbClr val="1C4587"/>
              </a:solidFill>
            </a:endParaRPr>
          </a:p>
        </p:txBody>
      </p:sp>
      <p:sp>
        <p:nvSpPr>
          <p:cNvPr id="94" name="Google Shape;94;g3e6a556f04c_0_4"/>
          <p:cNvSpPr/>
          <p:nvPr/>
        </p:nvSpPr>
        <p:spPr>
          <a:xfrm>
            <a:off x="480600" y="1274874"/>
            <a:ext cx="8351700" cy="18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en" sz="1500" u="none" cap="none" strike="noStrike">
                <a:solidFill>
                  <a:srgbClr val="073763"/>
                </a:solidFill>
              </a:rPr>
              <a:t>Why a Knowledge Graph?</a:t>
            </a:r>
            <a:endParaRPr b="1" i="0" sz="1500" u="none" cap="none" strike="noStrike">
              <a:solidFill>
                <a:srgbClr val="07376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t/>
            </a:r>
            <a:endParaRPr b="1" sz="1500">
              <a:solidFill>
                <a:srgbClr val="073763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Automatically discovers cross-domain connections from large scientific corpora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Enables multi-hop reasoning: </a:t>
            </a:r>
            <a:r>
              <a:rPr lang="en" sz="1500">
                <a:solidFill>
                  <a:srgbClr val="0000FF"/>
                </a:solidFill>
              </a:rPr>
              <a:t>Soil Condition → Crop → Nutrient → Human Disease</a:t>
            </a:r>
            <a:endParaRPr sz="1500">
              <a:solidFill>
                <a:srgbClr val="0000FF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Scales with new research papers without manual curation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t/>
            </a:r>
            <a:endParaRPr b="1"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e6a556f04c_0_4"/>
          <p:cNvSpPr/>
          <p:nvPr/>
        </p:nvSpPr>
        <p:spPr>
          <a:xfrm>
            <a:off x="524425" y="3026599"/>
            <a:ext cx="8351700" cy="18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lang="en" sz="1500">
                <a:solidFill>
                  <a:srgbClr val="073763"/>
                </a:solidFill>
              </a:rPr>
              <a:t>Real-World Relevance</a:t>
            </a:r>
            <a:endParaRPr b="1" i="0" sz="1500" u="none" cap="none" strike="noStrike">
              <a:solidFill>
                <a:srgbClr val="07376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t/>
            </a:r>
            <a:endParaRPr b="1" sz="1500">
              <a:solidFill>
                <a:srgbClr val="07376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Food Security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Public health policy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Precision Agriculture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Disease Surveillance</a:t>
            </a:r>
            <a:endParaRPr sz="1500">
              <a:solidFill>
                <a:srgbClr val="1A273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t/>
            </a:r>
            <a:endParaRPr b="1"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00">
                <a:solidFill>
                  <a:srgbClr val="1C4587"/>
                </a:solidFill>
              </a:rPr>
              <a:t>Literature Review</a:t>
            </a:r>
            <a:endParaRPr b="1" sz="2700">
              <a:solidFill>
                <a:srgbClr val="1C4587"/>
              </a:solidFill>
            </a:endParaRPr>
          </a:p>
        </p:txBody>
      </p:sp>
      <p:graphicFrame>
        <p:nvGraphicFramePr>
          <p:cNvPr id="101" name="Google Shape;101;p4"/>
          <p:cNvGraphicFramePr/>
          <p:nvPr/>
        </p:nvGraphicFramePr>
        <p:xfrm>
          <a:off x="524250" y="10602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{2B423389-6D38-48D3-A21B-8C3CED559572}</a:tableStyleId>
              </a:tblPr>
              <a:tblGrid>
                <a:gridCol w="2011675"/>
                <a:gridCol w="2926075"/>
                <a:gridCol w="3291850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A2733"/>
                          </a:solidFill>
                        </a:rPr>
                        <a:t>Domain</a:t>
                      </a:r>
                      <a:endParaRPr sz="1100" u="none" cap="none" strike="noStrike">
                        <a:solidFill>
                          <a:srgbClr val="1A2733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A2733"/>
                          </a:solidFill>
                        </a:rPr>
                        <a:t>Existing Tools / Ontologies</a:t>
                      </a:r>
                      <a:endParaRPr sz="1100" u="none" cap="none" strike="noStrike">
                        <a:solidFill>
                          <a:srgbClr val="1A2733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A2733"/>
                          </a:solidFill>
                        </a:rPr>
                        <a:t>Key Gap</a:t>
                      </a:r>
                      <a:endParaRPr sz="1100" u="none" cap="none" strike="noStrike">
                        <a:solidFill>
                          <a:srgbClr val="1A2733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A3A5C"/>
                          </a:solidFill>
                        </a:rPr>
                        <a:t>Agricultural KGs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5068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3B5068"/>
                          </a:solidFill>
                        </a:rPr>
                        <a:t>AgrOnt, FOODON, AgroLD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733"/>
                          </a:solidFill>
                        </a:rPr>
                        <a:t>Focus on crop classification only — no bridge to human health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A3A5C"/>
                          </a:solidFill>
                        </a:rPr>
                        <a:t>NLP Extraction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5068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3B5068"/>
                          </a:solidFill>
                        </a:rPr>
                        <a:t>OpenIE, REBEL, GPT, Gemma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733"/>
                          </a:solidFill>
                        </a:rPr>
                        <a:t>Lack domain-specific validation for agriculture-health triples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A3A5C"/>
                          </a:solidFill>
                        </a:rPr>
                        <a:t>Health Ontologies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5068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3B5068"/>
                          </a:solidFill>
                        </a:rPr>
                        <a:t>SNOMED, Disease Ontology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733"/>
                          </a:solidFill>
                        </a:rPr>
                        <a:t>Medical-only — disconnected from agricultural knowledge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Google Shape;102;p4"/>
          <p:cNvSpPr/>
          <p:nvPr/>
        </p:nvSpPr>
        <p:spPr>
          <a:xfrm>
            <a:off x="685800" y="3566125"/>
            <a:ext cx="79065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1200"/>
              <a:buFont typeface="Calibri"/>
              <a:buNone/>
            </a:pPr>
            <a:r>
              <a:rPr b="1" i="0" lang="en" sz="1500" u="none" cap="none" strike="noStrike">
                <a:solidFill>
                  <a:srgbClr val="073763"/>
                </a:solidFill>
              </a:rPr>
              <a:t>Critical Gap</a:t>
            </a:r>
            <a:endParaRPr b="1" i="0" sz="1500" u="none" cap="none" strike="noStrike">
              <a:solidFill>
                <a:srgbClr val="07376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1200"/>
              <a:buFont typeface="Calibri"/>
              <a:buNone/>
            </a:pPr>
            <a:r>
              <a:t/>
            </a:r>
            <a:endParaRPr b="1" sz="5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A3A00"/>
              </a:buClr>
              <a:buSzPts val="1050"/>
              <a:buFont typeface="Calibri"/>
              <a:buNone/>
            </a:pPr>
            <a:r>
              <a:rPr lang="en" sz="1500">
                <a:solidFill>
                  <a:srgbClr val="1A2733"/>
                </a:solidFill>
              </a:rPr>
              <a:t>No existing system builds an end-to-end pipeline from agricultural PDFs to a reasoning-capable knowledge graph that traces </a:t>
            </a:r>
            <a:r>
              <a:rPr lang="en" sz="1500">
                <a:solidFill>
                  <a:srgbClr val="0000FF"/>
                </a:solidFill>
              </a:rPr>
              <a:t>soil → crop → nutrient → human disease</a:t>
            </a:r>
            <a:r>
              <a:rPr lang="en" sz="1500">
                <a:solidFill>
                  <a:srgbClr val="1A2733"/>
                </a:solidFill>
              </a:rPr>
              <a:t>.</a:t>
            </a:r>
            <a:endParaRPr b="1" sz="1500">
              <a:solidFill>
                <a:srgbClr val="1A2733"/>
              </a:solidFill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7A91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E7A91"/>
                </a:solidFill>
                <a:latin typeface="Calibri"/>
                <a:ea typeface="Calibri"/>
                <a:cs typeface="Calibri"/>
                <a:sym typeface="Calibri"/>
              </a:rPr>
              <a:t>4 / 18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6a556f04c_0_108"/>
          <p:cNvSpPr/>
          <p:nvPr/>
        </p:nvSpPr>
        <p:spPr>
          <a:xfrm>
            <a:off x="4526150" y="2908250"/>
            <a:ext cx="4208400" cy="170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e6a556f04c_0_108"/>
          <p:cNvSpPr/>
          <p:nvPr/>
        </p:nvSpPr>
        <p:spPr>
          <a:xfrm>
            <a:off x="209625" y="2908250"/>
            <a:ext cx="4208400" cy="17025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19050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6a556f04c_0_108"/>
          <p:cNvSpPr/>
          <p:nvPr/>
        </p:nvSpPr>
        <p:spPr>
          <a:xfrm>
            <a:off x="4526150" y="1142200"/>
            <a:ext cx="4208400" cy="17025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19050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6a556f04c_0_108"/>
          <p:cNvSpPr/>
          <p:nvPr/>
        </p:nvSpPr>
        <p:spPr>
          <a:xfrm>
            <a:off x="230225" y="1157250"/>
            <a:ext cx="4208400" cy="170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6a556f04c_0_1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00">
                <a:solidFill>
                  <a:srgbClr val="1C4587"/>
                </a:solidFill>
              </a:rPr>
              <a:t>Problem Statement</a:t>
            </a:r>
            <a:endParaRPr b="1" sz="2700">
              <a:solidFill>
                <a:srgbClr val="1C4587"/>
              </a:solidFill>
            </a:endParaRPr>
          </a:p>
        </p:txBody>
      </p:sp>
      <p:sp>
        <p:nvSpPr>
          <p:cNvPr id="113" name="Google Shape;113;g3e6a556f04c_0_108"/>
          <p:cNvSpPr/>
          <p:nvPr/>
        </p:nvSpPr>
        <p:spPr>
          <a:xfrm>
            <a:off x="330225" y="1300925"/>
            <a:ext cx="3967200" cy="1364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2733"/>
                </a:solidFill>
              </a:rPr>
              <a:t>Scientific literature on agriculture and health is fragmented across domains, hundreds of disconnected papers.</a:t>
            </a:r>
            <a:endParaRPr i="0" sz="1500" u="none" cap="none" strike="noStrike">
              <a:solidFill>
                <a:srgbClr val="1A2733"/>
              </a:solidFill>
            </a:endParaRPr>
          </a:p>
        </p:txBody>
      </p:sp>
      <p:sp>
        <p:nvSpPr>
          <p:cNvPr id="114" name="Google Shape;114;g3e6a556f04c_0_108"/>
          <p:cNvSpPr/>
          <p:nvPr/>
        </p:nvSpPr>
        <p:spPr>
          <a:xfrm>
            <a:off x="4646750" y="1280938"/>
            <a:ext cx="3967200" cy="13641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2733"/>
                </a:solidFill>
              </a:rPr>
              <a:t>No automated system exists to extract structured knowledge from agricultural PDFs and reason over it.</a:t>
            </a:r>
            <a:endParaRPr b="0" i="0" sz="1500" u="none" cap="none" strike="noStrike">
              <a:solidFill>
                <a:srgbClr val="1A27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e6a556f04c_0_108"/>
          <p:cNvSpPr/>
          <p:nvPr/>
        </p:nvSpPr>
        <p:spPr>
          <a:xfrm>
            <a:off x="350825" y="3077450"/>
            <a:ext cx="3967200" cy="13641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2733"/>
                </a:solidFill>
              </a:rPr>
              <a:t>Discovering causal chains linking soil / climate / farming practices to human diseases requires manual expert analysis.</a:t>
            </a:r>
            <a:endParaRPr b="0" i="0" sz="1500" cap="none" strike="noStrike">
              <a:solidFill>
                <a:srgbClr val="1A27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e6a556f04c_0_108"/>
          <p:cNvSpPr/>
          <p:nvPr/>
        </p:nvSpPr>
        <p:spPr>
          <a:xfrm>
            <a:off x="4646750" y="3024200"/>
            <a:ext cx="3967200" cy="1364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2733"/>
                </a:solidFill>
              </a:rPr>
              <a:t>Manual analysis of cross-domain connections is infeasible at scale as the corpus grows.</a:t>
            </a:r>
            <a:endParaRPr b="0" i="0" sz="1500" u="none" cap="none" strike="noStrike">
              <a:solidFill>
                <a:srgbClr val="1A27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>
                <a:solidFill>
                  <a:srgbClr val="1C4587"/>
                </a:solidFill>
              </a:rPr>
              <a:t>Research Objective</a:t>
            </a:r>
            <a:endParaRPr b="1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450275" y="1230300"/>
            <a:ext cx="8013300" cy="291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</a:rPr>
              <a:t>Our Objective is to design an automated pipeline that extracts structured knowledge from agricultural research literature to construct a cumulative knowledge graph. This graph will connect soil health, farming practices, crop diseases, and climate factors to human health outcomes. Using LLM-based extraction, schema-validated graph construction, and multi-hop reasoning, the system will discover hidden causal chains that emerge only when knowledge from multiple sources is linked.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solidFill>
                  <a:srgbClr val="1C4587"/>
                </a:solidFill>
              </a:rPr>
              <a:t>Methodology: Pipeline Architecture</a:t>
            </a:r>
            <a:endParaRPr b="1" sz="2720">
              <a:solidFill>
                <a:srgbClr val="1C4587"/>
              </a:solidFill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66075" y="1303950"/>
            <a:ext cx="1902000" cy="3291600"/>
          </a:xfrm>
          <a:prstGeom prst="roundRect">
            <a:avLst>
              <a:gd fmla="val 5769" name="adj"/>
            </a:avLst>
          </a:prstGeom>
          <a:solidFill>
            <a:srgbClr val="FFFFFF"/>
          </a:solidFill>
          <a:ln cap="flat" cmpd="sng" w="9525">
            <a:solidFill>
              <a:srgbClr val="D0E4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566075" y="1409273"/>
            <a:ext cx="1902000" cy="39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F9E"/>
              </a:buClr>
              <a:buSzPts val="900"/>
              <a:buFont typeface="Calibri"/>
              <a:buNone/>
            </a:pPr>
            <a:r>
              <a:rPr b="1" i="0" lang="en" sz="1500" u="none" cap="none" strike="noStrike">
                <a:solidFill>
                  <a:srgbClr val="1C4587"/>
                </a:solidFill>
              </a:rPr>
              <a:t>Stage 1</a:t>
            </a:r>
            <a:endParaRPr i="0" sz="1500" u="none" cap="none" strike="noStrike">
              <a:solidFill>
                <a:srgbClr val="1C4587"/>
              </a:solidFill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66075" y="1830575"/>
            <a:ext cx="1902000" cy="6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3A5C"/>
                </a:solidFill>
              </a:rPr>
              <a:t>Tuple Extraction</a:t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66075" y="2571750"/>
            <a:ext cx="1902000" cy="18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" sz="1100">
                <a:solidFill>
                  <a:srgbClr val="1A2733"/>
                </a:solidFill>
              </a:rPr>
              <a:t>ChatGPT-5 processes PDFs → 6-tuple output</a:t>
            </a:r>
            <a:endParaRPr sz="1100">
              <a:solidFill>
                <a:srgbClr val="1A27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" sz="1100">
                <a:solidFill>
                  <a:srgbClr val="1A2733"/>
                </a:solidFill>
              </a:rPr>
              <a:t>(subject, relation, object, entity_types, confidence, source)</a:t>
            </a:r>
            <a:endParaRPr sz="1100">
              <a:solidFill>
                <a:srgbClr val="1A2733"/>
              </a:solidFill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687483" y="1303950"/>
            <a:ext cx="1902000" cy="3291600"/>
          </a:xfrm>
          <a:prstGeom prst="roundRect">
            <a:avLst>
              <a:gd fmla="val 5769" name="adj"/>
            </a:avLst>
          </a:prstGeom>
          <a:solidFill>
            <a:srgbClr val="F3F3F3"/>
          </a:solidFill>
          <a:ln cap="flat" cmpd="sng" w="9525">
            <a:solidFill>
              <a:srgbClr val="D0E4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2687483" y="1409273"/>
            <a:ext cx="1902000" cy="395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F9E"/>
              </a:buClr>
              <a:buSzPts val="900"/>
              <a:buFont typeface="Calibri"/>
              <a:buNone/>
            </a:pPr>
            <a:r>
              <a:rPr b="1" i="0" lang="en" sz="1500" u="none" cap="none" strike="noStrike">
                <a:solidFill>
                  <a:srgbClr val="1C4587"/>
                </a:solidFill>
              </a:rPr>
              <a:t>Stage 2</a:t>
            </a:r>
            <a:endParaRPr i="0" sz="1500" u="none" cap="none" strike="noStrike">
              <a:solidFill>
                <a:srgbClr val="1C4587"/>
              </a:solidFill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2687483" y="1830575"/>
            <a:ext cx="1902000" cy="665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3A5C"/>
                </a:solidFill>
              </a:rPr>
              <a:t>Validation &amp;</a:t>
            </a:r>
            <a:endParaRPr i="0" sz="12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3A5C"/>
                </a:solidFill>
              </a:rPr>
              <a:t>Deduplication</a:t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687483" y="2571750"/>
            <a:ext cx="1902000" cy="18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" sz="1100">
                <a:solidFill>
                  <a:srgbClr val="1A2733"/>
                </a:solidFill>
              </a:rPr>
              <a:t>Python: VALID_RULES + confidence ≥ 0.7</a:t>
            </a:r>
            <a:endParaRPr sz="1100">
              <a:solidFill>
                <a:srgbClr val="1A27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" sz="1100">
                <a:solidFill>
                  <a:srgbClr val="1A2733"/>
                </a:solidFill>
              </a:rPr>
              <a:t>Entity normalization via controlled vocabulary</a:t>
            </a:r>
            <a:endParaRPr sz="1100">
              <a:solidFill>
                <a:srgbClr val="1A2733"/>
              </a:solidFill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808892" y="1303950"/>
            <a:ext cx="1902000" cy="3291600"/>
          </a:xfrm>
          <a:prstGeom prst="roundRect">
            <a:avLst>
              <a:gd fmla="val 5769" name="adj"/>
            </a:avLst>
          </a:prstGeom>
          <a:solidFill>
            <a:srgbClr val="FFFFFF"/>
          </a:solidFill>
          <a:ln cap="flat" cmpd="sng" w="9525">
            <a:solidFill>
              <a:srgbClr val="D0E4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808892" y="1409273"/>
            <a:ext cx="1902000" cy="39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F9E"/>
              </a:buClr>
              <a:buSzPts val="900"/>
              <a:buFont typeface="Calibri"/>
              <a:buNone/>
            </a:pPr>
            <a:r>
              <a:rPr b="1" i="0" lang="en" sz="1500" u="none" cap="none" strike="noStrike">
                <a:solidFill>
                  <a:srgbClr val="1C4587"/>
                </a:solidFill>
              </a:rPr>
              <a:t>Stage 3</a:t>
            </a:r>
            <a:endParaRPr i="0" sz="1500" u="none" cap="none" strike="noStrike">
              <a:solidFill>
                <a:srgbClr val="1C4587"/>
              </a:solidFill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808892" y="1830575"/>
            <a:ext cx="1902000" cy="6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A3A5C"/>
                </a:solidFill>
              </a:rPr>
              <a:t>Graph Construction</a:t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808892" y="2571750"/>
            <a:ext cx="1902000" cy="18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" sz="1100">
                <a:solidFill>
                  <a:srgbClr val="1A2733"/>
                </a:solidFill>
              </a:rPr>
              <a:t>NetworkX DiGraph</a:t>
            </a:r>
            <a:endParaRPr sz="1100">
              <a:solidFill>
                <a:srgbClr val="1A27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" sz="1100">
                <a:solidFill>
                  <a:srgbClr val="1A2733"/>
                </a:solidFill>
              </a:rPr>
              <a:t>Forward + reverse edges → GraphML export</a:t>
            </a:r>
            <a:endParaRPr sz="1100">
              <a:solidFill>
                <a:srgbClr val="1A2733"/>
              </a:solidFill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930300" y="1303950"/>
            <a:ext cx="1902000" cy="3291600"/>
          </a:xfrm>
          <a:prstGeom prst="roundRect">
            <a:avLst>
              <a:gd fmla="val 5769" name="adj"/>
            </a:avLst>
          </a:prstGeom>
          <a:solidFill>
            <a:srgbClr val="F3F3F3"/>
          </a:solidFill>
          <a:ln cap="flat" cmpd="sng" w="9525">
            <a:solidFill>
              <a:srgbClr val="D0E4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930300" y="1409273"/>
            <a:ext cx="1902000" cy="395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F9E"/>
              </a:buClr>
              <a:buSzPts val="900"/>
              <a:buFont typeface="Calibri"/>
              <a:buNone/>
            </a:pPr>
            <a:r>
              <a:rPr b="1" i="0" lang="en" sz="1500" u="none" cap="none" strike="noStrike">
                <a:solidFill>
                  <a:srgbClr val="1C4587"/>
                </a:solidFill>
              </a:rPr>
              <a:t>Stage 4</a:t>
            </a:r>
            <a:endParaRPr i="0" sz="1500" u="none" cap="none" strike="noStrike">
              <a:solidFill>
                <a:srgbClr val="1C4587"/>
              </a:solidFill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930300" y="1830575"/>
            <a:ext cx="1902000" cy="665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3A5C"/>
                </a:solidFill>
              </a:rPr>
              <a:t>Multi-hop</a:t>
            </a:r>
            <a:endParaRPr i="0" sz="12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3A5C"/>
                </a:solidFill>
              </a:rPr>
              <a:t>Reasoning</a:t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930300" y="2571750"/>
            <a:ext cx="1902000" cy="18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" sz="1100">
                <a:solidFill>
                  <a:srgbClr val="1A2733"/>
                </a:solidFill>
              </a:rPr>
              <a:t>Path traversal ≤ 6 hops</a:t>
            </a:r>
            <a:endParaRPr sz="1100">
              <a:solidFill>
                <a:srgbClr val="1A27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" sz="1100">
                <a:solidFill>
                  <a:srgbClr val="1A2733"/>
                </a:solidFill>
              </a:rPr>
              <a:t>Partial path stitching for longer chains</a:t>
            </a:r>
            <a:endParaRPr sz="1100">
              <a:solidFill>
                <a:srgbClr val="1A273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6a556f04c_0_7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16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Methodology: Entity &amp; Relations Types</a:t>
            </a:r>
            <a:endParaRPr b="1" sz="2516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e6a556f04c_0_710"/>
          <p:cNvSpPr/>
          <p:nvPr/>
        </p:nvSpPr>
        <p:spPr>
          <a:xfrm>
            <a:off x="571500" y="1333500"/>
            <a:ext cx="3810000" cy="323850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50" name="Google Shape;150;g3e6a556f04c_0_710"/>
          <p:cNvSpPr/>
          <p:nvPr/>
        </p:nvSpPr>
        <p:spPr>
          <a:xfrm>
            <a:off x="571500" y="1333500"/>
            <a:ext cx="3810000" cy="476400"/>
          </a:xfrm>
          <a:prstGeom prst="roundRect">
            <a:avLst>
              <a:gd fmla="val 24000" name="adj"/>
            </a:avLst>
          </a:prstGeom>
          <a:solidFill>
            <a:srgbClr val="1C45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51" name="Google Shape;151;g3e6a556f04c_0_710"/>
          <p:cNvSpPr/>
          <p:nvPr/>
        </p:nvSpPr>
        <p:spPr>
          <a:xfrm>
            <a:off x="571500" y="1619250"/>
            <a:ext cx="3810000" cy="1905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52" name="Google Shape;152;g3e6a556f04c_0_710"/>
          <p:cNvSpPr txBox="1"/>
          <p:nvPr/>
        </p:nvSpPr>
        <p:spPr>
          <a:xfrm>
            <a:off x="571500" y="1333500"/>
            <a:ext cx="3810000" cy="476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7 ENTITY TYPES</a:t>
            </a:r>
            <a:endParaRPr b="1" sz="150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e6a556f04c_0_710"/>
          <p:cNvSpPr txBox="1"/>
          <p:nvPr/>
        </p:nvSpPr>
        <p:spPr>
          <a:xfrm>
            <a:off x="762000" y="1905000"/>
            <a:ext cx="3429000" cy="2476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CROP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NUTRIENT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CLIMATE-FACTOR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AGRICULTURE-PRACTICE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HUMAN-DISEASE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SOIL-CONDITION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PLANT-DISEASE</a:t>
            </a:r>
            <a:endParaRPr sz="1500">
              <a:solidFill>
                <a:srgbClr val="1A2733"/>
              </a:solidFill>
            </a:endParaRPr>
          </a:p>
        </p:txBody>
      </p:sp>
      <p:sp>
        <p:nvSpPr>
          <p:cNvPr id="154" name="Google Shape;154;g3e6a556f04c_0_710"/>
          <p:cNvSpPr/>
          <p:nvPr/>
        </p:nvSpPr>
        <p:spPr>
          <a:xfrm>
            <a:off x="4762500" y="1333500"/>
            <a:ext cx="3810000" cy="323850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55" name="Google Shape;155;g3e6a556f04c_0_710"/>
          <p:cNvSpPr/>
          <p:nvPr/>
        </p:nvSpPr>
        <p:spPr>
          <a:xfrm>
            <a:off x="4762500" y="1333500"/>
            <a:ext cx="3810000" cy="476400"/>
          </a:xfrm>
          <a:prstGeom prst="roundRect">
            <a:avLst>
              <a:gd fmla="val 24000" name="adj"/>
            </a:avLst>
          </a:prstGeom>
          <a:solidFill>
            <a:srgbClr val="4A90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56" name="Google Shape;156;g3e6a556f04c_0_710"/>
          <p:cNvSpPr/>
          <p:nvPr/>
        </p:nvSpPr>
        <p:spPr>
          <a:xfrm>
            <a:off x="4762500" y="1619250"/>
            <a:ext cx="3810000" cy="1905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57" name="Google Shape;157;g3e6a556f04c_0_710"/>
          <p:cNvSpPr txBox="1"/>
          <p:nvPr/>
        </p:nvSpPr>
        <p:spPr>
          <a:xfrm>
            <a:off x="4762500" y="1333500"/>
            <a:ext cx="3810000" cy="476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8 RELATION TYPES</a:t>
            </a:r>
            <a:endParaRPr b="1" sz="150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e6a556f04c_0_710"/>
          <p:cNvSpPr txBox="1"/>
          <p:nvPr/>
        </p:nvSpPr>
        <p:spPr>
          <a:xfrm>
            <a:off x="4953000" y="1905000"/>
            <a:ext cx="34290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AFFECTS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HAS_NUTRIENT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CAUSES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LEADS_TO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ASSOCIATED_WITH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INCREASES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DEFICIENCY_CAUSES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REDUCES</a:t>
            </a:r>
            <a:endParaRPr sz="1500">
              <a:solidFill>
                <a:srgbClr val="1A273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6a556f04c_0_2403"/>
          <p:cNvSpPr txBox="1"/>
          <p:nvPr/>
        </p:nvSpPr>
        <p:spPr>
          <a:xfrm>
            <a:off x="304800" y="4381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Work Done: Data Processing &amp; Extraction Results</a:t>
            </a:r>
            <a:endParaRPr b="1" sz="250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e6a556f04c_0_2403"/>
          <p:cNvSpPr/>
          <p:nvPr/>
        </p:nvSpPr>
        <p:spPr>
          <a:xfrm>
            <a:off x="381000" y="1143000"/>
            <a:ext cx="4095900" cy="3429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D0E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6a556f04c_0_2403"/>
          <p:cNvSpPr/>
          <p:nvPr/>
        </p:nvSpPr>
        <p:spPr>
          <a:xfrm>
            <a:off x="381000" y="1143000"/>
            <a:ext cx="4095900" cy="428700"/>
          </a:xfrm>
          <a:prstGeom prst="roundRect">
            <a:avLst>
              <a:gd fmla="val 26666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e6a556f04c_0_2403"/>
          <p:cNvSpPr/>
          <p:nvPr/>
        </p:nvSpPr>
        <p:spPr>
          <a:xfrm>
            <a:off x="381000" y="1476375"/>
            <a:ext cx="4095900" cy="95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6a556f04c_0_2403"/>
          <p:cNvSpPr txBox="1"/>
          <p:nvPr/>
        </p:nvSpPr>
        <p:spPr>
          <a:xfrm>
            <a:off x="381000" y="1143000"/>
            <a:ext cx="4095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KNOWLEDGE GRAPH GROWTH</a:t>
            </a:r>
            <a:endParaRPr b="1" sz="120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g3e6a556f04c_0_2403"/>
          <p:cNvGrpSpPr/>
          <p:nvPr/>
        </p:nvGrpSpPr>
        <p:grpSpPr>
          <a:xfrm>
            <a:off x="381000" y="1571625"/>
            <a:ext cx="4095900" cy="333300"/>
            <a:chOff x="0" y="0"/>
            <a:chExt cx="4095900" cy="333300"/>
          </a:xfrm>
        </p:grpSpPr>
        <p:sp>
          <p:nvSpPr>
            <p:cNvPr id="168" name="Google Shape;168;g3e6a556f04c_0_2403"/>
            <p:cNvSpPr/>
            <p:nvPr/>
          </p:nvSpPr>
          <p:spPr>
            <a:xfrm>
              <a:off x="0" y="0"/>
              <a:ext cx="40959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g3e6a556f04c_0_2403"/>
            <p:cNvSpPr txBox="1"/>
            <p:nvPr/>
          </p:nvSpPr>
          <p:spPr>
            <a:xfrm>
              <a:off x="142875" y="0"/>
              <a:ext cx="1143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Checkpoint</a:t>
              </a:r>
              <a:endParaRPr b="1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g3e6a556f04c_0_2403"/>
            <p:cNvSpPr txBox="1"/>
            <p:nvPr/>
          </p:nvSpPr>
          <p:spPr>
            <a:xfrm>
              <a:off x="1381125" y="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Nodes</a:t>
              </a:r>
              <a:endParaRPr b="1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e6a556f04c_0_2403"/>
            <p:cNvSpPr txBox="1"/>
            <p:nvPr/>
          </p:nvSpPr>
          <p:spPr>
            <a:xfrm>
              <a:off x="2238375" y="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Edges</a:t>
              </a:r>
              <a:endParaRPr b="1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3e6a556f04c_0_2403"/>
            <p:cNvSpPr txBox="1"/>
            <p:nvPr/>
          </p:nvSpPr>
          <p:spPr>
            <a:xfrm>
              <a:off x="3095625" y="0"/>
              <a:ext cx="857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Paths</a:t>
              </a:r>
              <a:endParaRPr b="1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g3e6a556f04c_0_2403"/>
          <p:cNvGrpSpPr/>
          <p:nvPr/>
        </p:nvGrpSpPr>
        <p:grpSpPr>
          <a:xfrm>
            <a:off x="381000" y="1905000"/>
            <a:ext cx="4095900" cy="333300"/>
            <a:chOff x="0" y="0"/>
            <a:chExt cx="4095900" cy="333300"/>
          </a:xfrm>
        </p:grpSpPr>
        <p:sp>
          <p:nvSpPr>
            <p:cNvPr id="174" name="Google Shape;174;g3e6a556f04c_0_2403"/>
            <p:cNvSpPr/>
            <p:nvPr/>
          </p:nvSpPr>
          <p:spPr>
            <a:xfrm>
              <a:off x="0" y="0"/>
              <a:ext cx="40959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g3e6a556f04c_0_2403"/>
            <p:cNvSpPr txBox="1"/>
            <p:nvPr/>
          </p:nvSpPr>
          <p:spPr>
            <a:xfrm>
              <a:off x="142875" y="0"/>
              <a:ext cx="1143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After PDF 1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3e6a556f04c_0_2403"/>
            <p:cNvSpPr txBox="1"/>
            <p:nvPr/>
          </p:nvSpPr>
          <p:spPr>
            <a:xfrm>
              <a:off x="1381125" y="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52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3e6a556f04c_0_2403"/>
            <p:cNvSpPr txBox="1"/>
            <p:nvPr/>
          </p:nvSpPr>
          <p:spPr>
            <a:xfrm>
              <a:off x="2238375" y="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92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3e6a556f04c_0_2403"/>
            <p:cNvSpPr txBox="1"/>
            <p:nvPr/>
          </p:nvSpPr>
          <p:spPr>
            <a:xfrm>
              <a:off x="3095625" y="0"/>
              <a:ext cx="857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g3e6a556f04c_0_2403"/>
          <p:cNvGrpSpPr/>
          <p:nvPr/>
        </p:nvGrpSpPr>
        <p:grpSpPr>
          <a:xfrm>
            <a:off x="381000" y="2238375"/>
            <a:ext cx="4095900" cy="333300"/>
            <a:chOff x="0" y="0"/>
            <a:chExt cx="4095900" cy="333300"/>
          </a:xfrm>
        </p:grpSpPr>
        <p:sp>
          <p:nvSpPr>
            <p:cNvPr id="180" name="Google Shape;180;g3e6a556f04c_0_2403"/>
            <p:cNvSpPr/>
            <p:nvPr/>
          </p:nvSpPr>
          <p:spPr>
            <a:xfrm>
              <a:off x="0" y="0"/>
              <a:ext cx="40959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g3e6a556f04c_0_2403"/>
            <p:cNvSpPr txBox="1"/>
            <p:nvPr/>
          </p:nvSpPr>
          <p:spPr>
            <a:xfrm>
              <a:off x="142875" y="0"/>
              <a:ext cx="1143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After PDF 2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e6a556f04c_0_2403"/>
            <p:cNvSpPr txBox="1"/>
            <p:nvPr/>
          </p:nvSpPr>
          <p:spPr>
            <a:xfrm>
              <a:off x="1381125" y="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93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3e6a556f04c_0_2403"/>
            <p:cNvSpPr txBox="1"/>
            <p:nvPr/>
          </p:nvSpPr>
          <p:spPr>
            <a:xfrm>
              <a:off x="2238375" y="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168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3e6a556f04c_0_2403"/>
            <p:cNvSpPr txBox="1"/>
            <p:nvPr/>
          </p:nvSpPr>
          <p:spPr>
            <a:xfrm>
              <a:off x="3095625" y="0"/>
              <a:ext cx="857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27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g3e6a556f04c_0_2403"/>
          <p:cNvGrpSpPr/>
          <p:nvPr/>
        </p:nvGrpSpPr>
        <p:grpSpPr>
          <a:xfrm>
            <a:off x="381000" y="2571750"/>
            <a:ext cx="4095900" cy="333300"/>
            <a:chOff x="0" y="0"/>
            <a:chExt cx="4095900" cy="333300"/>
          </a:xfrm>
        </p:grpSpPr>
        <p:sp>
          <p:nvSpPr>
            <p:cNvPr id="186" name="Google Shape;186;g3e6a556f04c_0_2403"/>
            <p:cNvSpPr/>
            <p:nvPr/>
          </p:nvSpPr>
          <p:spPr>
            <a:xfrm>
              <a:off x="0" y="0"/>
              <a:ext cx="40959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g3e6a556f04c_0_2403"/>
            <p:cNvSpPr txBox="1"/>
            <p:nvPr/>
          </p:nvSpPr>
          <p:spPr>
            <a:xfrm>
              <a:off x="142875" y="0"/>
              <a:ext cx="1143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After PDF 3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3e6a556f04c_0_2403"/>
            <p:cNvSpPr txBox="1"/>
            <p:nvPr/>
          </p:nvSpPr>
          <p:spPr>
            <a:xfrm>
              <a:off x="1381125" y="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151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g3e6a556f04c_0_2403"/>
            <p:cNvSpPr txBox="1"/>
            <p:nvPr/>
          </p:nvSpPr>
          <p:spPr>
            <a:xfrm>
              <a:off x="2238375" y="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292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3e6a556f04c_0_2403"/>
            <p:cNvSpPr txBox="1"/>
            <p:nvPr/>
          </p:nvSpPr>
          <p:spPr>
            <a:xfrm>
              <a:off x="3095625" y="0"/>
              <a:ext cx="857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607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g3e6a556f04c_0_2403"/>
          <p:cNvGrpSpPr/>
          <p:nvPr/>
        </p:nvGrpSpPr>
        <p:grpSpPr>
          <a:xfrm>
            <a:off x="381000" y="2905125"/>
            <a:ext cx="4095900" cy="333300"/>
            <a:chOff x="0" y="0"/>
            <a:chExt cx="4095900" cy="333300"/>
          </a:xfrm>
        </p:grpSpPr>
        <p:sp>
          <p:nvSpPr>
            <p:cNvPr id="192" name="Google Shape;192;g3e6a556f04c_0_2403"/>
            <p:cNvSpPr/>
            <p:nvPr/>
          </p:nvSpPr>
          <p:spPr>
            <a:xfrm>
              <a:off x="0" y="0"/>
              <a:ext cx="40959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g3e6a556f04c_0_2403"/>
            <p:cNvSpPr txBox="1"/>
            <p:nvPr/>
          </p:nvSpPr>
          <p:spPr>
            <a:xfrm>
              <a:off x="142875" y="0"/>
              <a:ext cx="1143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After PDF 4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3e6a556f04c_0_2403"/>
            <p:cNvSpPr txBox="1"/>
            <p:nvPr/>
          </p:nvSpPr>
          <p:spPr>
            <a:xfrm>
              <a:off x="1381125" y="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189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3e6a556f04c_0_2403"/>
            <p:cNvSpPr txBox="1"/>
            <p:nvPr/>
          </p:nvSpPr>
          <p:spPr>
            <a:xfrm>
              <a:off x="2238375" y="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358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e6a556f04c_0_2403"/>
            <p:cNvSpPr txBox="1"/>
            <p:nvPr/>
          </p:nvSpPr>
          <p:spPr>
            <a:xfrm>
              <a:off x="3095625" y="0"/>
              <a:ext cx="857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1077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" name="Google Shape;197;g3e6a556f04c_0_2403"/>
          <p:cNvGrpSpPr/>
          <p:nvPr/>
        </p:nvGrpSpPr>
        <p:grpSpPr>
          <a:xfrm>
            <a:off x="381000" y="3238500"/>
            <a:ext cx="4095900" cy="333300"/>
            <a:chOff x="0" y="0"/>
            <a:chExt cx="4095900" cy="333300"/>
          </a:xfrm>
        </p:grpSpPr>
        <p:sp>
          <p:nvSpPr>
            <p:cNvPr id="198" name="Google Shape;198;g3e6a556f04c_0_2403"/>
            <p:cNvSpPr/>
            <p:nvPr/>
          </p:nvSpPr>
          <p:spPr>
            <a:xfrm>
              <a:off x="0" y="0"/>
              <a:ext cx="40959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g3e6a556f04c_0_2403"/>
            <p:cNvSpPr txBox="1"/>
            <p:nvPr/>
          </p:nvSpPr>
          <p:spPr>
            <a:xfrm>
              <a:off x="142875" y="0"/>
              <a:ext cx="1143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After PDF 5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3e6a556f04c_0_2403"/>
            <p:cNvSpPr txBox="1"/>
            <p:nvPr/>
          </p:nvSpPr>
          <p:spPr>
            <a:xfrm>
              <a:off x="1381125" y="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211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g3e6a556f04c_0_2403"/>
            <p:cNvSpPr txBox="1"/>
            <p:nvPr/>
          </p:nvSpPr>
          <p:spPr>
            <a:xfrm>
              <a:off x="2238375" y="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412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g3e6a556f04c_0_2403"/>
            <p:cNvSpPr txBox="1"/>
            <p:nvPr/>
          </p:nvSpPr>
          <p:spPr>
            <a:xfrm>
              <a:off x="3095625" y="0"/>
              <a:ext cx="857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1141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g3e6a556f04c_0_2403"/>
          <p:cNvSpPr/>
          <p:nvPr/>
        </p:nvSpPr>
        <p:spPr>
          <a:xfrm>
            <a:off x="4667250" y="1143000"/>
            <a:ext cx="4095900" cy="3429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D0E4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e6a556f04c_0_2403"/>
          <p:cNvSpPr/>
          <p:nvPr/>
        </p:nvSpPr>
        <p:spPr>
          <a:xfrm>
            <a:off x="4667250" y="1143000"/>
            <a:ext cx="4095900" cy="428700"/>
          </a:xfrm>
          <a:prstGeom prst="roundRect">
            <a:avLst>
              <a:gd fmla="val 26666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6a556f04c_0_2403"/>
          <p:cNvSpPr/>
          <p:nvPr/>
        </p:nvSpPr>
        <p:spPr>
          <a:xfrm>
            <a:off x="4667250" y="1476375"/>
            <a:ext cx="4095900" cy="95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e6a556f04c_0_2403"/>
          <p:cNvSpPr txBox="1"/>
          <p:nvPr/>
        </p:nvSpPr>
        <p:spPr>
          <a:xfrm>
            <a:off x="4667250" y="1143000"/>
            <a:ext cx="4095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EXTRACTION VALIDATION METRICS</a:t>
            </a:r>
            <a:endParaRPr b="1" sz="120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g3e6a556f04c_0_2403"/>
          <p:cNvGrpSpPr/>
          <p:nvPr/>
        </p:nvGrpSpPr>
        <p:grpSpPr>
          <a:xfrm>
            <a:off x="4667250" y="1571625"/>
            <a:ext cx="4095900" cy="333300"/>
            <a:chOff x="0" y="0"/>
            <a:chExt cx="4095900" cy="333300"/>
          </a:xfrm>
        </p:grpSpPr>
        <p:sp>
          <p:nvSpPr>
            <p:cNvPr id="208" name="Google Shape;208;g3e6a556f04c_0_2403"/>
            <p:cNvSpPr/>
            <p:nvPr/>
          </p:nvSpPr>
          <p:spPr>
            <a:xfrm>
              <a:off x="0" y="0"/>
              <a:ext cx="40959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g3e6a556f04c_0_2403"/>
            <p:cNvSpPr txBox="1"/>
            <p:nvPr/>
          </p:nvSpPr>
          <p:spPr>
            <a:xfrm>
              <a:off x="95250" y="0"/>
              <a:ext cx="16191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Source Paper</a:t>
              </a:r>
              <a:endParaRPr b="1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3e6a556f04c_0_2403"/>
            <p:cNvSpPr txBox="1"/>
            <p:nvPr/>
          </p:nvSpPr>
          <p:spPr>
            <a:xfrm>
              <a:off x="1762125" y="0"/>
              <a:ext cx="666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Raw</a:t>
              </a:r>
              <a:endParaRPr b="1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g3e6a556f04c_0_2403"/>
            <p:cNvSpPr txBox="1"/>
            <p:nvPr/>
          </p:nvSpPr>
          <p:spPr>
            <a:xfrm>
              <a:off x="2476500" y="0"/>
              <a:ext cx="7143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Valid</a:t>
              </a:r>
              <a:endParaRPr b="1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g3e6a556f04c_0_2403"/>
            <p:cNvSpPr txBox="1"/>
            <p:nvPr/>
          </p:nvSpPr>
          <p:spPr>
            <a:xfrm>
              <a:off x="3238500" y="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Rate</a:t>
              </a:r>
              <a:endParaRPr b="1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g3e6a556f04c_0_2403"/>
          <p:cNvGrpSpPr/>
          <p:nvPr/>
        </p:nvGrpSpPr>
        <p:grpSpPr>
          <a:xfrm>
            <a:off x="4667250" y="1905000"/>
            <a:ext cx="4095900" cy="381000"/>
            <a:chOff x="0" y="0"/>
            <a:chExt cx="4095900" cy="381000"/>
          </a:xfrm>
        </p:grpSpPr>
        <p:sp>
          <p:nvSpPr>
            <p:cNvPr id="214" name="Google Shape;214;g3e6a556f04c_0_2403"/>
            <p:cNvSpPr/>
            <p:nvPr/>
          </p:nvSpPr>
          <p:spPr>
            <a:xfrm>
              <a:off x="0" y="0"/>
              <a:ext cx="4095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g3e6a556f04c_0_2403"/>
            <p:cNvSpPr txBox="1"/>
            <p:nvPr/>
          </p:nvSpPr>
          <p:spPr>
            <a:xfrm>
              <a:off x="95250" y="0"/>
              <a:ext cx="161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Crop Health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3e6a556f04c_0_2403"/>
            <p:cNvSpPr txBox="1"/>
            <p:nvPr/>
          </p:nvSpPr>
          <p:spPr>
            <a:xfrm>
              <a:off x="1762125" y="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64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3e6a556f04c_0_2403"/>
            <p:cNvSpPr txBox="1"/>
            <p:nvPr/>
          </p:nvSpPr>
          <p:spPr>
            <a:xfrm>
              <a:off x="2476500" y="0"/>
              <a:ext cx="714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46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3e6a556f04c_0_2403"/>
            <p:cNvSpPr txBox="1"/>
            <p:nvPr/>
          </p:nvSpPr>
          <p:spPr>
            <a:xfrm>
              <a:off x="3238500" y="0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E7D32"/>
                  </a:solidFill>
                  <a:latin typeface="Arial"/>
                  <a:ea typeface="Arial"/>
                  <a:cs typeface="Arial"/>
                  <a:sym typeface="Arial"/>
                </a:rPr>
                <a:t>72%</a:t>
              </a:r>
              <a:endParaRPr b="1" sz="110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g3e6a556f04c_0_2403"/>
          <p:cNvGrpSpPr/>
          <p:nvPr/>
        </p:nvGrpSpPr>
        <p:grpSpPr>
          <a:xfrm>
            <a:off x="4667250" y="2286000"/>
            <a:ext cx="4095900" cy="381000"/>
            <a:chOff x="0" y="0"/>
            <a:chExt cx="4095900" cy="381000"/>
          </a:xfrm>
        </p:grpSpPr>
        <p:sp>
          <p:nvSpPr>
            <p:cNvPr id="220" name="Google Shape;220;g3e6a556f04c_0_2403"/>
            <p:cNvSpPr/>
            <p:nvPr/>
          </p:nvSpPr>
          <p:spPr>
            <a:xfrm>
              <a:off x="0" y="0"/>
              <a:ext cx="4095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g3e6a556f04c_0_2403"/>
            <p:cNvSpPr txBox="1"/>
            <p:nvPr/>
          </p:nvSpPr>
          <p:spPr>
            <a:xfrm>
              <a:off x="95250" y="0"/>
              <a:ext cx="161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Soil Health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3e6a556f04c_0_2403"/>
            <p:cNvSpPr txBox="1"/>
            <p:nvPr/>
          </p:nvSpPr>
          <p:spPr>
            <a:xfrm>
              <a:off x="1762125" y="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69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3e6a556f04c_0_2403"/>
            <p:cNvSpPr txBox="1"/>
            <p:nvPr/>
          </p:nvSpPr>
          <p:spPr>
            <a:xfrm>
              <a:off x="2476500" y="0"/>
              <a:ext cx="714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39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3e6a556f04c_0_2403"/>
            <p:cNvSpPr txBox="1"/>
            <p:nvPr/>
          </p:nvSpPr>
          <p:spPr>
            <a:xfrm>
              <a:off x="3238500" y="0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84315"/>
                  </a:solidFill>
                  <a:latin typeface="Arial"/>
                  <a:ea typeface="Arial"/>
                  <a:cs typeface="Arial"/>
                  <a:sym typeface="Arial"/>
                </a:rPr>
                <a:t>57%</a:t>
              </a:r>
              <a:endParaRPr b="1" sz="1100">
                <a:solidFill>
                  <a:srgbClr val="D843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g3e6a556f04c_0_2403"/>
          <p:cNvGrpSpPr/>
          <p:nvPr/>
        </p:nvGrpSpPr>
        <p:grpSpPr>
          <a:xfrm>
            <a:off x="4667250" y="2667000"/>
            <a:ext cx="4095900" cy="381000"/>
            <a:chOff x="0" y="0"/>
            <a:chExt cx="4095900" cy="381000"/>
          </a:xfrm>
        </p:grpSpPr>
        <p:sp>
          <p:nvSpPr>
            <p:cNvPr id="226" name="Google Shape;226;g3e6a556f04c_0_2403"/>
            <p:cNvSpPr/>
            <p:nvPr/>
          </p:nvSpPr>
          <p:spPr>
            <a:xfrm>
              <a:off x="0" y="0"/>
              <a:ext cx="4095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g3e6a556f04c_0_2403"/>
            <p:cNvSpPr txBox="1"/>
            <p:nvPr/>
          </p:nvSpPr>
          <p:spPr>
            <a:xfrm>
              <a:off x="95250" y="0"/>
              <a:ext cx="161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Organic Agriculture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3e6a556f04c_0_2403"/>
            <p:cNvSpPr txBox="1"/>
            <p:nvPr/>
          </p:nvSpPr>
          <p:spPr>
            <a:xfrm>
              <a:off x="1762125" y="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68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3e6a556f04c_0_2403"/>
            <p:cNvSpPr txBox="1"/>
            <p:nvPr/>
          </p:nvSpPr>
          <p:spPr>
            <a:xfrm>
              <a:off x="2476500" y="0"/>
              <a:ext cx="714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65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e6a556f04c_0_2403"/>
            <p:cNvSpPr txBox="1"/>
            <p:nvPr/>
          </p:nvSpPr>
          <p:spPr>
            <a:xfrm>
              <a:off x="3238500" y="0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E7D32"/>
                  </a:solidFill>
                  <a:latin typeface="Arial"/>
                  <a:ea typeface="Arial"/>
                  <a:cs typeface="Arial"/>
                  <a:sym typeface="Arial"/>
                </a:rPr>
                <a:t>96%</a:t>
              </a:r>
              <a:endParaRPr b="1" sz="110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g3e6a556f04c_0_2403"/>
          <p:cNvGrpSpPr/>
          <p:nvPr/>
        </p:nvGrpSpPr>
        <p:grpSpPr>
          <a:xfrm>
            <a:off x="4667250" y="3048000"/>
            <a:ext cx="4095900" cy="381000"/>
            <a:chOff x="0" y="0"/>
            <a:chExt cx="4095900" cy="381000"/>
          </a:xfrm>
        </p:grpSpPr>
        <p:sp>
          <p:nvSpPr>
            <p:cNvPr id="232" name="Google Shape;232;g3e6a556f04c_0_2403"/>
            <p:cNvSpPr/>
            <p:nvPr/>
          </p:nvSpPr>
          <p:spPr>
            <a:xfrm>
              <a:off x="0" y="0"/>
              <a:ext cx="4095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g3e6a556f04c_0_2403"/>
            <p:cNvSpPr txBox="1"/>
            <p:nvPr/>
          </p:nvSpPr>
          <p:spPr>
            <a:xfrm>
              <a:off x="95250" y="0"/>
              <a:ext cx="161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Agriculture &amp; Health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3e6a556f04c_0_2403"/>
            <p:cNvSpPr txBox="1"/>
            <p:nvPr/>
          </p:nvSpPr>
          <p:spPr>
            <a:xfrm>
              <a:off x="1762125" y="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63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3e6a556f04c_0_2403"/>
            <p:cNvSpPr txBox="1"/>
            <p:nvPr/>
          </p:nvSpPr>
          <p:spPr>
            <a:xfrm>
              <a:off x="2476500" y="0"/>
              <a:ext cx="714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36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3e6a556f04c_0_2403"/>
            <p:cNvSpPr txBox="1"/>
            <p:nvPr/>
          </p:nvSpPr>
          <p:spPr>
            <a:xfrm>
              <a:off x="3238500" y="0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84315"/>
                  </a:solidFill>
                  <a:latin typeface="Arial"/>
                  <a:ea typeface="Arial"/>
                  <a:cs typeface="Arial"/>
                  <a:sym typeface="Arial"/>
                </a:rPr>
                <a:t>57%</a:t>
              </a:r>
              <a:endParaRPr b="1" sz="1100">
                <a:solidFill>
                  <a:srgbClr val="D843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" name="Google Shape;237;g3e6a556f04c_0_2403"/>
          <p:cNvGrpSpPr/>
          <p:nvPr/>
        </p:nvGrpSpPr>
        <p:grpSpPr>
          <a:xfrm>
            <a:off x="4667250" y="3429000"/>
            <a:ext cx="4095900" cy="381000"/>
            <a:chOff x="0" y="0"/>
            <a:chExt cx="4095900" cy="381000"/>
          </a:xfrm>
        </p:grpSpPr>
        <p:sp>
          <p:nvSpPr>
            <p:cNvPr id="238" name="Google Shape;238;g3e6a556f04c_0_2403"/>
            <p:cNvSpPr/>
            <p:nvPr/>
          </p:nvSpPr>
          <p:spPr>
            <a:xfrm>
              <a:off x="0" y="0"/>
              <a:ext cx="4095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g3e6a556f04c_0_2403"/>
            <p:cNvSpPr txBox="1"/>
            <p:nvPr/>
          </p:nvSpPr>
          <p:spPr>
            <a:xfrm>
              <a:off x="95250" y="0"/>
              <a:ext cx="161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Rice False Smut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3e6a556f04c_0_2403"/>
            <p:cNvSpPr txBox="1"/>
            <p:nvPr/>
          </p:nvSpPr>
          <p:spPr>
            <a:xfrm>
              <a:off x="1762125" y="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55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3e6a556f04c_0_2403"/>
            <p:cNvSpPr txBox="1"/>
            <p:nvPr/>
          </p:nvSpPr>
          <p:spPr>
            <a:xfrm>
              <a:off x="2476500" y="0"/>
              <a:ext cx="714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27</a:t>
              </a:r>
              <a:endParaRPr b="0" sz="1100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g3e6a556f04c_0_2403"/>
            <p:cNvSpPr txBox="1"/>
            <p:nvPr/>
          </p:nvSpPr>
          <p:spPr>
            <a:xfrm>
              <a:off x="3238500" y="0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84315"/>
                  </a:solidFill>
                  <a:latin typeface="Arial"/>
                  <a:ea typeface="Arial"/>
                  <a:cs typeface="Arial"/>
                  <a:sym typeface="Arial"/>
                </a:rPr>
                <a:t>49%</a:t>
              </a:r>
              <a:endParaRPr b="1" sz="1100">
                <a:solidFill>
                  <a:srgbClr val="D843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g3e6a556f04c_0_2403"/>
          <p:cNvGrpSpPr/>
          <p:nvPr/>
        </p:nvGrpSpPr>
        <p:grpSpPr>
          <a:xfrm>
            <a:off x="4667250" y="3810000"/>
            <a:ext cx="4095900" cy="381000"/>
            <a:chOff x="0" y="0"/>
            <a:chExt cx="4095900" cy="381000"/>
          </a:xfrm>
        </p:grpSpPr>
        <p:sp>
          <p:nvSpPr>
            <p:cNvPr id="244" name="Google Shape;244;g3e6a556f04c_0_2403"/>
            <p:cNvSpPr/>
            <p:nvPr/>
          </p:nvSpPr>
          <p:spPr>
            <a:xfrm>
              <a:off x="0" y="0"/>
              <a:ext cx="4095900" cy="381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g3e6a556f04c_0_2403"/>
            <p:cNvSpPr txBox="1"/>
            <p:nvPr/>
          </p:nvSpPr>
          <p:spPr>
            <a:xfrm>
              <a:off x="95250" y="0"/>
              <a:ext cx="161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Total</a:t>
              </a:r>
              <a:endParaRPr b="1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e6a556f04c_0_2403"/>
            <p:cNvSpPr txBox="1"/>
            <p:nvPr/>
          </p:nvSpPr>
          <p:spPr>
            <a:xfrm>
              <a:off x="1762125" y="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319</a:t>
              </a:r>
              <a:endParaRPr b="1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e6a556f04c_0_2403"/>
            <p:cNvSpPr txBox="1"/>
            <p:nvPr/>
          </p:nvSpPr>
          <p:spPr>
            <a:xfrm>
              <a:off x="2476500" y="0"/>
              <a:ext cx="714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213</a:t>
              </a:r>
              <a:endParaRPr b="1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e6a556f04c_0_2403"/>
            <p:cNvSpPr txBox="1"/>
            <p:nvPr/>
          </p:nvSpPr>
          <p:spPr>
            <a:xfrm>
              <a:off x="3238500" y="0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67%</a:t>
              </a:r>
              <a:endParaRPr b="1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6a556f04c_0_25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16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Work Done</a:t>
            </a:r>
            <a:r>
              <a:rPr b="1" lang="en" sz="2516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: Snapshot</a:t>
            </a:r>
            <a:endParaRPr b="1" sz="2516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g3e6a556f04c_0_25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4213" y="1017725"/>
            <a:ext cx="6455577" cy="397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6a556f04c_0_1088"/>
          <p:cNvSpPr txBox="1"/>
          <p:nvPr>
            <p:ph type="title"/>
          </p:nvPr>
        </p:nvSpPr>
        <p:spPr>
          <a:xfrm>
            <a:off x="311700" y="2857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Work Done: </a:t>
            </a:r>
            <a:r>
              <a:rPr b="1" lang="en" sz="28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Master Knowledge Graph Statistics</a:t>
            </a:r>
            <a:endParaRPr b="1" sz="280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" name="Google Shape;260;g3e6a556f04c_0_1088"/>
          <p:cNvGrpSpPr/>
          <p:nvPr/>
        </p:nvGrpSpPr>
        <p:grpSpPr>
          <a:xfrm>
            <a:off x="381000" y="2095500"/>
            <a:ext cx="8382000" cy="2857500"/>
            <a:chOff x="381000" y="2095500"/>
            <a:chExt cx="8382000" cy="2857500"/>
          </a:xfrm>
        </p:grpSpPr>
        <p:sp>
          <p:nvSpPr>
            <p:cNvPr id="261" name="Google Shape;261;g3e6a556f04c_0_1088"/>
            <p:cNvSpPr/>
            <p:nvPr/>
          </p:nvSpPr>
          <p:spPr>
            <a:xfrm>
              <a:off x="381000" y="2095500"/>
              <a:ext cx="83820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g3e6a556f04c_0_1088"/>
            <p:cNvSpPr/>
            <p:nvPr/>
          </p:nvSpPr>
          <p:spPr>
            <a:xfrm>
              <a:off x="381000" y="2095500"/>
              <a:ext cx="8382000" cy="381000"/>
            </a:xfrm>
            <a:prstGeom prst="roundRect">
              <a:avLst>
                <a:gd fmla="val 30000" name="adj"/>
              </a:avLst>
            </a:prstGeom>
            <a:solidFill>
              <a:srgbClr val="4A90E2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g3e6a556f04c_0_1088"/>
            <p:cNvSpPr/>
            <p:nvPr/>
          </p:nvSpPr>
          <p:spPr>
            <a:xfrm>
              <a:off x="381000" y="2286000"/>
              <a:ext cx="8382000" cy="190500"/>
            </a:xfrm>
            <a:prstGeom prst="rect">
              <a:avLst/>
            </a:prstGeom>
            <a:solidFill>
              <a:srgbClr val="4A90E2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g3e6a556f04c_0_1088"/>
            <p:cNvSpPr txBox="1"/>
            <p:nvPr/>
          </p:nvSpPr>
          <p:spPr>
            <a:xfrm>
              <a:off x="381000" y="2095500"/>
              <a:ext cx="8382000" cy="381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73763"/>
                  </a:solidFill>
                  <a:latin typeface="Arial"/>
                  <a:ea typeface="Arial"/>
                  <a:cs typeface="Arial"/>
                  <a:sym typeface="Arial"/>
                </a:rPr>
                <a:t>PATHS TO KEY DISEASE TARGETS</a:t>
              </a:r>
              <a:endParaRPr b="1" sz="120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5" name="Google Shape;265;g3e6a556f04c_0_1088"/>
            <p:cNvCxnSpPr/>
            <p:nvPr/>
          </p:nvCxnSpPr>
          <p:spPr>
            <a:xfrm>
              <a:off x="2857500" y="2619375"/>
              <a:ext cx="0" cy="19527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66" name="Google Shape;266;g3e6a556f04c_0_1088"/>
            <p:cNvGrpSpPr/>
            <p:nvPr/>
          </p:nvGrpSpPr>
          <p:grpSpPr>
            <a:xfrm>
              <a:off x="428625" y="2571750"/>
              <a:ext cx="2381400" cy="2000400"/>
              <a:chOff x="428625" y="2571750"/>
              <a:chExt cx="2381400" cy="2000400"/>
            </a:xfrm>
          </p:grpSpPr>
          <p:sp>
            <p:nvSpPr>
              <p:cNvPr id="267" name="Google Shape;267;g3e6a556f04c_0_1088"/>
              <p:cNvSpPr txBox="1"/>
              <p:nvPr/>
            </p:nvSpPr>
            <p:spPr>
              <a:xfrm>
                <a:off x="428625" y="2571750"/>
                <a:ext cx="2381400" cy="2859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C4587"/>
                    </a:solidFill>
                    <a:latin typeface="Arial"/>
                    <a:ea typeface="Arial"/>
                    <a:cs typeface="Arial"/>
                    <a:sym typeface="Arial"/>
                  </a:rPr>
                  <a:t>1. Cancer (60 paths)</a:t>
                </a:r>
                <a:endParaRPr b="1" sz="10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g3e6a556f04c_0_1088"/>
              <p:cNvSpPr txBox="1"/>
              <p:nvPr/>
            </p:nvSpPr>
            <p:spPr>
              <a:xfrm>
                <a:off x="428625" y="2857500"/>
                <a:ext cx="2381400" cy="2859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C4587"/>
                    </a:solidFill>
                    <a:latin typeface="Arial"/>
                    <a:ea typeface="Arial"/>
                    <a:cs typeface="Arial"/>
                    <a:sym typeface="Arial"/>
                  </a:rPr>
                  <a:t>2. Cardiovascular Disease (42 paths)</a:t>
                </a:r>
                <a:endParaRPr b="1" sz="10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g3e6a556f04c_0_1088"/>
              <p:cNvSpPr txBox="1"/>
              <p:nvPr/>
            </p:nvSpPr>
            <p:spPr>
              <a:xfrm>
                <a:off x="428625" y="3143250"/>
                <a:ext cx="2381400" cy="2859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C4587"/>
                    </a:solidFill>
                    <a:latin typeface="Arial"/>
                    <a:ea typeface="Arial"/>
                    <a:cs typeface="Arial"/>
                    <a:sym typeface="Arial"/>
                  </a:rPr>
                  <a:t>3. Type-2 Diabetes (42 paths)</a:t>
                </a:r>
                <a:endParaRPr b="1" sz="10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g3e6a556f04c_0_1088"/>
              <p:cNvSpPr txBox="1"/>
              <p:nvPr/>
            </p:nvSpPr>
            <p:spPr>
              <a:xfrm>
                <a:off x="428625" y="3429000"/>
                <a:ext cx="2381400" cy="2859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C4587"/>
                    </a:solidFill>
                    <a:latin typeface="Arial"/>
                    <a:ea typeface="Arial"/>
                    <a:cs typeface="Arial"/>
                    <a:sym typeface="Arial"/>
                  </a:rPr>
                  <a:t>4. Kidney Damage (28 paths)</a:t>
                </a:r>
                <a:endParaRPr b="1" sz="10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g3e6a556f04c_0_1088"/>
              <p:cNvSpPr txBox="1"/>
              <p:nvPr/>
            </p:nvSpPr>
            <p:spPr>
              <a:xfrm>
                <a:off x="428625" y="3714750"/>
                <a:ext cx="2381400" cy="2859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C4587"/>
                    </a:solidFill>
                    <a:latin typeface="Arial"/>
                    <a:ea typeface="Arial"/>
                    <a:cs typeface="Arial"/>
                    <a:sym typeface="Arial"/>
                  </a:rPr>
                  <a:t>5. Malnutrition (13 paths)</a:t>
                </a:r>
                <a:endParaRPr b="1" sz="10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g3e6a556f04c_0_1088"/>
              <p:cNvSpPr txBox="1"/>
              <p:nvPr/>
            </p:nvSpPr>
            <p:spPr>
              <a:xfrm>
                <a:off x="428625" y="4000500"/>
                <a:ext cx="2381400" cy="2859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C4587"/>
                    </a:solidFill>
                    <a:latin typeface="Arial"/>
                    <a:ea typeface="Arial"/>
                    <a:cs typeface="Arial"/>
                    <a:sym typeface="Arial"/>
                  </a:rPr>
                  <a:t>6. Malaria (10 paths)</a:t>
                </a:r>
                <a:endParaRPr b="1" sz="10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g3e6a556f04c_0_1088"/>
              <p:cNvSpPr txBox="1"/>
              <p:nvPr/>
            </p:nvSpPr>
            <p:spPr>
              <a:xfrm>
                <a:off x="428625" y="4286250"/>
                <a:ext cx="2381400" cy="2859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C4587"/>
                    </a:solidFill>
                    <a:latin typeface="Arial"/>
                    <a:ea typeface="Arial"/>
                    <a:cs typeface="Arial"/>
                    <a:sym typeface="Arial"/>
                  </a:rPr>
                  <a:t>7. Anemia (5 paths)</a:t>
                </a:r>
                <a:endParaRPr b="1" sz="10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4" name="Google Shape;274;g3e6a556f04c_0_1088"/>
            <p:cNvGrpSpPr/>
            <p:nvPr/>
          </p:nvGrpSpPr>
          <p:grpSpPr>
            <a:xfrm>
              <a:off x="2857500" y="2619375"/>
              <a:ext cx="4898400" cy="1905000"/>
              <a:chOff x="2857500" y="2619375"/>
              <a:chExt cx="4898400" cy="1905000"/>
            </a:xfrm>
          </p:grpSpPr>
          <p:sp>
            <p:nvSpPr>
              <p:cNvPr id="275" name="Google Shape;275;g3e6a556f04c_0_1088"/>
              <p:cNvSpPr/>
              <p:nvPr/>
            </p:nvSpPr>
            <p:spPr>
              <a:xfrm>
                <a:off x="2857500" y="2619375"/>
                <a:ext cx="4898400" cy="190500"/>
              </a:xfrm>
              <a:prstGeom prst="roundRect">
                <a:avLst>
                  <a:gd fmla="val 10000" name="adj"/>
                </a:avLst>
              </a:prstGeom>
              <a:solidFill>
                <a:srgbClr val="7F1D1D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g3e6a556f04c_0_1088"/>
              <p:cNvSpPr/>
              <p:nvPr/>
            </p:nvSpPr>
            <p:spPr>
              <a:xfrm>
                <a:off x="2857500" y="2905125"/>
                <a:ext cx="3429000" cy="190500"/>
              </a:xfrm>
              <a:prstGeom prst="roundRect">
                <a:avLst>
                  <a:gd fmla="val 10000" name="adj"/>
                </a:avLst>
              </a:prstGeom>
              <a:solidFill>
                <a:srgbClr val="EF4444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g3e6a556f04c_0_1088"/>
              <p:cNvSpPr/>
              <p:nvPr/>
            </p:nvSpPr>
            <p:spPr>
              <a:xfrm>
                <a:off x="2857500" y="3190875"/>
                <a:ext cx="3429000" cy="190500"/>
              </a:xfrm>
              <a:prstGeom prst="roundRect">
                <a:avLst>
                  <a:gd fmla="val 10000" name="adj"/>
                </a:avLst>
              </a:prstGeom>
              <a:solidFill>
                <a:srgbClr val="F97316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g3e6a556f04c_0_1088"/>
              <p:cNvSpPr/>
              <p:nvPr/>
            </p:nvSpPr>
            <p:spPr>
              <a:xfrm>
                <a:off x="2857500" y="3476625"/>
                <a:ext cx="2286000" cy="190500"/>
              </a:xfrm>
              <a:prstGeom prst="roundRect">
                <a:avLst>
                  <a:gd fmla="val 10000" name="adj"/>
                </a:avLst>
              </a:prstGeom>
              <a:solidFill>
                <a:srgbClr val="64748B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g3e6a556f04c_0_1088"/>
              <p:cNvSpPr/>
              <p:nvPr/>
            </p:nvSpPr>
            <p:spPr>
              <a:xfrm>
                <a:off x="2857500" y="3762375"/>
                <a:ext cx="1061400" cy="190500"/>
              </a:xfrm>
              <a:prstGeom prst="roundRect">
                <a:avLst>
                  <a:gd fmla="val 10000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g3e6a556f04c_0_1088"/>
              <p:cNvSpPr/>
              <p:nvPr/>
            </p:nvSpPr>
            <p:spPr>
              <a:xfrm>
                <a:off x="2857500" y="4048125"/>
                <a:ext cx="816300" cy="190500"/>
              </a:xfrm>
              <a:prstGeom prst="roundRect">
                <a:avLst>
                  <a:gd fmla="val 10000" name="adj"/>
                </a:avLst>
              </a:prstGeom>
              <a:solidFill>
                <a:srgbClr val="22C55E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g3e6a556f04c_0_1088"/>
              <p:cNvSpPr/>
              <p:nvPr/>
            </p:nvSpPr>
            <p:spPr>
              <a:xfrm>
                <a:off x="2857500" y="4333875"/>
                <a:ext cx="408000" cy="190500"/>
              </a:xfrm>
              <a:prstGeom prst="roundRect">
                <a:avLst>
                  <a:gd fmla="val 10000" name="adj"/>
                </a:avLst>
              </a:prstGeom>
              <a:solidFill>
                <a:srgbClr val="EAB308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2" name="Google Shape;282;g3e6a556f04c_0_1088"/>
            <p:cNvGrpSpPr/>
            <p:nvPr/>
          </p:nvGrpSpPr>
          <p:grpSpPr>
            <a:xfrm>
              <a:off x="2762250" y="4572000"/>
              <a:ext cx="5905500" cy="238125"/>
              <a:chOff x="2762250" y="4572000"/>
              <a:chExt cx="5905500" cy="238125"/>
            </a:xfrm>
          </p:grpSpPr>
          <p:cxnSp>
            <p:nvCxnSpPr>
              <p:cNvPr id="283" name="Google Shape;283;g3e6a556f04c_0_1088"/>
              <p:cNvCxnSpPr/>
              <p:nvPr/>
            </p:nvCxnSpPr>
            <p:spPr>
              <a:xfrm>
                <a:off x="2857500" y="4572000"/>
                <a:ext cx="5715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4" name="Google Shape;284;g3e6a556f04c_0_1088"/>
              <p:cNvSpPr txBox="1"/>
              <p:nvPr/>
            </p:nvSpPr>
            <p:spPr>
              <a:xfrm>
                <a:off x="2762250" y="4619625"/>
                <a:ext cx="190500" cy="1905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g3e6a556f04c_0_1088"/>
              <p:cNvSpPr txBox="1"/>
              <p:nvPr/>
            </p:nvSpPr>
            <p:spPr>
              <a:xfrm>
                <a:off x="3578543" y="4619625"/>
                <a:ext cx="190500" cy="1905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g3e6a556f04c_0_1088"/>
              <p:cNvSpPr txBox="1"/>
              <p:nvPr/>
            </p:nvSpPr>
            <p:spPr>
              <a:xfrm>
                <a:off x="4394835" y="4619625"/>
                <a:ext cx="190500" cy="1905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  <a:endParaRPr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g3e6a556f04c_0_1088"/>
              <p:cNvSpPr txBox="1"/>
              <p:nvPr/>
            </p:nvSpPr>
            <p:spPr>
              <a:xfrm>
                <a:off x="5211128" y="4619625"/>
                <a:ext cx="190500" cy="1905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  <a:endParaRPr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g3e6a556f04c_0_1088"/>
              <p:cNvSpPr txBox="1"/>
              <p:nvPr/>
            </p:nvSpPr>
            <p:spPr>
              <a:xfrm>
                <a:off x="6027420" y="4619625"/>
                <a:ext cx="190500" cy="1905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  <a:endParaRPr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g3e6a556f04c_0_1088"/>
              <p:cNvSpPr txBox="1"/>
              <p:nvPr/>
            </p:nvSpPr>
            <p:spPr>
              <a:xfrm>
                <a:off x="6843713" y="4619625"/>
                <a:ext cx="190500" cy="1905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g3e6a556f04c_0_1088"/>
              <p:cNvSpPr txBox="1"/>
              <p:nvPr/>
            </p:nvSpPr>
            <p:spPr>
              <a:xfrm>
                <a:off x="7660005" y="4619625"/>
                <a:ext cx="190500" cy="1905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  <a:endParaRPr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g3e6a556f04c_0_1088"/>
              <p:cNvSpPr txBox="1"/>
              <p:nvPr/>
            </p:nvSpPr>
            <p:spPr>
              <a:xfrm>
                <a:off x="8477250" y="4619625"/>
                <a:ext cx="190500" cy="190500"/>
              </a:xfrm>
              <a:prstGeom prst="rect">
                <a:avLst/>
              </a:pr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70</a:t>
                </a:r>
                <a:endParaRPr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2" name="Google Shape;292;g3e6a556f04c_0_1088"/>
          <p:cNvSpPr txBox="1"/>
          <p:nvPr/>
        </p:nvSpPr>
        <p:spPr>
          <a:xfrm>
            <a:off x="571500" y="1000125"/>
            <a:ext cx="8001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GRAPH SUMMARY</a:t>
            </a:r>
            <a:endParaRPr b="1" sz="120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Total Nodes</a:t>
            </a:r>
            <a:r>
              <a:rPr lang="en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211 | </a:t>
            </a:r>
            <a:r>
              <a:rPr b="1" lang="en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Total Edges</a:t>
            </a:r>
            <a:r>
              <a:rPr lang="en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412 | </a:t>
            </a:r>
            <a:r>
              <a:rPr b="1" lang="en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Multi-hop Paths</a:t>
            </a:r>
            <a:r>
              <a:rPr lang="en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1,141</a:t>
            </a:r>
            <a:endParaRPr sz="12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Disease Targets</a:t>
            </a:r>
            <a:r>
              <a:rPr lang="en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28 unique | </a:t>
            </a:r>
            <a:r>
              <a:rPr b="1" lang="en" sz="12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Max Path Length</a:t>
            </a:r>
            <a:r>
              <a:rPr lang="en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6 hops</a:t>
            </a:r>
            <a:endParaRPr sz="12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6a556f04c_0_10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16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r>
              <a:rPr b="1" lang="en" sz="2516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s:</a:t>
            </a:r>
            <a:r>
              <a:rPr b="1" lang="en" sz="2516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2516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Discovered Reasoning Chains</a:t>
            </a:r>
            <a:endParaRPr b="1" sz="2516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e6a556f04c_0_1093"/>
          <p:cNvSpPr/>
          <p:nvPr/>
        </p:nvSpPr>
        <p:spPr>
          <a:xfrm>
            <a:off x="686025" y="1132298"/>
            <a:ext cx="8338800" cy="23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i="0" lang="en" sz="1500" u="none" cap="none" strike="noStrike">
                <a:solidFill>
                  <a:srgbClr val="1A2733"/>
                </a:solidFill>
              </a:rPr>
              <a:t>Monoculture</a:t>
            </a:r>
            <a:r>
              <a:rPr b="1" i="0" lang="en" sz="1500" u="none" cap="none" strike="noStrike">
                <a:solidFill>
                  <a:srgbClr val="3A86C8"/>
                </a:solidFill>
              </a:rPr>
              <a:t>  →  </a:t>
            </a:r>
            <a:r>
              <a:rPr i="0" lang="en" sz="1500" u="none" cap="none" strike="noStrike">
                <a:solidFill>
                  <a:srgbClr val="1A2733"/>
                </a:solidFill>
              </a:rPr>
              <a:t>Fusarium</a:t>
            </a:r>
            <a:r>
              <a:rPr b="1" i="0" lang="en" sz="1500" u="none" cap="none" strike="noStrike">
                <a:solidFill>
                  <a:srgbClr val="3A86C8"/>
                </a:solidFill>
              </a:rPr>
              <a:t>  →  </a:t>
            </a:r>
            <a:r>
              <a:rPr i="0" lang="en" sz="1500" u="none" cap="none" strike="noStrike">
                <a:solidFill>
                  <a:srgbClr val="1A2733"/>
                </a:solidFill>
              </a:rPr>
              <a:t>Mycotoxins</a:t>
            </a:r>
            <a:r>
              <a:rPr b="1" i="0" lang="en" sz="1500" u="none" cap="none" strike="noStrike">
                <a:solidFill>
                  <a:srgbClr val="3A86C8"/>
                </a:solidFill>
              </a:rPr>
              <a:t>  →  </a:t>
            </a:r>
            <a:r>
              <a:rPr b="1" i="0" lang="en" sz="1500" u="none" cap="none" strike="noStrike">
                <a:solidFill>
                  <a:srgbClr val="1A3A5C"/>
                </a:solidFill>
              </a:rPr>
              <a:t>Human Disease</a:t>
            </a:r>
            <a:endParaRPr b="1" sz="1500">
              <a:solidFill>
                <a:srgbClr val="1A3A5C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>
                <a:solidFill>
                  <a:srgbClr val="1A2733"/>
                </a:solidFill>
              </a:rPr>
              <a:t>Organic Farming</a:t>
            </a:r>
            <a:r>
              <a:rPr b="1" lang="en" sz="1500">
                <a:solidFill>
                  <a:srgbClr val="3A86C8"/>
                </a:solidFill>
              </a:rPr>
              <a:t>  →  </a:t>
            </a:r>
            <a:r>
              <a:rPr lang="en" sz="1500">
                <a:solidFill>
                  <a:srgbClr val="1A2733"/>
                </a:solidFill>
              </a:rPr>
              <a:t>Reduces Cadmium</a:t>
            </a:r>
            <a:r>
              <a:rPr b="1" lang="en" sz="1500">
                <a:solidFill>
                  <a:srgbClr val="3A86C8"/>
                </a:solidFill>
              </a:rPr>
              <a:t>  →  </a:t>
            </a:r>
            <a:r>
              <a:rPr b="1" lang="en" sz="1500">
                <a:solidFill>
                  <a:srgbClr val="1A3A5C"/>
                </a:solidFill>
              </a:rPr>
              <a:t>Prevents Kidney Damage</a:t>
            </a:r>
            <a:endParaRPr b="1" sz="1500">
              <a:solidFill>
                <a:srgbClr val="1A3A5C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>
                <a:solidFill>
                  <a:srgbClr val="1A2733"/>
                </a:solidFill>
              </a:rPr>
              <a:t>Mineral NPK Fertilizer</a:t>
            </a:r>
            <a:r>
              <a:rPr b="1" lang="en" sz="1500">
                <a:solidFill>
                  <a:srgbClr val="3A86C8"/>
                </a:solidFill>
              </a:rPr>
              <a:t>  →  </a:t>
            </a:r>
            <a:r>
              <a:rPr lang="en" sz="1500">
                <a:solidFill>
                  <a:srgbClr val="1A2733"/>
                </a:solidFill>
              </a:rPr>
              <a:t>Increases Cadmium</a:t>
            </a:r>
            <a:r>
              <a:rPr b="1" lang="en" sz="1500">
                <a:solidFill>
                  <a:srgbClr val="3A86C8"/>
                </a:solidFill>
              </a:rPr>
              <a:t>  →  </a:t>
            </a:r>
            <a:r>
              <a:rPr b="1" lang="en" sz="1500">
                <a:solidFill>
                  <a:srgbClr val="1A3A5C"/>
                </a:solidFill>
              </a:rPr>
              <a:t>Causes Cancer</a:t>
            </a:r>
            <a:endParaRPr b="1" sz="1500">
              <a:solidFill>
                <a:srgbClr val="1A3A5C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>
                <a:solidFill>
                  <a:srgbClr val="1A2733"/>
                </a:solidFill>
              </a:rPr>
              <a:t>Crop Rotation</a:t>
            </a:r>
            <a:r>
              <a:rPr b="1" lang="en" sz="1500">
                <a:solidFill>
                  <a:srgbClr val="3A86C8"/>
                </a:solidFill>
              </a:rPr>
              <a:t>  →  </a:t>
            </a:r>
            <a:r>
              <a:rPr lang="en" sz="1500">
                <a:solidFill>
                  <a:srgbClr val="1A2733"/>
                </a:solidFill>
              </a:rPr>
              <a:t>Reduces Plant Disease</a:t>
            </a:r>
            <a:r>
              <a:rPr b="1" lang="en" sz="1500">
                <a:solidFill>
                  <a:srgbClr val="3A86C8"/>
                </a:solidFill>
              </a:rPr>
              <a:t>  →  </a:t>
            </a:r>
            <a:r>
              <a:rPr b="1" lang="en" sz="1500">
                <a:solidFill>
                  <a:srgbClr val="1A3A5C"/>
                </a:solidFill>
              </a:rPr>
              <a:t>Reduces Economic Loss</a:t>
            </a:r>
            <a:endParaRPr b="1" sz="1500">
              <a:solidFill>
                <a:srgbClr val="1A3A5C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>
                <a:solidFill>
                  <a:srgbClr val="1A2733"/>
                </a:solidFill>
              </a:rPr>
              <a:t>Water Stress</a:t>
            </a:r>
            <a:r>
              <a:rPr b="1" lang="en" sz="1500">
                <a:solidFill>
                  <a:srgbClr val="3A86C8"/>
                </a:solidFill>
              </a:rPr>
              <a:t>  →  </a:t>
            </a:r>
            <a:r>
              <a:rPr lang="en" sz="1500">
                <a:solidFill>
                  <a:srgbClr val="1A2733"/>
                </a:solidFill>
              </a:rPr>
              <a:t>Causes Plant Disease</a:t>
            </a:r>
            <a:r>
              <a:rPr b="1" lang="en" sz="1500">
                <a:solidFill>
                  <a:srgbClr val="3A86C8"/>
                </a:solidFill>
              </a:rPr>
              <a:t>  →  </a:t>
            </a:r>
            <a:r>
              <a:rPr b="1" lang="en" sz="1500">
                <a:solidFill>
                  <a:srgbClr val="1A3A5C"/>
                </a:solidFill>
              </a:rPr>
              <a:t>Leads to Economic Loss</a:t>
            </a:r>
            <a:endParaRPr b="1" sz="1500">
              <a:solidFill>
                <a:srgbClr val="1A3A5C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>
                <a:solidFill>
                  <a:srgbClr val="1A2733"/>
                </a:solidFill>
              </a:rPr>
              <a:t>Organic Farming</a:t>
            </a:r>
            <a:r>
              <a:rPr b="1" lang="en" sz="1500">
                <a:solidFill>
                  <a:srgbClr val="3A86C8"/>
                </a:solidFill>
              </a:rPr>
              <a:t>  →  </a:t>
            </a:r>
            <a:r>
              <a:rPr lang="en" sz="1500">
                <a:solidFill>
                  <a:srgbClr val="1A2733"/>
                </a:solidFill>
              </a:rPr>
              <a:t>Increases Phenolics</a:t>
            </a:r>
            <a:r>
              <a:rPr b="1" lang="en" sz="1500">
                <a:solidFill>
                  <a:srgbClr val="3A86C8"/>
                </a:solidFill>
              </a:rPr>
              <a:t>  →  </a:t>
            </a:r>
            <a:r>
              <a:rPr b="1" lang="en" sz="1500">
                <a:solidFill>
                  <a:srgbClr val="1A3A5C"/>
                </a:solidFill>
              </a:rPr>
              <a:t>Reduces Cardiovascular Disease</a:t>
            </a:r>
            <a:endParaRPr b="1" sz="1500">
              <a:solidFill>
                <a:srgbClr val="1A3A5C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6a556f04c_0_1097"/>
          <p:cNvSpPr txBox="1"/>
          <p:nvPr>
            <p:ph type="title"/>
          </p:nvPr>
        </p:nvSpPr>
        <p:spPr>
          <a:xfrm>
            <a:off x="311700" y="4750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Results Summary</a:t>
            </a:r>
            <a:r>
              <a:rPr b="1" lang="en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 sz="28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Pipeline Performance</a:t>
            </a:r>
            <a:endParaRPr b="1" sz="28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" name="Google Shape;304;g3e6a556f04c_0_1097"/>
          <p:cNvGrpSpPr/>
          <p:nvPr/>
        </p:nvGrpSpPr>
        <p:grpSpPr>
          <a:xfrm>
            <a:off x="4572000" y="1217525"/>
            <a:ext cx="4191000" cy="3619500"/>
            <a:chOff x="4572000" y="1047750"/>
            <a:chExt cx="4191000" cy="3619500"/>
          </a:xfrm>
        </p:grpSpPr>
        <p:sp>
          <p:nvSpPr>
            <p:cNvPr id="305" name="Google Shape;305;g3e6a556f04c_0_1097"/>
            <p:cNvSpPr/>
            <p:nvPr/>
          </p:nvSpPr>
          <p:spPr>
            <a:xfrm>
              <a:off x="4572000" y="1047750"/>
              <a:ext cx="4191000" cy="36195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A2733"/>
                </a:buClr>
                <a:buSzPts val="1300"/>
                <a:buChar char="●"/>
              </a:pPr>
              <a:r>
                <a:rPr b="1" lang="en" sz="13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67%</a:t>
              </a:r>
              <a:r>
                <a:rPr lang="en" sz="1300">
                  <a:solidFill>
                    <a:srgbClr val="1A2733"/>
                  </a:solidFill>
                </a:rPr>
                <a:t> of raw tuples passed validation (213/319)</a:t>
              </a:r>
              <a:endParaRPr sz="1300">
                <a:solidFill>
                  <a:srgbClr val="1A2733"/>
                </a:solidFill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2733"/>
                </a:buClr>
                <a:buSzPts val="1300"/>
                <a:buChar char="●"/>
              </a:pPr>
              <a:r>
                <a:rPr lang="en" sz="1300">
                  <a:solidFill>
                    <a:srgbClr val="1A2733"/>
                  </a:solidFill>
                </a:rPr>
                <a:t>Graph spans all </a:t>
              </a:r>
              <a:r>
                <a:rPr b="1" lang="en" sz="13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4 target domains</a:t>
              </a:r>
              <a:r>
                <a:rPr lang="en" sz="1300">
                  <a:solidFill>
                    <a:srgbClr val="1A2733"/>
                  </a:solidFill>
                </a:rPr>
                <a:t> seamlessly</a:t>
              </a:r>
              <a:endParaRPr sz="1300">
                <a:solidFill>
                  <a:srgbClr val="1A2733"/>
                </a:solidFill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2733"/>
                </a:buClr>
                <a:buSzPts val="1300"/>
                <a:buChar char="●"/>
              </a:pPr>
              <a:r>
                <a:rPr b="1" lang="en" sz="13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28 unique</a:t>
              </a:r>
              <a:r>
                <a:rPr lang="en" sz="1300">
                  <a:solidFill>
                    <a:srgbClr val="1A2733"/>
                  </a:solidFill>
                </a:rPr>
                <a:t> disease targets identified</a:t>
              </a:r>
              <a:endParaRPr sz="1300">
                <a:solidFill>
                  <a:srgbClr val="1A2733"/>
                </a:solidFill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2733"/>
                </a:buClr>
                <a:buSzPts val="1300"/>
                <a:buChar char="●"/>
              </a:pPr>
              <a:r>
                <a:rPr lang="en" sz="1300">
                  <a:solidFill>
                    <a:srgbClr val="1A2733"/>
                  </a:solidFill>
                </a:rPr>
                <a:t>Longest chains reach </a:t>
              </a:r>
              <a:r>
                <a:rPr b="1" lang="en" sz="13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6 hops</a:t>
              </a:r>
              <a:r>
                <a:rPr lang="en" sz="1300">
                  <a:solidFill>
                    <a:srgbClr val="1A2733"/>
                  </a:solidFill>
                </a:rPr>
                <a:t> across domains</a:t>
              </a:r>
              <a:endParaRPr sz="1300">
                <a:solidFill>
                  <a:srgbClr val="1A2733"/>
                </a:solidFill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2733"/>
                </a:buClr>
                <a:buSzPts val="1300"/>
                <a:buChar char="●"/>
              </a:pPr>
              <a:r>
                <a:rPr b="1" lang="en" sz="13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Cancer:</a:t>
              </a:r>
              <a:r>
                <a:rPr lang="en" sz="1300">
                  <a:solidFill>
                    <a:srgbClr val="1A2733"/>
                  </a:solidFill>
                </a:rPr>
                <a:t> 60 paths (highest connectivity)</a:t>
              </a:r>
              <a:endParaRPr sz="1300">
                <a:solidFill>
                  <a:srgbClr val="1A2733"/>
                </a:solidFill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2733"/>
                </a:buClr>
                <a:buSzPts val="1300"/>
                <a:buChar char="●"/>
              </a:pPr>
              <a:r>
                <a:rPr b="1" lang="en" sz="13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Cardiovascular &amp; Type-2 Diabetes:</a:t>
              </a:r>
              <a:r>
                <a:rPr lang="en" sz="1300">
                  <a:solidFill>
                    <a:srgbClr val="1A2733"/>
                  </a:solidFill>
                </a:rPr>
                <a:t> 42 paths</a:t>
              </a:r>
              <a:endParaRPr sz="1300">
                <a:solidFill>
                  <a:srgbClr val="1A2733"/>
                </a:solidFill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A2733"/>
                </a:buClr>
                <a:buSzPts val="1300"/>
                <a:buChar char="●"/>
              </a:pPr>
              <a:r>
                <a:rPr lang="en" sz="1300">
                  <a:solidFill>
                    <a:srgbClr val="1A2733"/>
                  </a:solidFill>
                </a:rPr>
                <a:t>Graph grows </a:t>
              </a:r>
              <a:r>
                <a:rPr b="1" lang="en" sz="1300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cumulatively</a:t>
              </a:r>
              <a:r>
                <a:rPr lang="en" sz="1300">
                  <a:solidFill>
                    <a:srgbClr val="1A2733"/>
                  </a:solidFill>
                </a:rPr>
                <a:t> with each new PDF</a:t>
              </a:r>
              <a:endParaRPr sz="1300">
                <a:solidFill>
                  <a:srgbClr val="1A2733"/>
                </a:solidFill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1A2733"/>
                </a:solidFill>
              </a:endParaRPr>
            </a:p>
          </p:txBody>
        </p:sp>
        <p:sp>
          <p:nvSpPr>
            <p:cNvPr id="306" name="Google Shape;306;g3e6a556f04c_0_1097"/>
            <p:cNvSpPr txBox="1"/>
            <p:nvPr/>
          </p:nvSpPr>
          <p:spPr>
            <a:xfrm>
              <a:off x="4572000" y="1047750"/>
              <a:ext cx="4191000" cy="476400"/>
            </a:xfrm>
            <a:prstGeom prst="rect">
              <a:avLst/>
            </a:prstGeom>
            <a:solidFill>
              <a:srgbClr val="F3F3F3"/>
            </a:solidFill>
            <a:ln cap="sq" cmpd="sng" w="9525">
              <a:solidFill>
                <a:srgbClr val="FFFFFF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Key Findings</a:t>
              </a:r>
              <a:endParaRPr b="1" sz="15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7" name="Google Shape;307;g3e6a556f04c_0_1097"/>
          <p:cNvGrpSpPr/>
          <p:nvPr/>
        </p:nvGrpSpPr>
        <p:grpSpPr>
          <a:xfrm>
            <a:off x="397775" y="1217525"/>
            <a:ext cx="4000500" cy="3619500"/>
            <a:chOff x="381000" y="1047750"/>
            <a:chExt cx="4000500" cy="3619500"/>
          </a:xfrm>
        </p:grpSpPr>
        <p:sp>
          <p:nvSpPr>
            <p:cNvPr id="308" name="Google Shape;308;g3e6a556f04c_0_1097"/>
            <p:cNvSpPr/>
            <p:nvPr/>
          </p:nvSpPr>
          <p:spPr>
            <a:xfrm>
              <a:off x="381000" y="1047750"/>
              <a:ext cx="4000500" cy="36195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g3e6a556f04c_0_1097"/>
            <p:cNvSpPr txBox="1"/>
            <p:nvPr/>
          </p:nvSpPr>
          <p:spPr>
            <a:xfrm>
              <a:off x="571500" y="1190625"/>
              <a:ext cx="3619500" cy="381000"/>
            </a:xfrm>
            <a:prstGeom prst="rect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Node Type Distribution (21</a:t>
              </a:r>
              <a:r>
                <a:rPr b="1" lang="en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lang="en" sz="1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total)</a:t>
              </a:r>
              <a:endParaRPr b="1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0" name="Google Shape;310;g3e6a556f04c_0_1097"/>
            <p:cNvPicPr preferRelativeResize="0"/>
            <p:nvPr/>
          </p:nvPicPr>
          <p:blipFill rotWithShape="1">
            <a:blip r:embed="rId4">
              <a:alphaModFix/>
            </a:blip>
            <a:srcRect b="6302" l="0" r="0" t="6293"/>
            <a:stretch/>
          </p:blipFill>
          <p:spPr>
            <a:xfrm>
              <a:off x="571500" y="1571625"/>
              <a:ext cx="3619500" cy="2952900"/>
            </a:xfrm>
            <a:prstGeom prst="rect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6a556f04c_0_1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solidFill>
                  <a:srgbClr val="1C4587"/>
                </a:solidFill>
              </a:rPr>
              <a:t>Paper Processed in This Work And Tool Used</a:t>
            </a:r>
            <a:endParaRPr b="1" sz="272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720">
              <a:solidFill>
                <a:srgbClr val="1C4587"/>
              </a:solidFill>
            </a:endParaRPr>
          </a:p>
        </p:txBody>
      </p:sp>
      <p:sp>
        <p:nvSpPr>
          <p:cNvPr id="316" name="Google Shape;316;g3e6a556f04c_0_126"/>
          <p:cNvSpPr/>
          <p:nvPr/>
        </p:nvSpPr>
        <p:spPr>
          <a:xfrm>
            <a:off x="646950" y="1128750"/>
            <a:ext cx="78501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325" lIns="94775" spcFirstLastPara="1" rIns="94775" wrap="square" tIns="473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AutoNum type="arabicPeriod"/>
            </a:pPr>
            <a:r>
              <a:rPr i="0" lang="en" sz="1500" u="none" cap="none" strike="noStrike">
                <a:solidFill>
                  <a:srgbClr val="1A2733"/>
                </a:solidFill>
              </a:rPr>
              <a:t>Crop health and its global impacts on the components of food security</a:t>
            </a:r>
            <a:endParaRPr i="0" sz="1500" u="none" cap="none" strike="noStrike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A2733"/>
              </a:buClr>
              <a:buSzPts val="1500"/>
              <a:buAutoNum type="arabicPeriod"/>
            </a:pPr>
            <a:r>
              <a:rPr lang="en" sz="1500">
                <a:solidFill>
                  <a:srgbClr val="1A2733"/>
                </a:solidFill>
              </a:rPr>
              <a:t>Exploring the link between soil health and crop productivity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A2733"/>
              </a:buClr>
              <a:buSzPts val="1500"/>
              <a:buAutoNum type="arabicPeriod"/>
            </a:pPr>
            <a:r>
              <a:rPr lang="en" sz="1500">
                <a:solidFill>
                  <a:srgbClr val="1A2733"/>
                </a:solidFill>
              </a:rPr>
              <a:t>Integrated Soil and Crop Management in Organic Agriculture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A2733"/>
              </a:buClr>
              <a:buSzPts val="1500"/>
              <a:buAutoNum type="arabicPeriod"/>
            </a:pPr>
            <a:r>
              <a:rPr lang="en" sz="1500">
                <a:solidFill>
                  <a:srgbClr val="1A2733"/>
                </a:solidFill>
              </a:rPr>
              <a:t>The links between agriculture and health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1A2733"/>
              </a:buClr>
              <a:buSzPts val="1500"/>
              <a:buAutoNum type="arabicPeriod"/>
            </a:pPr>
            <a:r>
              <a:rPr lang="en" sz="1500">
                <a:solidFill>
                  <a:srgbClr val="1A2733"/>
                </a:solidFill>
              </a:rPr>
              <a:t>Agronomy-12-02947 — Rice false smut disease analysis</a:t>
            </a:r>
            <a:endParaRPr sz="1500">
              <a:solidFill>
                <a:srgbClr val="1A2733"/>
              </a:solidFill>
            </a:endParaRPr>
          </a:p>
        </p:txBody>
      </p:sp>
      <p:sp>
        <p:nvSpPr>
          <p:cNvPr id="317" name="Google Shape;317;g3e6a556f04c_0_126"/>
          <p:cNvSpPr/>
          <p:nvPr/>
        </p:nvSpPr>
        <p:spPr>
          <a:xfrm>
            <a:off x="421726" y="3183325"/>
            <a:ext cx="7658400" cy="14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1" i="0" lang="en" sz="1500" u="none" cap="none" strike="noStrike">
                <a:solidFill>
                  <a:srgbClr val="1A3A5C"/>
                </a:solidFill>
              </a:rPr>
              <a:t>Tools &amp; Libraries</a:t>
            </a:r>
            <a:endParaRPr b="1" i="0" sz="1500" u="none" cap="none" strike="noStrike">
              <a:solidFill>
                <a:srgbClr val="1A3A5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t/>
            </a:r>
            <a:endParaRPr b="1" sz="500">
              <a:solidFill>
                <a:srgbClr val="1A3A5C"/>
              </a:solidFill>
            </a:endParaRPr>
          </a:p>
          <a:p>
            <a:pPr indent="-374650" lvl="0" marL="34290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•"/>
            </a:pPr>
            <a:r>
              <a:rPr lang="en" sz="1500">
                <a:solidFill>
                  <a:srgbClr val="1A2733"/>
                </a:solidFill>
              </a:rPr>
              <a:t>NetworkX (Python graph library)</a:t>
            </a:r>
            <a:endParaRPr sz="1500">
              <a:solidFill>
                <a:schemeClr val="dk1"/>
              </a:solidFill>
            </a:endParaRPr>
          </a:p>
          <a:p>
            <a:pPr indent="-374650" lvl="0" marL="34290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•"/>
            </a:pPr>
            <a:r>
              <a:rPr lang="en" sz="1500">
                <a:solidFill>
                  <a:srgbClr val="1A2733"/>
                </a:solidFill>
              </a:rPr>
              <a:t>GraphML / Gephi / Cytoscape / yEd</a:t>
            </a:r>
            <a:endParaRPr sz="1500">
              <a:solidFill>
                <a:schemeClr val="dk1"/>
              </a:solidFill>
            </a:endParaRPr>
          </a:p>
          <a:p>
            <a:pPr indent="-374650" lvl="0" marL="34290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•"/>
            </a:pPr>
            <a:r>
              <a:rPr lang="en" sz="1500">
                <a:solidFill>
                  <a:srgbClr val="1A2733"/>
                </a:solidFill>
              </a:rPr>
              <a:t>ChatGPT-5 (OpenAI) for tuple extraction</a:t>
            </a:r>
            <a:endParaRPr sz="1500">
              <a:solidFill>
                <a:schemeClr val="dk1"/>
              </a:solidFill>
            </a:endParaRPr>
          </a:p>
          <a:p>
            <a:pPr indent="-374650" lvl="0" marL="34290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•"/>
            </a:pPr>
            <a:r>
              <a:rPr lang="en" sz="1500">
                <a:solidFill>
                  <a:srgbClr val="1A2733"/>
                </a:solidFill>
              </a:rPr>
              <a:t>Gemma-4 (local LLM, Google)</a:t>
            </a:r>
            <a:endParaRPr b="1" sz="1500">
              <a:solidFill>
                <a:srgbClr val="1A3A5C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6a556f04c_0_3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solidFill>
                  <a:srgbClr val="1C4587"/>
                </a:solidFill>
              </a:rPr>
              <a:t>Plan of Work: Next Semester (1/2)</a:t>
            </a:r>
            <a:endParaRPr b="1" sz="2720">
              <a:solidFill>
                <a:srgbClr val="1C4587"/>
              </a:solidFill>
            </a:endParaRPr>
          </a:p>
        </p:txBody>
      </p:sp>
      <p:sp>
        <p:nvSpPr>
          <p:cNvPr id="323" name="Google Shape;323;g3e6a556f04c_0_305"/>
          <p:cNvSpPr/>
          <p:nvPr/>
        </p:nvSpPr>
        <p:spPr>
          <a:xfrm>
            <a:off x="585000" y="1017725"/>
            <a:ext cx="8302200" cy="38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lang="en" sz="1500">
                <a:solidFill>
                  <a:srgbClr val="073763"/>
                </a:solidFill>
              </a:rPr>
              <a:t>Expand Corpus</a:t>
            </a:r>
            <a:endParaRPr b="1" i="0" sz="1500" u="none" cap="none" strike="noStrike">
              <a:solidFill>
                <a:srgbClr val="07376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t/>
            </a:r>
            <a:endParaRPr b="1" sz="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2733"/>
                </a:solidFill>
              </a:rPr>
              <a:t>Target 15–20 papers across diverse agricultural topics, improving graph coverage and domain breadth</a:t>
            </a:r>
            <a:endParaRPr sz="1500">
              <a:solidFill>
                <a:srgbClr val="1A27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27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27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</a:rPr>
              <a:t>OWL / RDF Export</a:t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2733"/>
                </a:solidFill>
              </a:rPr>
              <a:t>Add semantic web compatibility — export graph in OWL/RDF format for integration with Linked Open Data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</a:rPr>
              <a:t>Web Visualization Dashboard</a:t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2733"/>
                </a:solidFill>
              </a:rPr>
              <a:t>Build an interactive browser-based tool to search by disease and explore the graph visually</a:t>
            </a:r>
            <a:endParaRPr sz="1500">
              <a:solidFill>
                <a:srgbClr val="1A273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t/>
            </a:r>
            <a:endParaRPr b="1" sz="15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6a556f04c_0_3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solidFill>
                  <a:srgbClr val="1C4587"/>
                </a:solidFill>
              </a:rPr>
              <a:t>Plan of Work: Next Semester (2/2)</a:t>
            </a:r>
            <a:endParaRPr b="1" sz="2720">
              <a:solidFill>
                <a:srgbClr val="1C4587"/>
              </a:solidFill>
            </a:endParaRPr>
          </a:p>
        </p:txBody>
      </p:sp>
      <p:sp>
        <p:nvSpPr>
          <p:cNvPr id="329" name="Google Shape;329;g3e6a556f04c_0_340"/>
          <p:cNvSpPr/>
          <p:nvPr/>
        </p:nvSpPr>
        <p:spPr>
          <a:xfrm>
            <a:off x="576775" y="1017725"/>
            <a:ext cx="8302200" cy="38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lang="en" sz="1500">
                <a:solidFill>
                  <a:srgbClr val="073763"/>
                </a:solidFill>
              </a:rPr>
              <a:t>Semantic Entity Merging</a:t>
            </a:r>
            <a:endParaRPr b="1" i="0" sz="1500" u="none" cap="none" strike="noStrike">
              <a:solidFill>
                <a:srgbClr val="07376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t/>
            </a:r>
            <a:endParaRPr b="1" sz="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2733"/>
                </a:solidFill>
              </a:rPr>
              <a:t>Implement similarity-based entity merging beyond dictionary normalization to reduce redundancy</a:t>
            </a:r>
            <a:endParaRPr sz="1500">
              <a:solidFill>
                <a:srgbClr val="1A27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27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27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</a:rPr>
              <a:t>Evaluation — Precision/Recall</a:t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2733"/>
                </a:solidFill>
              </a:rPr>
              <a:t>Benchmark extraction quality against gold-standard annotations for rigorous validation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</a:rPr>
              <a:t>Ontology Integration</a:t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2733"/>
                </a:solidFill>
              </a:rPr>
              <a:t>Explore linking the graph with FOODON and Disease Ontology for richer semantic grounding</a:t>
            </a:r>
            <a:endParaRPr sz="1500">
              <a:solidFill>
                <a:srgbClr val="1A273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t/>
            </a:r>
            <a:endParaRPr b="1" sz="15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6a556f04c_0_3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solidFill>
                  <a:srgbClr val="1C4587"/>
                </a:solidFill>
              </a:rPr>
              <a:t>Conclusions</a:t>
            </a:r>
            <a:endParaRPr b="1" sz="272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720">
              <a:solidFill>
                <a:srgbClr val="1C4587"/>
              </a:solidFill>
            </a:endParaRPr>
          </a:p>
        </p:txBody>
      </p:sp>
      <p:sp>
        <p:nvSpPr>
          <p:cNvPr id="335" name="Google Shape;335;g3e6a556f04c_0_331"/>
          <p:cNvSpPr/>
          <p:nvPr/>
        </p:nvSpPr>
        <p:spPr>
          <a:xfrm>
            <a:off x="568800" y="1161534"/>
            <a:ext cx="82635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i="0" lang="en" sz="1500" u="none" cap="none" strike="noStrike">
                <a:solidFill>
                  <a:srgbClr val="1A2733"/>
                </a:solidFill>
              </a:rPr>
              <a:t>Successfully built an end-to-end pipeline from scientific PDFs to a reasoning-capable knowledge graph</a:t>
            </a:r>
            <a:endParaRPr i="0" sz="1500" u="none" cap="none" strike="noStrike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Discovers non-obvious cross-domain connections between agriculture and human health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ChatGPT-based extraction significantly outperforms local models (71× more paths)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Master graph grows cumulatively with each new PDF — highly scalable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1,141 reasoning paths across 28 disease targets demonstrate practical value for researchers and policymakers</a:t>
            </a:r>
            <a:endParaRPr sz="1500">
              <a:solidFill>
                <a:srgbClr val="1A273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>
            <p:ph type="title"/>
          </p:nvPr>
        </p:nvSpPr>
        <p:spPr>
          <a:xfrm>
            <a:off x="903450" y="801975"/>
            <a:ext cx="7337100" cy="28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5000">
                <a:solidFill>
                  <a:srgbClr val="1C4587"/>
                </a:solidFill>
                <a:latin typeface="Caveat"/>
                <a:ea typeface="Caveat"/>
                <a:cs typeface="Caveat"/>
                <a:sym typeface="Caveat"/>
              </a:rPr>
              <a:t>THANK YOU</a:t>
            </a:r>
            <a:endParaRPr b="1" sz="5000">
              <a:solidFill>
                <a:srgbClr val="1C4587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5000">
              <a:solidFill>
                <a:srgbClr val="1C4587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5000">
                <a:solidFill>
                  <a:srgbClr val="1C4587"/>
                </a:solidFill>
                <a:latin typeface="Caveat"/>
                <a:ea typeface="Caveat"/>
                <a:cs typeface="Caveat"/>
                <a:sym typeface="Caveat"/>
              </a:rPr>
              <a:t>ANY QUESTIONS?</a:t>
            </a:r>
            <a:endParaRPr b="1" sz="5000">
              <a:solidFill>
                <a:srgbClr val="1C4587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