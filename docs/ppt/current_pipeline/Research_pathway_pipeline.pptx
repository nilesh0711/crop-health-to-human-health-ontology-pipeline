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EB3BE8-030C-4CC2-8096-CAAE80D78EFC}" type="datetimeFigureOut">
              <a:rPr lang="en-IN" smtClean="0"/>
              <a:t>28-10-2026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71C3D5-CB15-4CE2-88A5-3F6C328CA762}" type="slidenum">
              <a:rPr lang="en-IN" smtClean="0"/>
              <a:t>‹#›</a:t>
            </a:fld>
            <a:endParaRPr lang="en-IN"/>
          </a:p>
        </p:txBody>
      </p:sp>
    </p:spTree>
    <p:extLst>
      <p:ext uri="{BB962C8B-B14F-4D97-AF65-F5344CB8AC3E}">
        <p14:creationId xmlns:p14="http://schemas.microsoft.com/office/powerpoint/2010/main" val="3617177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Current implemented pipeline, research progress presentation. The deck follows the current pathway-first approach only.
Sources / provenance:
docs/ppt/Reasoning with Food Knowledge Graphs.pptx, title slide</a:t>
            </a:r>
            <a:endParaRPr lang="en-IN"/>
          </a:p>
        </p:txBody>
      </p:sp>
      <p:sp>
        <p:nvSpPr>
          <p:cNvPr id="4" name="Slide Number Placeholder 3"/>
          <p:cNvSpPr>
            <a:spLocks noGrp="1"/>
          </p:cNvSpPr>
          <p:nvPr>
            <p:ph type="sldNum" sz="quarter" idx="5"/>
          </p:nvPr>
        </p:nvSpPr>
        <p:spPr/>
        <p:txBody>
          <a:bodyPr/>
          <a:lstStyle/>
          <a:p>
            <a:fld id="{0971C3D5-CB15-4CE2-88A5-3F6C328CA762}" type="slidenum">
              <a:rPr lang="en-IN" smtClean="0"/>
              <a:t>1</a:t>
            </a:fld>
            <a:endParaRPr lang="en-IN"/>
          </a:p>
        </p:txBody>
      </p:sp>
    </p:spTree>
    <p:extLst>
      <p:ext uri="{BB962C8B-B14F-4D97-AF65-F5344CB8AC3E}">
        <p14:creationId xmlns:p14="http://schemas.microsoft.com/office/powerpoint/2010/main" val="135061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project motivation, not a claim that no related knowledge graphs exist. The diagram presents domain categories, not a verified causal chain.
Sources / provenance:
docs/ppt/Reasoning with Food Knowledge Graphs.pptx, slides 3–7</a:t>
            </a:r>
            <a:endParaRPr lang="en-IN"/>
          </a:p>
        </p:txBody>
      </p:sp>
      <p:sp>
        <p:nvSpPr>
          <p:cNvPr id="4" name="Slide Number Placeholder 3"/>
          <p:cNvSpPr>
            <a:spLocks noGrp="1"/>
          </p:cNvSpPr>
          <p:nvPr>
            <p:ph type="sldNum" sz="quarter" idx="5"/>
          </p:nvPr>
        </p:nvSpPr>
        <p:spPr/>
        <p:txBody>
          <a:bodyPr/>
          <a:lstStyle/>
          <a:p>
            <a:fld id="{0971C3D5-CB15-4CE2-88A5-3F6C328CA762}" type="slidenum">
              <a:rPr lang="en-IN" smtClean="0"/>
              <a:t>2</a:t>
            </a:fld>
            <a:endParaRPr lang="en-IN"/>
          </a:p>
        </p:txBody>
      </p:sp>
    </p:spTree>
    <p:extLst>
      <p:ext uri="{BB962C8B-B14F-4D97-AF65-F5344CB8AC3E}">
        <p14:creationId xmlns:p14="http://schemas.microsoft.com/office/powerpoint/2010/main" val="39759225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Sources / provenance:
backend/domain/ontology.py: PATHWAY_DESCRIPTION and SCOPE_POLICY
docs/CONTEXT.md: Scientific boundary</a:t>
            </a:r>
            <a:endParaRPr lang="en-IN"/>
          </a:p>
        </p:txBody>
      </p:sp>
      <p:sp>
        <p:nvSpPr>
          <p:cNvPr id="4" name="Slide Number Placeholder 3"/>
          <p:cNvSpPr>
            <a:spLocks noGrp="1"/>
          </p:cNvSpPr>
          <p:nvPr>
            <p:ph type="sldNum" sz="quarter" idx="5"/>
          </p:nvPr>
        </p:nvSpPr>
        <p:spPr/>
        <p:txBody>
          <a:bodyPr/>
          <a:lstStyle/>
          <a:p>
            <a:fld id="{0971C3D5-CB15-4CE2-88A5-3F6C328CA762}" type="slidenum">
              <a:rPr lang="en-IN" smtClean="0"/>
              <a:t>3</a:t>
            </a:fld>
            <a:endParaRPr lang="en-IN"/>
          </a:p>
        </p:txBody>
      </p:sp>
    </p:spTree>
    <p:extLst>
      <p:ext uri="{BB962C8B-B14F-4D97-AF65-F5344CB8AC3E}">
        <p14:creationId xmlns:p14="http://schemas.microsoft.com/office/powerpoint/2010/main" val="1044704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Recorded candidate candidate-b94349abb8c91a8caf655379f2989657. The diagram displays an extracted conditional claim, rather than universal contamination.
Sources / provenance:
ontology/Crop health and its global impacts on the components of food security/candidates.jsonl</a:t>
            </a:r>
            <a:endParaRPr lang="en-IN"/>
          </a:p>
        </p:txBody>
      </p:sp>
      <p:sp>
        <p:nvSpPr>
          <p:cNvPr id="4" name="Slide Number Placeholder 3"/>
          <p:cNvSpPr>
            <a:spLocks noGrp="1"/>
          </p:cNvSpPr>
          <p:nvPr>
            <p:ph type="sldNum" sz="quarter" idx="5"/>
          </p:nvPr>
        </p:nvSpPr>
        <p:spPr/>
        <p:txBody>
          <a:bodyPr/>
          <a:lstStyle/>
          <a:p>
            <a:fld id="{0971C3D5-CB15-4CE2-88A5-3F6C328CA762}" type="slidenum">
              <a:rPr lang="en-IN" smtClean="0"/>
              <a:t>4</a:t>
            </a:fld>
            <a:endParaRPr lang="en-IN"/>
          </a:p>
        </p:txBody>
      </p:sp>
    </p:spTree>
    <p:extLst>
      <p:ext uri="{BB962C8B-B14F-4D97-AF65-F5344CB8AC3E}">
        <p14:creationId xmlns:p14="http://schemas.microsoft.com/office/powerpoint/2010/main" val="10511527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React research interface, Python stage-based backend, source/citation records and graph artifacts. DeepSeek performs extraction/source/paper checks, MiMo Flash query planning and identity assembly, MiMo Pro cross-paper synthesis. No commercial search-platform connectors.
Sources / provenance:
backend/README.md
docs/CONTEXT.md
backend/config/settings.py</a:t>
            </a:r>
          </a:p>
        </p:txBody>
      </p:sp>
      <p:sp>
        <p:nvSpPr>
          <p:cNvPr id="4" name="Slide Number Placeholder 3"/>
          <p:cNvSpPr>
            <a:spLocks noGrp="1"/>
          </p:cNvSpPr>
          <p:nvPr>
            <p:ph type="sldNum" sz="quarter" idx="5"/>
          </p:nvPr>
        </p:nvSpPr>
        <p:spPr/>
        <p:txBody>
          <a:bodyPr/>
          <a:lstStyle/>
          <a:p>
            <a:fld id="{0971C3D5-CB15-4CE2-88A5-3F6C328CA762}" type="slidenum">
              <a:rPr lang="en-IN" smtClean="0"/>
              <a:t>5</a:t>
            </a:fld>
            <a:endParaRPr lang="en-IN"/>
          </a:p>
        </p:txBody>
      </p:sp>
    </p:spTree>
    <p:extLst>
      <p:ext uri="{BB962C8B-B14F-4D97-AF65-F5344CB8AC3E}">
        <p14:creationId xmlns:p14="http://schemas.microsoft.com/office/powerpoint/2010/main" val="6697761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Overview before stage explanations. Source-grounded assembly precedes external assessment. Paper lanes are illustrative, not a fixed three-paper budget. NLI is diagnostic only.
Sources / provenance:
docs/ppt/current_pipeline/Pipeline_flow.svg
backend/pipelines/trust.py</a:t>
            </a:r>
          </a:p>
        </p:txBody>
      </p:sp>
      <p:sp>
        <p:nvSpPr>
          <p:cNvPr id="4" name="Slide Number Placeholder 3"/>
          <p:cNvSpPr>
            <a:spLocks noGrp="1"/>
          </p:cNvSpPr>
          <p:nvPr>
            <p:ph type="sldNum" sz="quarter" idx="5"/>
          </p:nvPr>
        </p:nvSpPr>
        <p:spPr/>
        <p:txBody>
          <a:bodyPr/>
          <a:lstStyle/>
          <a:p>
            <a:fld id="{0971C3D5-CB15-4CE2-88A5-3F6C328CA762}" type="slidenum">
              <a:rPr lang="en-IN" smtClean="0"/>
              <a:t>6</a:t>
            </a:fld>
            <a:endParaRPr lang="en-IN"/>
          </a:p>
        </p:txBody>
      </p:sp>
    </p:spTree>
    <p:extLst>
      <p:ext uri="{BB962C8B-B14F-4D97-AF65-F5344CB8AC3E}">
        <p14:creationId xmlns:p14="http://schemas.microsoft.com/office/powerpoint/2010/main" val="18393610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two sentences and S12/S13 are an illustrative teaching example from the user conversation, not a quotation or stored sentence numbering from the case-study PDF. Parsing and text-usability checks are deterministic; there is no LLM document-scope gate.
Sources / provenance:
backend/stages/pdf_parsing/structure.py
backend/stages/pdf_parsing/packets.py</a:t>
            </a:r>
            <a:endParaRPr lang="en-IN"/>
          </a:p>
        </p:txBody>
      </p:sp>
      <p:sp>
        <p:nvSpPr>
          <p:cNvPr id="4" name="Slide Number Placeholder 3"/>
          <p:cNvSpPr>
            <a:spLocks noGrp="1"/>
          </p:cNvSpPr>
          <p:nvPr>
            <p:ph type="sldNum" sz="quarter" idx="5"/>
          </p:nvPr>
        </p:nvSpPr>
        <p:spPr/>
        <p:txBody>
          <a:bodyPr/>
          <a:lstStyle/>
          <a:p>
            <a:fld id="{0971C3D5-CB15-4CE2-88A5-3F6C328CA762}" type="slidenum">
              <a:rPr lang="en-IN" smtClean="0"/>
              <a:t>7</a:t>
            </a:fld>
            <a:endParaRPr lang="en-IN"/>
          </a:p>
        </p:txBody>
      </p:sp>
    </p:spTree>
    <p:extLst>
      <p:ext uri="{BB962C8B-B14F-4D97-AF65-F5344CB8AC3E}">
        <p14:creationId xmlns:p14="http://schemas.microsoft.com/office/powerpoint/2010/main" val="28563554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Exact excerpt ends before the parenthetical references. The original PDF uses FHB; the extracted entity context resolves the abbreviation and identifies wheat grains. Source evidence and expanded canonical names remain separate. Source fidelity is entailed in the saved run.
Sources / provenance:
ontology/Crop health and its global impacts on the components of food security/candidates.jsonl: candidate-b94349abb8c91a8caf655379f2989657
backend/stages/claim_extraction/prompt.md
backend/stages/source_validation/checker.py
The direct extraction call reads a specific target with surrounding context. This is one extraction call per target, not a mandatory prior discovery call. The quoted source evidence, wheat-grain entity context and Fusarium head blight condition are retained from the original research slide.</a:t>
            </a:r>
            <a:endParaRPr lang="en-IN"/>
          </a:p>
        </p:txBody>
      </p:sp>
      <p:sp>
        <p:nvSpPr>
          <p:cNvPr id="4" name="Slide Number Placeholder 3"/>
          <p:cNvSpPr>
            <a:spLocks noGrp="1"/>
          </p:cNvSpPr>
          <p:nvPr>
            <p:ph type="sldNum" sz="quarter" idx="5"/>
          </p:nvPr>
        </p:nvSpPr>
        <p:spPr/>
        <p:txBody>
          <a:bodyPr/>
          <a:lstStyle/>
          <a:p>
            <a:fld id="{0971C3D5-CB15-4CE2-88A5-3F6C328CA762}" type="slidenum">
              <a:rPr lang="en-IN" smtClean="0"/>
              <a:t>8</a:t>
            </a:fld>
            <a:endParaRPr lang="en-IN"/>
          </a:p>
        </p:txBody>
      </p:sp>
    </p:spTree>
    <p:extLst>
      <p:ext uri="{BB962C8B-B14F-4D97-AF65-F5344CB8AC3E}">
        <p14:creationId xmlns:p14="http://schemas.microsoft.com/office/powerpoint/2010/main" val="21312879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Certainty comparison is illustrative, not a new model assessment. The model judges PDF fidelity; structural checks only verify schema and source traceability. Same-section context can ground references. An external paper cannot rewrite what the original PDF said.
Sources / provenance:
backend/stages/source_validation/checker.py
backend/stages/source_validation/README.md</a:t>
            </a:r>
            <a:endParaRPr lang="en-IN"/>
          </a:p>
        </p:txBody>
      </p:sp>
      <p:sp>
        <p:nvSpPr>
          <p:cNvPr id="4" name="Slide Number Placeholder 3"/>
          <p:cNvSpPr>
            <a:spLocks noGrp="1"/>
          </p:cNvSpPr>
          <p:nvPr>
            <p:ph type="sldNum" sz="quarter" idx="5"/>
          </p:nvPr>
        </p:nvSpPr>
        <p:spPr/>
        <p:txBody>
          <a:bodyPr/>
          <a:lstStyle/>
          <a:p>
            <a:fld id="{0971C3D5-CB15-4CE2-88A5-3F6C328CA762}" type="slidenum">
              <a:rPr lang="en-IN" smtClean="0"/>
              <a:t>9</a:t>
            </a:fld>
            <a:endParaRPr lang="en-IN"/>
          </a:p>
        </p:txBody>
      </p:sp>
    </p:spTree>
    <p:extLst>
      <p:ext uri="{BB962C8B-B14F-4D97-AF65-F5344CB8AC3E}">
        <p14:creationId xmlns:p14="http://schemas.microsoft.com/office/powerpoint/2010/main" val="13547823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an actual saved provisional connection. Its edges are candidate-b94349abb8c91a8caf655379f2989657 and candidate-28a98f11f70b00d6b6f99564ab4e5e09. Shared alignment maps mycotoxins to the contextual contamination entity. Second edge remains external_support_needs_review and is not asserted as validated. No direct human disease outcome is invented.
Sources / provenance:
ontology/.trust_graph/snapshot.json
ontology/.provisional_pathways/snapshot.json
ontology/Crop health and its global impacts on the components of food security/validation_runs.jsonl
Stage purpose: identity alignment followed by deterministic edge traversal. Related connected claims and standalone claims enter bounded assessment groups. The two displayed support/review states are retained historical case-study results after validation; they are not inputs required before provisional assembly. This does not infer a new transitive causal claim.</a:t>
            </a:r>
            <a:endParaRPr lang="en-IN"/>
          </a:p>
        </p:txBody>
      </p:sp>
      <p:sp>
        <p:nvSpPr>
          <p:cNvPr id="4" name="Slide Number Placeholder 3"/>
          <p:cNvSpPr>
            <a:spLocks noGrp="1"/>
          </p:cNvSpPr>
          <p:nvPr>
            <p:ph type="sldNum" sz="quarter" idx="5"/>
          </p:nvPr>
        </p:nvSpPr>
        <p:spPr/>
        <p:txBody>
          <a:bodyPr/>
          <a:lstStyle/>
          <a:p>
            <a:fld id="{0971C3D5-CB15-4CE2-88A5-3F6C328CA762}" type="slidenum">
              <a:rPr lang="en-IN" smtClean="0"/>
              <a:t>10</a:t>
            </a:fld>
            <a:endParaRPr lang="en-IN"/>
          </a:p>
        </p:txBody>
      </p:sp>
    </p:spTree>
    <p:extLst>
      <p:ext uri="{BB962C8B-B14F-4D97-AF65-F5344CB8AC3E}">
        <p14:creationId xmlns:p14="http://schemas.microsoft.com/office/powerpoint/2010/main" val="8345461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The search string is illustrative, not exact provider syntax. MiMo Flash prepares claim-specific queries; Europe PMC/OpenAlex provide independent discovery. Attached source citations resolve through bibliography links, DOI lookup and conservative Crossref matching. Usable resolved citations are additional to the independent search budget. No commercial generative-search service is used.
Sources / provenance:
backend/stages/query_planning/planner.py
backend/stages/literature_retrieval/workflow.py
backend/stages/literature_retrieval/clients.py</a:t>
            </a:r>
          </a:p>
        </p:txBody>
      </p:sp>
      <p:sp>
        <p:nvSpPr>
          <p:cNvPr id="4" name="Slide Number Placeholder 3"/>
          <p:cNvSpPr>
            <a:spLocks noGrp="1"/>
          </p:cNvSpPr>
          <p:nvPr>
            <p:ph type="sldNum" sz="quarter" idx="5"/>
          </p:nvPr>
        </p:nvSpPr>
        <p:spPr/>
        <p:txBody>
          <a:bodyPr/>
          <a:lstStyle/>
          <a:p>
            <a:fld id="{0971C3D5-CB15-4CE2-88A5-3F6C328CA762}" type="slidenum">
              <a:rPr lang="en-IN" smtClean="0"/>
              <a:t>11</a:t>
            </a:fld>
            <a:endParaRPr lang="en-IN"/>
          </a:p>
        </p:txBody>
      </p:sp>
    </p:spTree>
    <p:extLst>
      <p:ext uri="{BB962C8B-B14F-4D97-AF65-F5344CB8AC3E}">
        <p14:creationId xmlns:p14="http://schemas.microsoft.com/office/powerpoint/2010/main" val="7403766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Metadata ranking uses BGE embeddings and BM25 with bounded coverage/access hints, followed by MedCPT cross-encoder reranking. Ranking is not scientific verification. Fetch routes use Europe PMC XML, explicit public PDFs and indexed abstracts, retaining evidence level and unresolved retrieval state. A PDF-only record is not discarded solely for a missing abstract.
Sources / provenance:
backend/stages/evidence_ranking/articles.py
backend/stages/literature_retrieval/workflow.py
backend/stages/literature_retrieval/clients.py</a:t>
            </a:r>
          </a:p>
        </p:txBody>
      </p:sp>
      <p:sp>
        <p:nvSpPr>
          <p:cNvPr id="4" name="Slide Number Placeholder 3"/>
          <p:cNvSpPr>
            <a:spLocks noGrp="1"/>
          </p:cNvSpPr>
          <p:nvPr>
            <p:ph type="sldNum" sz="quarter" idx="5"/>
          </p:nvPr>
        </p:nvSpPr>
        <p:spPr/>
        <p:txBody>
          <a:bodyPr/>
          <a:lstStyle/>
          <a:p>
            <a:fld id="{0971C3D5-CB15-4CE2-88A5-3F6C328CA762}" type="slidenum">
              <a:rPr lang="en-IN" smtClean="0"/>
              <a:t>12</a:t>
            </a:fld>
            <a:endParaRPr lang="en-IN"/>
          </a:p>
        </p:txBody>
      </p:sp>
    </p:spTree>
    <p:extLst>
      <p:ext uri="{BB962C8B-B14F-4D97-AF65-F5344CB8AC3E}">
        <p14:creationId xmlns:p14="http://schemas.microsoft.com/office/powerpoint/2010/main" val="40582921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Sentence IDs and descriptors are illustrative, not literal source quotations. Chunks preserve paper/chunk/sentence identity. BGE plus lexical/section hints retrieves passage candidates; MedCPT reranks using the full claim with qualifiers and a neutral endpoint query. The model receives exact selected source text, not a generated passage summary. A retained chunk can supply multiple sentences.
Sources / provenance:
backend/stages/evidence_ranking/passages.py
backend/shared/evidence_index.py</a:t>
            </a:r>
            <a:endParaRPr lang="en-IN"/>
          </a:p>
        </p:txBody>
      </p:sp>
      <p:sp>
        <p:nvSpPr>
          <p:cNvPr id="4" name="Slide Number Placeholder 3"/>
          <p:cNvSpPr>
            <a:spLocks noGrp="1"/>
          </p:cNvSpPr>
          <p:nvPr>
            <p:ph type="sldNum" sz="quarter" idx="5"/>
          </p:nvPr>
        </p:nvSpPr>
        <p:spPr/>
        <p:txBody>
          <a:bodyPr/>
          <a:lstStyle/>
          <a:p>
            <a:fld id="{0971C3D5-CB15-4CE2-88A5-3F6C328CA762}" type="slidenum">
              <a:rPr lang="en-IN" smtClean="0"/>
              <a:t>13</a:t>
            </a:fld>
            <a:endParaRPr lang="en-IN"/>
          </a:p>
        </p:txBody>
      </p:sp>
    </p:spTree>
    <p:extLst>
      <p:ext uri="{BB962C8B-B14F-4D97-AF65-F5344CB8AC3E}">
        <p14:creationId xmlns:p14="http://schemas.microsoft.com/office/powerpoint/2010/main" val="19065776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Paper A and C1/C2 outcomes are illustrative teaching outputs, not newly measured case-study findings. DeepSeek assesses one paper against the relevant related claims, returning a distinct decision and paper-bound proof for each. Conditions, certainty, relation direction and finding origin remain claim-local. Evidence from one claim cannot fill a missing endpoint in another.
Sources / provenance:
backend/stages/trust_graph/judgement.py
backend/stages/external_validation/paper_proofs.py</a:t>
            </a:r>
            <a:endParaRPr lang="en-IN"/>
          </a:p>
        </p:txBody>
      </p:sp>
      <p:sp>
        <p:nvSpPr>
          <p:cNvPr id="4" name="Slide Number Placeholder 3"/>
          <p:cNvSpPr>
            <a:spLocks noGrp="1"/>
          </p:cNvSpPr>
          <p:nvPr>
            <p:ph type="sldNum" sz="quarter" idx="5"/>
          </p:nvPr>
        </p:nvSpPr>
        <p:spPr/>
        <p:txBody>
          <a:bodyPr/>
          <a:lstStyle/>
          <a:p>
            <a:fld id="{0971C3D5-CB15-4CE2-88A5-3F6C328CA762}" type="slidenum">
              <a:rPr lang="en-IN" smtClean="0"/>
              <a:t>14</a:t>
            </a:fld>
            <a:endParaRPr lang="en-IN"/>
          </a:p>
        </p:txBody>
      </p:sp>
    </p:spTree>
    <p:extLst>
      <p:ext uri="{BB962C8B-B14F-4D97-AF65-F5344CB8AC3E}">
        <p14:creationId xmlns:p14="http://schemas.microsoft.com/office/powerpoint/2010/main" val="38392649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code verifies paper/chunk/sentence ownership and literal selected source text; it does not judge scientific truth by keyword matching. DeBERTa NLI scores admitted evidence as premise versus the fixed claim as hypothesis. It is diagnostic only in trust_graph mode, remains optional at runtime and cannot promote a claim or add a trust vote. Source identities below are illustrative.
Sources / provenance:
backend/stages/external_validation/paper_proofs.py
backend/providers/nli.py
backend/stages/trust_graph/workflow.py</a:t>
            </a:r>
            <a:endParaRPr lang="en-IN"/>
          </a:p>
        </p:txBody>
      </p:sp>
      <p:sp>
        <p:nvSpPr>
          <p:cNvPr id="4" name="Slide Number Placeholder 3"/>
          <p:cNvSpPr>
            <a:spLocks noGrp="1"/>
          </p:cNvSpPr>
          <p:nvPr>
            <p:ph type="sldNum" sz="quarter" idx="5"/>
          </p:nvPr>
        </p:nvSpPr>
        <p:spPr/>
        <p:txBody>
          <a:bodyPr/>
          <a:lstStyle/>
          <a:p>
            <a:fld id="{0971C3D5-CB15-4CE2-88A5-3F6C328CA762}" type="slidenum">
              <a:rPr lang="en-IN" smtClean="0"/>
              <a:t>15</a:t>
            </a:fld>
            <a:endParaRPr lang="en-IN"/>
          </a:p>
        </p:txBody>
      </p:sp>
    </p:spTree>
    <p:extLst>
      <p:ext uri="{BB962C8B-B14F-4D97-AF65-F5344CB8AC3E}">
        <p14:creationId xmlns:p14="http://schemas.microsoft.com/office/powerpoint/2010/main" val="12502569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three input paper labels are illustrative, not a fixed number or a live judgement. MiMo v2.6 Pro receives selected admitted findings and their exact evidence together for the active claim group. It assesses each claim, contextual entity types, project scope and actual within-group adjacent connection compatibility. Compatible links do not establish complete end-to-end causation.
Sources / provenance:
backend/stages/trust_graph/judgement.py
backend/stages/external_validation/synthesis.py</a:t>
            </a:r>
            <a:endParaRPr lang="en-IN"/>
          </a:p>
        </p:txBody>
      </p:sp>
      <p:sp>
        <p:nvSpPr>
          <p:cNvPr id="4" name="Slide Number Placeholder 3"/>
          <p:cNvSpPr>
            <a:spLocks noGrp="1"/>
          </p:cNvSpPr>
          <p:nvPr>
            <p:ph type="sldNum" sz="quarter" idx="5"/>
          </p:nvPr>
        </p:nvSpPr>
        <p:spPr/>
        <p:txBody>
          <a:bodyPr/>
          <a:lstStyle/>
          <a:p>
            <a:fld id="{0971C3D5-CB15-4CE2-88A5-3F6C328CA762}" type="slidenum">
              <a:rPr lang="en-IN" smtClean="0"/>
              <a:t>16</a:t>
            </a:fld>
            <a:endParaRPr lang="en-IN"/>
          </a:p>
        </p:txBody>
      </p:sp>
    </p:spTree>
    <p:extLst>
      <p:ext uri="{BB962C8B-B14F-4D97-AF65-F5344CB8AC3E}">
        <p14:creationId xmlns:p14="http://schemas.microsoft.com/office/powerpoint/2010/main" val="28704414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Exact saved trust record for candidate-b94349abb8c91a8caf655379f2989657: support_count=3, contradiction_count=0, unresolved_count=4, score=3, assessment_complete=true. Five positive document findings reduce to three recorded independent original-study groups; not five independent votes. The score is not calibrated confidence. Scope/source/proof requirements determine validated graph admission separately.
Sources / provenance:
backend/stages/trust_graph/ledger.py
ontology/Crop health and its global impacts on the components of food security/validation_runs.jsonl
The original +3, three supporting groups, zero contradicting groups and four unresolved paper findings are retained from the saved case-study snapshot. Only distinct original-result study groups affect the balance; related-path contribution is separate. Final graph admission is a projection over evidence requirements and semantic/source eligibility, not a simple positive-score threshold.</a:t>
            </a:r>
            <a:endParaRPr lang="en-IN"/>
          </a:p>
        </p:txBody>
      </p:sp>
      <p:sp>
        <p:nvSpPr>
          <p:cNvPr id="4" name="Slide Number Placeholder 3"/>
          <p:cNvSpPr>
            <a:spLocks noGrp="1"/>
          </p:cNvSpPr>
          <p:nvPr>
            <p:ph type="sldNum" sz="quarter" idx="5"/>
          </p:nvPr>
        </p:nvSpPr>
        <p:spPr/>
        <p:txBody>
          <a:bodyPr/>
          <a:lstStyle/>
          <a:p>
            <a:fld id="{0971C3D5-CB15-4CE2-88A5-3F6C328CA762}" type="slidenum">
              <a:rPr lang="en-IN" smtClean="0"/>
              <a:t>17</a:t>
            </a:fld>
            <a:endParaRPr lang="en-IN"/>
          </a:p>
        </p:txBody>
      </p:sp>
    </p:spTree>
    <p:extLst>
      <p:ext uri="{BB962C8B-B14F-4D97-AF65-F5344CB8AC3E}">
        <p14:creationId xmlns:p14="http://schemas.microsoft.com/office/powerpoint/2010/main" val="23438528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Snapshot read 28 October 2026 local time. Saved run completed_at=2026-10-27T19:04:12+00:00. Source outcomes: 46 entailed, 3 needs_review out of 49. External outcomes sum to 46: [["Independent supporting evidence", 8], ["Source-reference support", 1], ["Review required", 26], ["Outside project scope", 7], ["Contradiction / contested", 2], ["External evidence not found", 1], ["Retrieval pending", 1]]. 45 completed assessments includes review and scope decisions; it does not mean 45 accepted claims. Retained external graph has 8 edges / 15 entities. These are system outputs, not independently adjudicated accuracy or precision measurements.
Sources / provenance:
ontology/Crop health and its global impacts on the components of food security/summary.json
ontology/Crop health and its global impacts on the components of food security/source_validation.jsonl
ontology/Crop health and its global impacts on the components of food security/validation_runs.jsonl</a:t>
            </a:r>
            <a:endParaRPr lang="en-IN"/>
          </a:p>
        </p:txBody>
      </p:sp>
      <p:sp>
        <p:nvSpPr>
          <p:cNvPr id="4" name="Slide Number Placeholder 3"/>
          <p:cNvSpPr>
            <a:spLocks noGrp="1"/>
          </p:cNvSpPr>
          <p:nvPr>
            <p:ph type="sldNum" sz="quarter" idx="5"/>
          </p:nvPr>
        </p:nvSpPr>
        <p:spPr/>
        <p:txBody>
          <a:bodyPr/>
          <a:lstStyle/>
          <a:p>
            <a:fld id="{0971C3D5-CB15-4CE2-88A5-3F6C328CA762}" type="slidenum">
              <a:rPr lang="en-IN" smtClean="0"/>
              <a:t>18</a:t>
            </a:fld>
            <a:endParaRPr lang="en-IN"/>
          </a:p>
        </p:txBody>
      </p:sp>
    </p:spTree>
    <p:extLst>
      <p:ext uri="{BB962C8B-B14F-4D97-AF65-F5344CB8AC3E}">
        <p14:creationId xmlns:p14="http://schemas.microsoft.com/office/powerpoint/2010/main" val="38512084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an editable schematic of current interface views, not a captured screenshot. Metric values are from the same saved Crop Health snapshot as slide 11. Graph exploration supports hypothesis inspection; the schematic does not claim that an entire causal pathway has been demonstrated.
Sources / provenance:
frontend/src/components/graph/PathwayPanel.jsx
frontend/src/components/graph/PathwayCards.jsx
frontend/src/components/claims/TrustEvidence.jsx
ontology/Crop health and its global impacts on the components of food security/summary.json</a:t>
            </a:r>
            <a:endParaRPr lang="en-IN"/>
          </a:p>
        </p:txBody>
      </p:sp>
      <p:sp>
        <p:nvSpPr>
          <p:cNvPr id="4" name="Slide Number Placeholder 3"/>
          <p:cNvSpPr>
            <a:spLocks noGrp="1"/>
          </p:cNvSpPr>
          <p:nvPr>
            <p:ph type="sldNum" sz="quarter" idx="5"/>
          </p:nvPr>
        </p:nvSpPr>
        <p:spPr/>
        <p:txBody>
          <a:bodyPr/>
          <a:lstStyle/>
          <a:p>
            <a:fld id="{0971C3D5-CB15-4CE2-88A5-3F6C328CA762}" type="slidenum">
              <a:rPr lang="en-IN" smtClean="0"/>
              <a:t>19</a:t>
            </a:fld>
            <a:endParaRPr lang="en-IN"/>
          </a:p>
        </p:txBody>
      </p:sp>
    </p:spTree>
    <p:extLst>
      <p:ext uri="{BB962C8B-B14F-4D97-AF65-F5344CB8AC3E}">
        <p14:creationId xmlns:p14="http://schemas.microsoft.com/office/powerpoint/2010/main" val="191975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9F814-C7CC-D75E-B52F-16CC95961E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53DDA4A-D337-EB9A-AAC9-4405B9CE4B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80C0807-DF36-0B01-7CD5-6507F28D3811}"/>
              </a:ext>
            </a:extLst>
          </p:cNvPr>
          <p:cNvSpPr>
            <a:spLocks noGrp="1"/>
          </p:cNvSpPr>
          <p:nvPr>
            <p:ph type="dt" sz="half" idx="10"/>
          </p:nvPr>
        </p:nvSpPr>
        <p:spPr/>
        <p:txBody>
          <a:bodyPr/>
          <a:lstStyle/>
          <a:p>
            <a:fld id="{8776DB0F-5A05-460E-B5EF-BC4E1056750B}" type="datetimeFigureOut">
              <a:rPr lang="en-IN" smtClean="0"/>
              <a:t>28-10-2026</a:t>
            </a:fld>
            <a:endParaRPr lang="en-IN"/>
          </a:p>
        </p:txBody>
      </p:sp>
      <p:sp>
        <p:nvSpPr>
          <p:cNvPr id="5" name="Footer Placeholder 4">
            <a:extLst>
              <a:ext uri="{FF2B5EF4-FFF2-40B4-BE49-F238E27FC236}">
                <a16:creationId xmlns:a16="http://schemas.microsoft.com/office/drawing/2014/main" id="{46B58871-D85E-DBF0-668A-4E215CDDE9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467C95-D99C-E9B1-75B4-453AB8FC1885}"/>
              </a:ext>
            </a:extLst>
          </p:cNvPr>
          <p:cNvSpPr>
            <a:spLocks noGrp="1"/>
          </p:cNvSpPr>
          <p:nvPr>
            <p:ph type="sldNum" sz="quarter" idx="12"/>
          </p:nvPr>
        </p:nvSpPr>
        <p:spPr/>
        <p:txBody>
          <a:bodyPr/>
          <a:lstStyle/>
          <a:p>
            <a:fld id="{92D0E1ED-6436-400E-B500-8139F42BEDB0}" type="slidenum">
              <a:rPr lang="en-IN" smtClean="0"/>
              <a:t>‹#›</a:t>
            </a:fld>
            <a:endParaRPr lang="en-IN"/>
          </a:p>
        </p:txBody>
      </p:sp>
    </p:spTree>
    <p:extLst>
      <p:ext uri="{BB962C8B-B14F-4D97-AF65-F5344CB8AC3E}">
        <p14:creationId xmlns:p14="http://schemas.microsoft.com/office/powerpoint/2010/main" val="1057501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9229F-7ABB-C4C2-6553-8F20F5121F3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3E42784-3E81-D490-A572-CB31FB208A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5A43F0-2DD0-F366-3942-EF2FCB897638}"/>
              </a:ext>
            </a:extLst>
          </p:cNvPr>
          <p:cNvSpPr>
            <a:spLocks noGrp="1"/>
          </p:cNvSpPr>
          <p:nvPr>
            <p:ph type="dt" sz="half" idx="10"/>
          </p:nvPr>
        </p:nvSpPr>
        <p:spPr/>
        <p:txBody>
          <a:bodyPr/>
          <a:lstStyle/>
          <a:p>
            <a:fld id="{8776DB0F-5A05-460E-B5EF-BC4E1056750B}" type="datetimeFigureOut">
              <a:rPr lang="en-IN" smtClean="0"/>
              <a:t>28-10-2026</a:t>
            </a:fld>
            <a:endParaRPr lang="en-IN"/>
          </a:p>
        </p:txBody>
      </p:sp>
      <p:sp>
        <p:nvSpPr>
          <p:cNvPr id="5" name="Footer Placeholder 4">
            <a:extLst>
              <a:ext uri="{FF2B5EF4-FFF2-40B4-BE49-F238E27FC236}">
                <a16:creationId xmlns:a16="http://schemas.microsoft.com/office/drawing/2014/main" id="{D0462BA6-FEDA-2365-A35A-811D5EE004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54BEA7-1538-4975-DD38-79D8A7C4FABA}"/>
              </a:ext>
            </a:extLst>
          </p:cNvPr>
          <p:cNvSpPr>
            <a:spLocks noGrp="1"/>
          </p:cNvSpPr>
          <p:nvPr>
            <p:ph type="sldNum" sz="quarter" idx="12"/>
          </p:nvPr>
        </p:nvSpPr>
        <p:spPr/>
        <p:txBody>
          <a:bodyPr/>
          <a:lstStyle/>
          <a:p>
            <a:fld id="{92D0E1ED-6436-400E-B500-8139F42BEDB0}" type="slidenum">
              <a:rPr lang="en-IN" smtClean="0"/>
              <a:t>‹#›</a:t>
            </a:fld>
            <a:endParaRPr lang="en-IN"/>
          </a:p>
        </p:txBody>
      </p:sp>
    </p:spTree>
    <p:extLst>
      <p:ext uri="{BB962C8B-B14F-4D97-AF65-F5344CB8AC3E}">
        <p14:creationId xmlns:p14="http://schemas.microsoft.com/office/powerpoint/2010/main" val="2506914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2CB16-2AFC-D348-E4EE-5E498482E0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6198A0B-0A91-8683-1E14-0578CB11481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2C3275-1709-47DF-7C8A-41CA9A3E29A5}"/>
              </a:ext>
            </a:extLst>
          </p:cNvPr>
          <p:cNvSpPr>
            <a:spLocks noGrp="1"/>
          </p:cNvSpPr>
          <p:nvPr>
            <p:ph type="dt" sz="half" idx="10"/>
          </p:nvPr>
        </p:nvSpPr>
        <p:spPr/>
        <p:txBody>
          <a:bodyPr/>
          <a:lstStyle/>
          <a:p>
            <a:fld id="{8776DB0F-5A05-460E-B5EF-BC4E1056750B}" type="datetimeFigureOut">
              <a:rPr lang="en-IN" smtClean="0"/>
              <a:t>28-10-2026</a:t>
            </a:fld>
            <a:endParaRPr lang="en-IN"/>
          </a:p>
        </p:txBody>
      </p:sp>
      <p:sp>
        <p:nvSpPr>
          <p:cNvPr id="5" name="Footer Placeholder 4">
            <a:extLst>
              <a:ext uri="{FF2B5EF4-FFF2-40B4-BE49-F238E27FC236}">
                <a16:creationId xmlns:a16="http://schemas.microsoft.com/office/drawing/2014/main" id="{E726FD25-110D-9408-DC3D-B826CD1CE0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AA00E3-F3FD-0F9F-1733-376F04A8D48C}"/>
              </a:ext>
            </a:extLst>
          </p:cNvPr>
          <p:cNvSpPr>
            <a:spLocks noGrp="1"/>
          </p:cNvSpPr>
          <p:nvPr>
            <p:ph type="sldNum" sz="quarter" idx="12"/>
          </p:nvPr>
        </p:nvSpPr>
        <p:spPr/>
        <p:txBody>
          <a:bodyPr/>
          <a:lstStyle/>
          <a:p>
            <a:fld id="{92D0E1ED-6436-400E-B500-8139F42BEDB0}" type="slidenum">
              <a:rPr lang="en-IN" smtClean="0"/>
              <a:t>‹#›</a:t>
            </a:fld>
            <a:endParaRPr lang="en-IN"/>
          </a:p>
        </p:txBody>
      </p:sp>
    </p:spTree>
    <p:extLst>
      <p:ext uri="{BB962C8B-B14F-4D97-AF65-F5344CB8AC3E}">
        <p14:creationId xmlns:p14="http://schemas.microsoft.com/office/powerpoint/2010/main" val="2121460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A95AC-6851-607B-449C-7DA6D6EEF9C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A352E5-02B8-7263-3FC8-AC49148E2F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87B866B-4AE5-8410-1A52-B18DEE9E59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4AFC7BE-6E07-5FF4-8B11-CF045482F3A8}"/>
              </a:ext>
            </a:extLst>
          </p:cNvPr>
          <p:cNvSpPr>
            <a:spLocks noGrp="1"/>
          </p:cNvSpPr>
          <p:nvPr>
            <p:ph type="dt" sz="half" idx="10"/>
          </p:nvPr>
        </p:nvSpPr>
        <p:spPr/>
        <p:txBody>
          <a:bodyPr/>
          <a:lstStyle/>
          <a:p>
            <a:fld id="{8776DB0F-5A05-460E-B5EF-BC4E1056750B}" type="datetimeFigureOut">
              <a:rPr lang="en-IN" smtClean="0"/>
              <a:t>28-10-2026</a:t>
            </a:fld>
            <a:endParaRPr lang="en-IN"/>
          </a:p>
        </p:txBody>
      </p:sp>
      <p:sp>
        <p:nvSpPr>
          <p:cNvPr id="6" name="Footer Placeholder 5">
            <a:extLst>
              <a:ext uri="{FF2B5EF4-FFF2-40B4-BE49-F238E27FC236}">
                <a16:creationId xmlns:a16="http://schemas.microsoft.com/office/drawing/2014/main" id="{02CEA277-E006-E313-EB4E-24BBA56255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E33E63A-198A-50A5-53B1-9E59743F0FB3}"/>
              </a:ext>
            </a:extLst>
          </p:cNvPr>
          <p:cNvSpPr>
            <a:spLocks noGrp="1"/>
          </p:cNvSpPr>
          <p:nvPr>
            <p:ph type="sldNum" sz="quarter" idx="12"/>
          </p:nvPr>
        </p:nvSpPr>
        <p:spPr/>
        <p:txBody>
          <a:bodyPr/>
          <a:lstStyle/>
          <a:p>
            <a:fld id="{92D0E1ED-6436-400E-B500-8139F42BEDB0}" type="slidenum">
              <a:rPr lang="en-IN" smtClean="0"/>
              <a:t>‹#›</a:t>
            </a:fld>
            <a:endParaRPr lang="en-IN"/>
          </a:p>
        </p:txBody>
      </p:sp>
    </p:spTree>
    <p:extLst>
      <p:ext uri="{BB962C8B-B14F-4D97-AF65-F5344CB8AC3E}">
        <p14:creationId xmlns:p14="http://schemas.microsoft.com/office/powerpoint/2010/main" val="1398738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6F6F2-40D3-CF99-C530-5F99D538F18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768BE5-276A-BE43-B931-19F84DFE58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9FC279-5DC7-D8BB-BD56-55A9BE8F78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A6AE20D-EF6B-C1A6-A280-5641D49E9B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C99D01-1DB4-33B8-1D91-DA1781B286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505C908-8919-65C3-035B-5919FA2CAA5D}"/>
              </a:ext>
            </a:extLst>
          </p:cNvPr>
          <p:cNvSpPr>
            <a:spLocks noGrp="1"/>
          </p:cNvSpPr>
          <p:nvPr>
            <p:ph type="dt" sz="half" idx="10"/>
          </p:nvPr>
        </p:nvSpPr>
        <p:spPr/>
        <p:txBody>
          <a:bodyPr/>
          <a:lstStyle/>
          <a:p>
            <a:fld id="{8776DB0F-5A05-460E-B5EF-BC4E1056750B}" type="datetimeFigureOut">
              <a:rPr lang="en-IN" smtClean="0"/>
              <a:t>28-10-2026</a:t>
            </a:fld>
            <a:endParaRPr lang="en-IN"/>
          </a:p>
        </p:txBody>
      </p:sp>
      <p:sp>
        <p:nvSpPr>
          <p:cNvPr id="8" name="Footer Placeholder 7">
            <a:extLst>
              <a:ext uri="{FF2B5EF4-FFF2-40B4-BE49-F238E27FC236}">
                <a16:creationId xmlns:a16="http://schemas.microsoft.com/office/drawing/2014/main" id="{0862C4B9-3C79-0B38-83AC-23A552B996D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F20F069-48CD-1DA0-E580-C72A60E8DD33}"/>
              </a:ext>
            </a:extLst>
          </p:cNvPr>
          <p:cNvSpPr>
            <a:spLocks noGrp="1"/>
          </p:cNvSpPr>
          <p:nvPr>
            <p:ph type="sldNum" sz="quarter" idx="12"/>
          </p:nvPr>
        </p:nvSpPr>
        <p:spPr/>
        <p:txBody>
          <a:bodyPr/>
          <a:lstStyle/>
          <a:p>
            <a:fld id="{92D0E1ED-6436-400E-B500-8139F42BEDB0}" type="slidenum">
              <a:rPr lang="en-IN" smtClean="0"/>
              <a:t>‹#›</a:t>
            </a:fld>
            <a:endParaRPr lang="en-IN"/>
          </a:p>
        </p:txBody>
      </p:sp>
    </p:spTree>
    <p:extLst>
      <p:ext uri="{BB962C8B-B14F-4D97-AF65-F5344CB8AC3E}">
        <p14:creationId xmlns:p14="http://schemas.microsoft.com/office/powerpoint/2010/main" val="2591043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9D264-B752-3A40-0E49-1CFADC175B6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CBB8600-135C-E2E6-A68F-B4932FB3F3DD}"/>
              </a:ext>
            </a:extLst>
          </p:cNvPr>
          <p:cNvSpPr>
            <a:spLocks noGrp="1"/>
          </p:cNvSpPr>
          <p:nvPr>
            <p:ph type="dt" sz="half" idx="10"/>
          </p:nvPr>
        </p:nvSpPr>
        <p:spPr/>
        <p:txBody>
          <a:bodyPr/>
          <a:lstStyle/>
          <a:p>
            <a:fld id="{8776DB0F-5A05-460E-B5EF-BC4E1056750B}" type="datetimeFigureOut">
              <a:rPr lang="en-IN" smtClean="0"/>
              <a:t>28-10-2026</a:t>
            </a:fld>
            <a:endParaRPr lang="en-IN"/>
          </a:p>
        </p:txBody>
      </p:sp>
      <p:sp>
        <p:nvSpPr>
          <p:cNvPr id="4" name="Footer Placeholder 3">
            <a:extLst>
              <a:ext uri="{FF2B5EF4-FFF2-40B4-BE49-F238E27FC236}">
                <a16:creationId xmlns:a16="http://schemas.microsoft.com/office/drawing/2014/main" id="{59D92604-A696-A301-419F-C0AA3FC6C10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BE8DC99-12A2-57FD-80AD-73ADA4F5A035}"/>
              </a:ext>
            </a:extLst>
          </p:cNvPr>
          <p:cNvSpPr>
            <a:spLocks noGrp="1"/>
          </p:cNvSpPr>
          <p:nvPr>
            <p:ph type="sldNum" sz="quarter" idx="12"/>
          </p:nvPr>
        </p:nvSpPr>
        <p:spPr/>
        <p:txBody>
          <a:bodyPr/>
          <a:lstStyle/>
          <a:p>
            <a:fld id="{92D0E1ED-6436-400E-B500-8139F42BEDB0}" type="slidenum">
              <a:rPr lang="en-IN" smtClean="0"/>
              <a:t>‹#›</a:t>
            </a:fld>
            <a:endParaRPr lang="en-IN"/>
          </a:p>
        </p:txBody>
      </p:sp>
    </p:spTree>
    <p:extLst>
      <p:ext uri="{BB962C8B-B14F-4D97-AF65-F5344CB8AC3E}">
        <p14:creationId xmlns:p14="http://schemas.microsoft.com/office/powerpoint/2010/main" val="9041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09E9CE-81C9-1FBC-BCB7-00C408929B65}"/>
              </a:ext>
            </a:extLst>
          </p:cNvPr>
          <p:cNvSpPr>
            <a:spLocks noGrp="1"/>
          </p:cNvSpPr>
          <p:nvPr>
            <p:ph type="dt" sz="half" idx="10"/>
          </p:nvPr>
        </p:nvSpPr>
        <p:spPr/>
        <p:txBody>
          <a:bodyPr/>
          <a:lstStyle/>
          <a:p>
            <a:fld id="{8776DB0F-5A05-460E-B5EF-BC4E1056750B}" type="datetimeFigureOut">
              <a:rPr lang="en-IN" smtClean="0"/>
              <a:t>28-10-2026</a:t>
            </a:fld>
            <a:endParaRPr lang="en-IN"/>
          </a:p>
        </p:txBody>
      </p:sp>
      <p:sp>
        <p:nvSpPr>
          <p:cNvPr id="3" name="Footer Placeholder 2">
            <a:extLst>
              <a:ext uri="{FF2B5EF4-FFF2-40B4-BE49-F238E27FC236}">
                <a16:creationId xmlns:a16="http://schemas.microsoft.com/office/drawing/2014/main" id="{8C69BA70-26D0-F628-6C09-2D10736F71B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921DDCD-065E-C037-F8CA-1F6CA6266CB2}"/>
              </a:ext>
            </a:extLst>
          </p:cNvPr>
          <p:cNvSpPr>
            <a:spLocks noGrp="1"/>
          </p:cNvSpPr>
          <p:nvPr>
            <p:ph type="sldNum" sz="quarter" idx="12"/>
          </p:nvPr>
        </p:nvSpPr>
        <p:spPr/>
        <p:txBody>
          <a:bodyPr/>
          <a:lstStyle/>
          <a:p>
            <a:fld id="{92D0E1ED-6436-400E-B500-8139F42BEDB0}" type="slidenum">
              <a:rPr lang="en-IN" smtClean="0"/>
              <a:t>‹#›</a:t>
            </a:fld>
            <a:endParaRPr lang="en-IN"/>
          </a:p>
        </p:txBody>
      </p:sp>
    </p:spTree>
    <p:extLst>
      <p:ext uri="{BB962C8B-B14F-4D97-AF65-F5344CB8AC3E}">
        <p14:creationId xmlns:p14="http://schemas.microsoft.com/office/powerpoint/2010/main" val="5427211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8AC2F-BA77-0245-ACE1-505D6F50AB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414F5AA-66DB-2CE5-AC20-FB30833766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2AC9BD7-30E4-4D79-BA18-61FAD8E75A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7BED7F-A305-3933-458A-C3DDA148C53D}"/>
              </a:ext>
            </a:extLst>
          </p:cNvPr>
          <p:cNvSpPr>
            <a:spLocks noGrp="1"/>
          </p:cNvSpPr>
          <p:nvPr>
            <p:ph type="dt" sz="half" idx="10"/>
          </p:nvPr>
        </p:nvSpPr>
        <p:spPr/>
        <p:txBody>
          <a:bodyPr/>
          <a:lstStyle/>
          <a:p>
            <a:fld id="{8776DB0F-5A05-460E-B5EF-BC4E1056750B}" type="datetimeFigureOut">
              <a:rPr lang="en-IN" smtClean="0"/>
              <a:t>28-10-2026</a:t>
            </a:fld>
            <a:endParaRPr lang="en-IN"/>
          </a:p>
        </p:txBody>
      </p:sp>
      <p:sp>
        <p:nvSpPr>
          <p:cNvPr id="6" name="Footer Placeholder 5">
            <a:extLst>
              <a:ext uri="{FF2B5EF4-FFF2-40B4-BE49-F238E27FC236}">
                <a16:creationId xmlns:a16="http://schemas.microsoft.com/office/drawing/2014/main" id="{F297C254-CEE8-108C-BAC7-490E541B52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1DDF70-01BE-7719-8306-B3C5861FE860}"/>
              </a:ext>
            </a:extLst>
          </p:cNvPr>
          <p:cNvSpPr>
            <a:spLocks noGrp="1"/>
          </p:cNvSpPr>
          <p:nvPr>
            <p:ph type="sldNum" sz="quarter" idx="12"/>
          </p:nvPr>
        </p:nvSpPr>
        <p:spPr/>
        <p:txBody>
          <a:bodyPr/>
          <a:lstStyle/>
          <a:p>
            <a:fld id="{92D0E1ED-6436-400E-B500-8139F42BEDB0}" type="slidenum">
              <a:rPr lang="en-IN" smtClean="0"/>
              <a:t>‹#›</a:t>
            </a:fld>
            <a:endParaRPr lang="en-IN"/>
          </a:p>
        </p:txBody>
      </p:sp>
    </p:spTree>
    <p:extLst>
      <p:ext uri="{BB962C8B-B14F-4D97-AF65-F5344CB8AC3E}">
        <p14:creationId xmlns:p14="http://schemas.microsoft.com/office/powerpoint/2010/main" val="1957581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A417A-3AB9-49A2-C2D7-15F773701B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356D025-5215-C6E1-E772-8627D10D7DB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1344537-DB1A-67C9-3973-7297C35AD5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94C07A-0CC1-922E-9184-F54C38F2843A}"/>
              </a:ext>
            </a:extLst>
          </p:cNvPr>
          <p:cNvSpPr>
            <a:spLocks noGrp="1"/>
          </p:cNvSpPr>
          <p:nvPr>
            <p:ph type="dt" sz="half" idx="10"/>
          </p:nvPr>
        </p:nvSpPr>
        <p:spPr/>
        <p:txBody>
          <a:bodyPr/>
          <a:lstStyle/>
          <a:p>
            <a:fld id="{8776DB0F-5A05-460E-B5EF-BC4E1056750B}" type="datetimeFigureOut">
              <a:rPr lang="en-IN" smtClean="0"/>
              <a:t>28-10-2026</a:t>
            </a:fld>
            <a:endParaRPr lang="en-IN"/>
          </a:p>
        </p:txBody>
      </p:sp>
      <p:sp>
        <p:nvSpPr>
          <p:cNvPr id="6" name="Footer Placeholder 5">
            <a:extLst>
              <a:ext uri="{FF2B5EF4-FFF2-40B4-BE49-F238E27FC236}">
                <a16:creationId xmlns:a16="http://schemas.microsoft.com/office/drawing/2014/main" id="{DBB9AA5D-3E0C-9065-682B-0B398E5160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6CDACD2-A3BF-2378-4D25-B26291D05F69}"/>
              </a:ext>
            </a:extLst>
          </p:cNvPr>
          <p:cNvSpPr>
            <a:spLocks noGrp="1"/>
          </p:cNvSpPr>
          <p:nvPr>
            <p:ph type="sldNum" sz="quarter" idx="12"/>
          </p:nvPr>
        </p:nvSpPr>
        <p:spPr/>
        <p:txBody>
          <a:bodyPr/>
          <a:lstStyle/>
          <a:p>
            <a:fld id="{92D0E1ED-6436-400E-B500-8139F42BEDB0}" type="slidenum">
              <a:rPr lang="en-IN" smtClean="0"/>
              <a:t>‹#›</a:t>
            </a:fld>
            <a:endParaRPr lang="en-IN"/>
          </a:p>
        </p:txBody>
      </p:sp>
    </p:spTree>
    <p:extLst>
      <p:ext uri="{BB962C8B-B14F-4D97-AF65-F5344CB8AC3E}">
        <p14:creationId xmlns:p14="http://schemas.microsoft.com/office/powerpoint/2010/main" val="1642223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3647A-61DD-B739-3ECA-4136072548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0F5FAF6-FEB3-0524-4961-9B6B84C1F8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87EDFA-BCF1-5244-D757-7551CF9FA908}"/>
              </a:ext>
            </a:extLst>
          </p:cNvPr>
          <p:cNvSpPr>
            <a:spLocks noGrp="1"/>
          </p:cNvSpPr>
          <p:nvPr>
            <p:ph type="dt" sz="half" idx="10"/>
          </p:nvPr>
        </p:nvSpPr>
        <p:spPr/>
        <p:txBody>
          <a:bodyPr/>
          <a:lstStyle/>
          <a:p>
            <a:fld id="{8776DB0F-5A05-460E-B5EF-BC4E1056750B}" type="datetimeFigureOut">
              <a:rPr lang="en-IN" smtClean="0"/>
              <a:t>28-10-2026</a:t>
            </a:fld>
            <a:endParaRPr lang="en-IN"/>
          </a:p>
        </p:txBody>
      </p:sp>
      <p:sp>
        <p:nvSpPr>
          <p:cNvPr id="5" name="Footer Placeholder 4">
            <a:extLst>
              <a:ext uri="{FF2B5EF4-FFF2-40B4-BE49-F238E27FC236}">
                <a16:creationId xmlns:a16="http://schemas.microsoft.com/office/drawing/2014/main" id="{C097FDD2-7881-2AEA-3E51-3D631714C7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26BB50-BDC3-1A48-3EFB-2C1DC2C60ABA}"/>
              </a:ext>
            </a:extLst>
          </p:cNvPr>
          <p:cNvSpPr>
            <a:spLocks noGrp="1"/>
          </p:cNvSpPr>
          <p:nvPr>
            <p:ph type="sldNum" sz="quarter" idx="12"/>
          </p:nvPr>
        </p:nvSpPr>
        <p:spPr/>
        <p:txBody>
          <a:bodyPr/>
          <a:lstStyle/>
          <a:p>
            <a:fld id="{92D0E1ED-6436-400E-B500-8139F42BEDB0}" type="slidenum">
              <a:rPr lang="en-IN" smtClean="0"/>
              <a:t>‹#›</a:t>
            </a:fld>
            <a:endParaRPr lang="en-IN"/>
          </a:p>
        </p:txBody>
      </p:sp>
    </p:spTree>
    <p:extLst>
      <p:ext uri="{BB962C8B-B14F-4D97-AF65-F5344CB8AC3E}">
        <p14:creationId xmlns:p14="http://schemas.microsoft.com/office/powerpoint/2010/main" val="3455026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01979F-F199-C36F-5630-5CF1957792E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4CC62F2-2BC0-CD5C-F6F0-423CD537F2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AC9C0A-9A77-C3B2-335D-14ED2900B754}"/>
              </a:ext>
            </a:extLst>
          </p:cNvPr>
          <p:cNvSpPr>
            <a:spLocks noGrp="1"/>
          </p:cNvSpPr>
          <p:nvPr>
            <p:ph type="dt" sz="half" idx="10"/>
          </p:nvPr>
        </p:nvSpPr>
        <p:spPr/>
        <p:txBody>
          <a:bodyPr/>
          <a:lstStyle/>
          <a:p>
            <a:fld id="{8776DB0F-5A05-460E-B5EF-BC4E1056750B}" type="datetimeFigureOut">
              <a:rPr lang="en-IN" smtClean="0"/>
              <a:t>28-10-2026</a:t>
            </a:fld>
            <a:endParaRPr lang="en-IN"/>
          </a:p>
        </p:txBody>
      </p:sp>
      <p:sp>
        <p:nvSpPr>
          <p:cNvPr id="5" name="Footer Placeholder 4">
            <a:extLst>
              <a:ext uri="{FF2B5EF4-FFF2-40B4-BE49-F238E27FC236}">
                <a16:creationId xmlns:a16="http://schemas.microsoft.com/office/drawing/2014/main" id="{A64742B1-E2C9-2BE0-9084-C94069E109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D79BC3-DA2A-D19F-9E1C-47D42FC3379C}"/>
              </a:ext>
            </a:extLst>
          </p:cNvPr>
          <p:cNvSpPr>
            <a:spLocks noGrp="1"/>
          </p:cNvSpPr>
          <p:nvPr>
            <p:ph type="sldNum" sz="quarter" idx="12"/>
          </p:nvPr>
        </p:nvSpPr>
        <p:spPr/>
        <p:txBody>
          <a:bodyPr/>
          <a:lstStyle/>
          <a:p>
            <a:fld id="{92D0E1ED-6436-400E-B500-8139F42BEDB0}" type="slidenum">
              <a:rPr lang="en-IN" smtClean="0"/>
              <a:t>‹#›</a:t>
            </a:fld>
            <a:endParaRPr lang="en-IN"/>
          </a:p>
        </p:txBody>
      </p:sp>
    </p:spTree>
    <p:extLst>
      <p:ext uri="{BB962C8B-B14F-4D97-AF65-F5344CB8AC3E}">
        <p14:creationId xmlns:p14="http://schemas.microsoft.com/office/powerpoint/2010/main" val="2378151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F50E5E-EA56-66AA-A40A-7137158E15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31109D7-3FBE-48D1-C457-7444345E76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F22DB7-7823-FA2C-D3D2-C85C42B4F6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76DB0F-5A05-460E-B5EF-BC4E1056750B}" type="datetimeFigureOut">
              <a:rPr lang="en-IN" smtClean="0"/>
              <a:t>28-10-2026</a:t>
            </a:fld>
            <a:endParaRPr lang="en-IN"/>
          </a:p>
        </p:txBody>
      </p:sp>
      <p:sp>
        <p:nvSpPr>
          <p:cNvPr id="5" name="Footer Placeholder 4">
            <a:extLst>
              <a:ext uri="{FF2B5EF4-FFF2-40B4-BE49-F238E27FC236}">
                <a16:creationId xmlns:a16="http://schemas.microsoft.com/office/drawing/2014/main" id="{D6748544-0473-B33C-B5A7-04BCD077E1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93B99F9-1943-4BDB-A8D7-4DA2F93026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D0E1ED-6436-400E-B500-8139F42BEDB0}" type="slidenum">
              <a:rPr lang="en-IN" smtClean="0"/>
              <a:t>‹#›</a:t>
            </a:fld>
            <a:endParaRPr lang="en-IN"/>
          </a:p>
        </p:txBody>
      </p:sp>
    </p:spTree>
    <p:extLst>
      <p:ext uri="{BB962C8B-B14F-4D97-AF65-F5344CB8AC3E}">
        <p14:creationId xmlns:p14="http://schemas.microsoft.com/office/powerpoint/2010/main" val="3735053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93F35"/>
        </a:solidFill>
        <a:effectLst/>
      </p:bgPr>
    </p:bg>
    <p:spTree>
      <p:nvGrpSpPr>
        <p:cNvPr id="1" name=""/>
        <p:cNvGrpSpPr/>
        <p:nvPr/>
      </p:nvGrpSpPr>
      <p:grpSpPr>
        <a:xfrm>
          <a:off x="0" y="0"/>
          <a:ext cx="0" cy="0"/>
          <a:chOff x="0" y="0"/>
          <a:chExt cx="0" cy="0"/>
        </a:xfrm>
      </p:grpSpPr>
      <p:sp>
        <p:nvSpPr>
          <p:cNvPr id="2" name="s1-object1-text">
            <a:extLst>
              <a:ext uri="{FF2B5EF4-FFF2-40B4-BE49-F238E27FC236}">
                <a16:creationId xmlns:a16="http://schemas.microsoft.com/office/drawing/2014/main" id="{78C063B1-0795-DD59-F394-82843BB68D74}"/>
              </a:ext>
            </a:extLst>
          </p:cNvPr>
          <p:cNvSpPr txBox="1"/>
          <p:nvPr/>
        </p:nvSpPr>
        <p:spPr>
          <a:xfrm>
            <a:off x="711200" y="1181100"/>
            <a:ext cx="7620000" cy="1714500"/>
          </a:xfrm>
          <a:prstGeom prst="rect">
            <a:avLst/>
          </a:prstGeom>
          <a:noFill/>
        </p:spPr>
        <p:txBody>
          <a:bodyPr vert="horz" wrap="square" lIns="0" tIns="0" rIns="0" bIns="0" rtlCol="0" anchor="t">
            <a:noAutofit/>
          </a:bodyPr>
          <a:lstStyle/>
          <a:p>
            <a:r>
              <a:rPr lang="en-US" sz="3800" b="1">
                <a:solidFill>
                  <a:srgbClr val="FFFFFF"/>
                </a:solidFill>
                <a:latin typeface="Calibri" panose="020F0502020204030204" pitchFamily="34" charset="0"/>
              </a:rPr>
              <a:t>Reasoning with Food
Knowledge Graphs</a:t>
            </a:r>
            <a:endParaRPr lang="en-IN" sz="3800" b="1">
              <a:solidFill>
                <a:srgbClr val="FFFFFF"/>
              </a:solidFill>
              <a:latin typeface="Calibri" panose="020F0502020204030204" pitchFamily="34" charset="0"/>
            </a:endParaRPr>
          </a:p>
        </p:txBody>
      </p:sp>
      <p:sp>
        <p:nvSpPr>
          <p:cNvPr id="3" name="s1-object2-text">
            <a:extLst>
              <a:ext uri="{FF2B5EF4-FFF2-40B4-BE49-F238E27FC236}">
                <a16:creationId xmlns:a16="http://schemas.microsoft.com/office/drawing/2014/main" id="{3EEC950F-3A22-BE8B-80E6-C6C5B87B1688}"/>
              </a:ext>
            </a:extLst>
          </p:cNvPr>
          <p:cNvSpPr txBox="1"/>
          <p:nvPr/>
        </p:nvSpPr>
        <p:spPr>
          <a:xfrm>
            <a:off x="762000" y="3175000"/>
            <a:ext cx="7620000" cy="952500"/>
          </a:xfrm>
          <a:prstGeom prst="rect">
            <a:avLst/>
          </a:prstGeom>
          <a:noFill/>
        </p:spPr>
        <p:txBody>
          <a:bodyPr vert="horz" wrap="square" lIns="0" tIns="0" rIns="0" bIns="0" rtlCol="0" anchor="t">
            <a:noAutofit/>
          </a:bodyPr>
          <a:lstStyle/>
          <a:p>
            <a:r>
              <a:rPr lang="en-US" sz="2300">
                <a:solidFill>
                  <a:srgbClr val="D8E9DC"/>
                </a:solidFill>
                <a:latin typeface="Calibri" panose="020F0502020204030204" pitchFamily="34" charset="0"/>
              </a:rPr>
              <a:t>Evidence-based pathways connecting
soil, crop health and human health</a:t>
            </a:r>
            <a:endParaRPr lang="en-IN" sz="2300">
              <a:solidFill>
                <a:srgbClr val="D8E9DC"/>
              </a:solidFill>
              <a:latin typeface="Calibri" panose="020F0502020204030204" pitchFamily="34" charset="0"/>
            </a:endParaRPr>
          </a:p>
        </p:txBody>
      </p:sp>
      <p:sp>
        <p:nvSpPr>
          <p:cNvPr id="4" name="s1-object3-text">
            <a:extLst>
              <a:ext uri="{FF2B5EF4-FFF2-40B4-BE49-F238E27FC236}">
                <a16:creationId xmlns:a16="http://schemas.microsoft.com/office/drawing/2014/main" id="{52DADB58-D1FE-E3F8-D83C-EB052D6ABBBE}"/>
              </a:ext>
            </a:extLst>
          </p:cNvPr>
          <p:cNvSpPr txBox="1"/>
          <p:nvPr/>
        </p:nvSpPr>
        <p:spPr>
          <a:xfrm>
            <a:off x="762000" y="4889500"/>
            <a:ext cx="8128000" cy="330200"/>
          </a:xfrm>
          <a:prstGeom prst="rect">
            <a:avLst/>
          </a:prstGeom>
          <a:noFill/>
        </p:spPr>
        <p:txBody>
          <a:bodyPr vert="horz" wrap="square" lIns="0" tIns="0" rIns="0" bIns="0" rtlCol="0" anchor="t">
            <a:noAutofit/>
          </a:bodyPr>
          <a:lstStyle/>
          <a:p>
            <a:r>
              <a:rPr lang="en-IN" sz="1700">
                <a:solidFill>
                  <a:srgbClr val="FFFFFF"/>
                </a:solidFill>
                <a:latin typeface="Calibri" panose="020F0502020204030204" pitchFamily="34" charset="0"/>
              </a:rPr>
              <a:t>Nilesh Gupta (25CS60R64)</a:t>
            </a:r>
          </a:p>
        </p:txBody>
      </p:sp>
      <p:sp>
        <p:nvSpPr>
          <p:cNvPr id="5" name="s1-object4-text">
            <a:extLst>
              <a:ext uri="{FF2B5EF4-FFF2-40B4-BE49-F238E27FC236}">
                <a16:creationId xmlns:a16="http://schemas.microsoft.com/office/drawing/2014/main" id="{136F1437-1198-52DD-1690-6E0648BEC37C}"/>
              </a:ext>
            </a:extLst>
          </p:cNvPr>
          <p:cNvSpPr txBox="1"/>
          <p:nvPr/>
        </p:nvSpPr>
        <p:spPr>
          <a:xfrm>
            <a:off x="762000" y="5346700"/>
            <a:ext cx="9525000" cy="304800"/>
          </a:xfrm>
          <a:prstGeom prst="rect">
            <a:avLst/>
          </a:prstGeom>
          <a:noFill/>
        </p:spPr>
        <p:txBody>
          <a:bodyPr vert="horz" wrap="square" lIns="0" tIns="0" rIns="0" bIns="0" rtlCol="0" anchor="t">
            <a:noAutofit/>
          </a:bodyPr>
          <a:lstStyle/>
          <a:p>
            <a:r>
              <a:rPr lang="en-IN" sz="1600">
                <a:solidFill>
                  <a:srgbClr val="D8E9DC"/>
                </a:solidFill>
                <a:latin typeface="Calibri" panose="020F0502020204030204" pitchFamily="34" charset="0"/>
              </a:rPr>
              <a:t>Guide: Prof. Partha Pratim Chakrabarti</a:t>
            </a:r>
          </a:p>
        </p:txBody>
      </p:sp>
      <p:sp>
        <p:nvSpPr>
          <p:cNvPr id="6" name="s1-object5-text">
            <a:extLst>
              <a:ext uri="{FF2B5EF4-FFF2-40B4-BE49-F238E27FC236}">
                <a16:creationId xmlns:a16="http://schemas.microsoft.com/office/drawing/2014/main" id="{6D20FA6E-D0C2-D21B-636D-D6CF85FE3B72}"/>
              </a:ext>
            </a:extLst>
          </p:cNvPr>
          <p:cNvSpPr txBox="1"/>
          <p:nvPr/>
        </p:nvSpPr>
        <p:spPr>
          <a:xfrm>
            <a:off x="762000" y="5791200"/>
            <a:ext cx="10160000" cy="558800"/>
          </a:xfrm>
          <a:prstGeom prst="rect">
            <a:avLst/>
          </a:prstGeom>
          <a:noFill/>
        </p:spPr>
        <p:txBody>
          <a:bodyPr vert="horz" wrap="square" lIns="0" tIns="0" rIns="0" bIns="0" rtlCol="0" anchor="t">
            <a:noAutofit/>
          </a:bodyPr>
          <a:lstStyle/>
          <a:p>
            <a:r>
              <a:rPr lang="en-US" sz="1400">
                <a:solidFill>
                  <a:srgbClr val="C5D9CC"/>
                </a:solidFill>
                <a:latin typeface="Calibri" panose="020F0502020204030204" pitchFamily="34" charset="0"/>
              </a:rPr>
              <a:t>Department of Computer Science and Engineering
Indian Institute of Technology Kharagpur</a:t>
            </a:r>
            <a:endParaRPr lang="en-IN" sz="1400">
              <a:solidFill>
                <a:srgbClr val="C5D9CC"/>
              </a:solidFill>
              <a:latin typeface="Calibri" panose="020F0502020204030204" pitchFamily="34" charset="0"/>
            </a:endParaRPr>
          </a:p>
        </p:txBody>
      </p:sp>
      <p:sp>
        <p:nvSpPr>
          <p:cNvPr id="7" name="s1-object6-ellipse">
            <a:extLst>
              <a:ext uri="{FF2B5EF4-FFF2-40B4-BE49-F238E27FC236}">
                <a16:creationId xmlns:a16="http://schemas.microsoft.com/office/drawing/2014/main" id="{EF7994F0-238E-624B-9156-9AAA2002B21D}"/>
              </a:ext>
            </a:extLst>
          </p:cNvPr>
          <p:cNvSpPr/>
          <p:nvPr/>
        </p:nvSpPr>
        <p:spPr>
          <a:xfrm>
            <a:off x="9385300" y="1104900"/>
            <a:ext cx="889000" cy="889000"/>
          </a:xfrm>
          <a:prstGeom prst="ellipse">
            <a:avLst/>
          </a:prstGeom>
          <a:solidFill>
            <a:srgbClr val="2B57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1-object7-line">
            <a:extLst>
              <a:ext uri="{FF2B5EF4-FFF2-40B4-BE49-F238E27FC236}">
                <a16:creationId xmlns:a16="http://schemas.microsoft.com/office/drawing/2014/main" id="{C9E5E438-5830-3EFD-F1A8-FB792A6D882A}"/>
              </a:ext>
            </a:extLst>
          </p:cNvPr>
          <p:cNvCxnSpPr/>
          <p:nvPr/>
        </p:nvCxnSpPr>
        <p:spPr>
          <a:xfrm>
            <a:off x="9665970" y="1441450"/>
            <a:ext cx="307340" cy="0"/>
          </a:xfrm>
          <a:prstGeom prst="line">
            <a:avLst/>
          </a:prstGeom>
          <a:ln w="19050">
            <a:solidFill>
              <a:srgbClr val="D8E9DC"/>
            </a:solidFill>
          </a:ln>
        </p:spPr>
        <p:style>
          <a:lnRef idx="2">
            <a:schemeClr val="accent1"/>
          </a:lnRef>
          <a:fillRef idx="0">
            <a:schemeClr val="accent1"/>
          </a:fillRef>
          <a:effectRef idx="1">
            <a:schemeClr val="accent1"/>
          </a:effectRef>
          <a:fontRef idx="minor">
            <a:schemeClr val="tx1"/>
          </a:fontRef>
        </p:style>
      </p:cxnSp>
      <p:cxnSp>
        <p:nvCxnSpPr>
          <p:cNvPr id="9" name="s1-object8-line">
            <a:extLst>
              <a:ext uri="{FF2B5EF4-FFF2-40B4-BE49-F238E27FC236}">
                <a16:creationId xmlns:a16="http://schemas.microsoft.com/office/drawing/2014/main" id="{A397FC5D-FF74-B06D-ADD2-1803FC919FDC}"/>
              </a:ext>
            </a:extLst>
          </p:cNvPr>
          <p:cNvCxnSpPr/>
          <p:nvPr/>
        </p:nvCxnSpPr>
        <p:spPr>
          <a:xfrm>
            <a:off x="9665970" y="1441450"/>
            <a:ext cx="55880" cy="41910"/>
          </a:xfrm>
          <a:prstGeom prst="line">
            <a:avLst/>
          </a:prstGeom>
          <a:ln w="19050">
            <a:solidFill>
              <a:srgbClr val="D8E9DC"/>
            </a:solidFill>
          </a:ln>
        </p:spPr>
        <p:style>
          <a:lnRef idx="2">
            <a:schemeClr val="accent1"/>
          </a:lnRef>
          <a:fillRef idx="0">
            <a:schemeClr val="accent1"/>
          </a:fillRef>
          <a:effectRef idx="1">
            <a:schemeClr val="accent1"/>
          </a:effectRef>
          <a:fontRef idx="minor">
            <a:schemeClr val="tx1"/>
          </a:fontRef>
        </p:style>
      </p:cxnSp>
      <p:cxnSp>
        <p:nvCxnSpPr>
          <p:cNvPr id="10" name="s1-object9-line">
            <a:extLst>
              <a:ext uri="{FF2B5EF4-FFF2-40B4-BE49-F238E27FC236}">
                <a16:creationId xmlns:a16="http://schemas.microsoft.com/office/drawing/2014/main" id="{B5F93978-0B69-F63D-FD39-1C3D9770FE20}"/>
              </a:ext>
            </a:extLst>
          </p:cNvPr>
          <p:cNvCxnSpPr/>
          <p:nvPr/>
        </p:nvCxnSpPr>
        <p:spPr>
          <a:xfrm>
            <a:off x="9721850" y="1483360"/>
            <a:ext cx="209550" cy="0"/>
          </a:xfrm>
          <a:prstGeom prst="line">
            <a:avLst/>
          </a:prstGeom>
          <a:ln w="19050">
            <a:solidFill>
              <a:srgbClr val="D8E9DC"/>
            </a:solidFill>
          </a:ln>
        </p:spPr>
        <p:style>
          <a:lnRef idx="2">
            <a:schemeClr val="accent1"/>
          </a:lnRef>
          <a:fillRef idx="0">
            <a:schemeClr val="accent1"/>
          </a:fillRef>
          <a:effectRef idx="1">
            <a:schemeClr val="accent1"/>
          </a:effectRef>
          <a:fontRef idx="minor">
            <a:schemeClr val="tx1"/>
          </a:fontRef>
        </p:style>
      </p:cxnSp>
      <p:cxnSp>
        <p:nvCxnSpPr>
          <p:cNvPr id="11" name="s1-object10-line">
            <a:extLst>
              <a:ext uri="{FF2B5EF4-FFF2-40B4-BE49-F238E27FC236}">
                <a16:creationId xmlns:a16="http://schemas.microsoft.com/office/drawing/2014/main" id="{6B95F7B6-8817-F879-AA7A-502CE700F20E}"/>
              </a:ext>
            </a:extLst>
          </p:cNvPr>
          <p:cNvCxnSpPr/>
          <p:nvPr/>
        </p:nvCxnSpPr>
        <p:spPr>
          <a:xfrm>
            <a:off x="9665970" y="1553210"/>
            <a:ext cx="307340" cy="0"/>
          </a:xfrm>
          <a:prstGeom prst="line">
            <a:avLst/>
          </a:prstGeom>
          <a:ln w="19050">
            <a:solidFill>
              <a:srgbClr val="D8E9DC"/>
            </a:solidFill>
          </a:ln>
        </p:spPr>
        <p:style>
          <a:lnRef idx="2">
            <a:schemeClr val="accent1"/>
          </a:lnRef>
          <a:fillRef idx="0">
            <a:schemeClr val="accent1"/>
          </a:fillRef>
          <a:effectRef idx="1">
            <a:schemeClr val="accent1"/>
          </a:effectRef>
          <a:fontRef idx="minor">
            <a:schemeClr val="tx1"/>
          </a:fontRef>
        </p:style>
      </p:cxnSp>
      <p:cxnSp>
        <p:nvCxnSpPr>
          <p:cNvPr id="12" name="s1-object11-line">
            <a:extLst>
              <a:ext uri="{FF2B5EF4-FFF2-40B4-BE49-F238E27FC236}">
                <a16:creationId xmlns:a16="http://schemas.microsoft.com/office/drawing/2014/main" id="{BAD56192-F7CB-97F0-375D-47487B22C711}"/>
              </a:ext>
            </a:extLst>
          </p:cNvPr>
          <p:cNvCxnSpPr/>
          <p:nvPr/>
        </p:nvCxnSpPr>
        <p:spPr>
          <a:xfrm>
            <a:off x="9665970" y="1553210"/>
            <a:ext cx="55880" cy="41910"/>
          </a:xfrm>
          <a:prstGeom prst="line">
            <a:avLst/>
          </a:prstGeom>
          <a:ln w="19050">
            <a:solidFill>
              <a:srgbClr val="D8E9DC"/>
            </a:solidFill>
          </a:ln>
        </p:spPr>
        <p:style>
          <a:lnRef idx="2">
            <a:schemeClr val="accent1"/>
          </a:lnRef>
          <a:fillRef idx="0">
            <a:schemeClr val="accent1"/>
          </a:fillRef>
          <a:effectRef idx="1">
            <a:schemeClr val="accent1"/>
          </a:effectRef>
          <a:fontRef idx="minor">
            <a:schemeClr val="tx1"/>
          </a:fontRef>
        </p:style>
      </p:cxnSp>
      <p:cxnSp>
        <p:nvCxnSpPr>
          <p:cNvPr id="13" name="s1-object12-line">
            <a:extLst>
              <a:ext uri="{FF2B5EF4-FFF2-40B4-BE49-F238E27FC236}">
                <a16:creationId xmlns:a16="http://schemas.microsoft.com/office/drawing/2014/main" id="{0CE9A4D6-C6AC-42BE-E61D-3BA8903E8237}"/>
              </a:ext>
            </a:extLst>
          </p:cNvPr>
          <p:cNvCxnSpPr/>
          <p:nvPr/>
        </p:nvCxnSpPr>
        <p:spPr>
          <a:xfrm>
            <a:off x="9721850" y="1595120"/>
            <a:ext cx="209550" cy="0"/>
          </a:xfrm>
          <a:prstGeom prst="line">
            <a:avLst/>
          </a:prstGeom>
          <a:ln w="19050">
            <a:solidFill>
              <a:srgbClr val="D8E9DC"/>
            </a:solidFill>
          </a:ln>
        </p:spPr>
        <p:style>
          <a:lnRef idx="2">
            <a:schemeClr val="accent1"/>
          </a:lnRef>
          <a:fillRef idx="0">
            <a:schemeClr val="accent1"/>
          </a:fillRef>
          <a:effectRef idx="1">
            <a:schemeClr val="accent1"/>
          </a:effectRef>
          <a:fontRef idx="minor">
            <a:schemeClr val="tx1"/>
          </a:fontRef>
        </p:style>
      </p:cxnSp>
      <p:cxnSp>
        <p:nvCxnSpPr>
          <p:cNvPr id="14" name="s1-object13-line">
            <a:extLst>
              <a:ext uri="{FF2B5EF4-FFF2-40B4-BE49-F238E27FC236}">
                <a16:creationId xmlns:a16="http://schemas.microsoft.com/office/drawing/2014/main" id="{827EDBED-0B4F-EB61-EB6F-93BBD35F5ED5}"/>
              </a:ext>
            </a:extLst>
          </p:cNvPr>
          <p:cNvCxnSpPr/>
          <p:nvPr/>
        </p:nvCxnSpPr>
        <p:spPr>
          <a:xfrm>
            <a:off x="9665970" y="1664970"/>
            <a:ext cx="307340" cy="0"/>
          </a:xfrm>
          <a:prstGeom prst="line">
            <a:avLst/>
          </a:prstGeom>
          <a:ln w="19050">
            <a:solidFill>
              <a:srgbClr val="D8E9DC"/>
            </a:solidFill>
          </a:ln>
        </p:spPr>
        <p:style>
          <a:lnRef idx="2">
            <a:schemeClr val="accent1"/>
          </a:lnRef>
          <a:fillRef idx="0">
            <a:schemeClr val="accent1"/>
          </a:fillRef>
          <a:effectRef idx="1">
            <a:schemeClr val="accent1"/>
          </a:effectRef>
          <a:fontRef idx="minor">
            <a:schemeClr val="tx1"/>
          </a:fontRef>
        </p:style>
      </p:cxnSp>
      <p:cxnSp>
        <p:nvCxnSpPr>
          <p:cNvPr id="15" name="s1-object14-line">
            <a:extLst>
              <a:ext uri="{FF2B5EF4-FFF2-40B4-BE49-F238E27FC236}">
                <a16:creationId xmlns:a16="http://schemas.microsoft.com/office/drawing/2014/main" id="{C0B30F9A-DE8A-8D97-21C6-919F1EE30CFB}"/>
              </a:ext>
            </a:extLst>
          </p:cNvPr>
          <p:cNvCxnSpPr/>
          <p:nvPr/>
        </p:nvCxnSpPr>
        <p:spPr>
          <a:xfrm>
            <a:off x="9665970" y="1664970"/>
            <a:ext cx="55880" cy="41910"/>
          </a:xfrm>
          <a:prstGeom prst="line">
            <a:avLst/>
          </a:prstGeom>
          <a:ln w="19050">
            <a:solidFill>
              <a:srgbClr val="D8E9DC"/>
            </a:solidFill>
          </a:ln>
        </p:spPr>
        <p:style>
          <a:lnRef idx="2">
            <a:schemeClr val="accent1"/>
          </a:lnRef>
          <a:fillRef idx="0">
            <a:schemeClr val="accent1"/>
          </a:fillRef>
          <a:effectRef idx="1">
            <a:schemeClr val="accent1"/>
          </a:effectRef>
          <a:fontRef idx="minor">
            <a:schemeClr val="tx1"/>
          </a:fontRef>
        </p:style>
      </p:cxnSp>
      <p:cxnSp>
        <p:nvCxnSpPr>
          <p:cNvPr id="16" name="s1-object15-line">
            <a:extLst>
              <a:ext uri="{FF2B5EF4-FFF2-40B4-BE49-F238E27FC236}">
                <a16:creationId xmlns:a16="http://schemas.microsoft.com/office/drawing/2014/main" id="{87D0515C-C932-2AB7-4ADB-A21A1DFE69E0}"/>
              </a:ext>
            </a:extLst>
          </p:cNvPr>
          <p:cNvCxnSpPr/>
          <p:nvPr/>
        </p:nvCxnSpPr>
        <p:spPr>
          <a:xfrm>
            <a:off x="9721850" y="1706880"/>
            <a:ext cx="209550" cy="0"/>
          </a:xfrm>
          <a:prstGeom prst="line">
            <a:avLst/>
          </a:prstGeom>
          <a:ln w="19050">
            <a:solidFill>
              <a:srgbClr val="D8E9DC"/>
            </a:solidFill>
          </a:ln>
        </p:spPr>
        <p:style>
          <a:lnRef idx="2">
            <a:schemeClr val="accent1"/>
          </a:lnRef>
          <a:fillRef idx="0">
            <a:schemeClr val="accent1"/>
          </a:fillRef>
          <a:effectRef idx="1">
            <a:schemeClr val="accent1"/>
          </a:effectRef>
          <a:fontRef idx="minor">
            <a:schemeClr val="tx1"/>
          </a:fontRef>
        </p:style>
      </p:cxnSp>
      <p:sp>
        <p:nvSpPr>
          <p:cNvPr id="17" name="s1-object16-ellipse">
            <a:extLst>
              <a:ext uri="{FF2B5EF4-FFF2-40B4-BE49-F238E27FC236}">
                <a16:creationId xmlns:a16="http://schemas.microsoft.com/office/drawing/2014/main" id="{C01796C8-462A-84A1-2D70-37FE1CAA37D1}"/>
              </a:ext>
            </a:extLst>
          </p:cNvPr>
          <p:cNvSpPr/>
          <p:nvPr/>
        </p:nvSpPr>
        <p:spPr>
          <a:xfrm>
            <a:off x="10337800" y="2527300"/>
            <a:ext cx="889000" cy="889000"/>
          </a:xfrm>
          <a:prstGeom prst="ellipse">
            <a:avLst/>
          </a:prstGeom>
          <a:solidFill>
            <a:srgbClr val="2B57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1-object17-line">
            <a:extLst>
              <a:ext uri="{FF2B5EF4-FFF2-40B4-BE49-F238E27FC236}">
                <a16:creationId xmlns:a16="http://schemas.microsoft.com/office/drawing/2014/main" id="{623911A0-D211-A127-E46C-9D5963B64E01}"/>
              </a:ext>
            </a:extLst>
          </p:cNvPr>
          <p:cNvCxnSpPr/>
          <p:nvPr/>
        </p:nvCxnSpPr>
        <p:spPr>
          <a:xfrm>
            <a:off x="10772140" y="2919730"/>
            <a:ext cx="0" cy="223520"/>
          </a:xfrm>
          <a:prstGeom prst="line">
            <a:avLst/>
          </a:prstGeom>
          <a:ln w="19050">
            <a:solidFill>
              <a:srgbClr val="D8E9DC"/>
            </a:solidFill>
          </a:ln>
        </p:spPr>
        <p:style>
          <a:lnRef idx="2">
            <a:schemeClr val="accent1"/>
          </a:lnRef>
          <a:fillRef idx="0">
            <a:schemeClr val="accent1"/>
          </a:fillRef>
          <a:effectRef idx="1">
            <a:schemeClr val="accent1"/>
          </a:effectRef>
          <a:fontRef idx="minor">
            <a:schemeClr val="tx1"/>
          </a:fontRef>
        </p:style>
      </p:cxnSp>
      <p:cxnSp>
        <p:nvCxnSpPr>
          <p:cNvPr id="19" name="s1-object18-line">
            <a:extLst>
              <a:ext uri="{FF2B5EF4-FFF2-40B4-BE49-F238E27FC236}">
                <a16:creationId xmlns:a16="http://schemas.microsoft.com/office/drawing/2014/main" id="{BA1D3E6A-0293-D21D-A1F5-1097BE8676B9}"/>
              </a:ext>
            </a:extLst>
          </p:cNvPr>
          <p:cNvCxnSpPr/>
          <p:nvPr/>
        </p:nvCxnSpPr>
        <p:spPr>
          <a:xfrm flipH="1" flipV="1">
            <a:off x="10660380" y="2933700"/>
            <a:ext cx="111760" cy="83820"/>
          </a:xfrm>
          <a:prstGeom prst="line">
            <a:avLst/>
          </a:prstGeom>
          <a:ln w="19050">
            <a:solidFill>
              <a:srgbClr val="D8E9DC"/>
            </a:solidFill>
          </a:ln>
        </p:spPr>
        <p:style>
          <a:lnRef idx="2">
            <a:schemeClr val="accent1"/>
          </a:lnRef>
          <a:fillRef idx="0">
            <a:schemeClr val="accent1"/>
          </a:fillRef>
          <a:effectRef idx="1">
            <a:schemeClr val="accent1"/>
          </a:effectRef>
          <a:fontRef idx="minor">
            <a:schemeClr val="tx1"/>
          </a:fontRef>
        </p:style>
      </p:cxnSp>
      <p:cxnSp>
        <p:nvCxnSpPr>
          <p:cNvPr id="20" name="s1-object19-line">
            <a:extLst>
              <a:ext uri="{FF2B5EF4-FFF2-40B4-BE49-F238E27FC236}">
                <a16:creationId xmlns:a16="http://schemas.microsoft.com/office/drawing/2014/main" id="{9259C5C8-1A31-8152-3D0C-548AAAC822DB}"/>
              </a:ext>
            </a:extLst>
          </p:cNvPr>
          <p:cNvCxnSpPr/>
          <p:nvPr/>
        </p:nvCxnSpPr>
        <p:spPr>
          <a:xfrm flipH="1" flipV="1">
            <a:off x="10632440" y="2849880"/>
            <a:ext cx="27940" cy="83820"/>
          </a:xfrm>
          <a:prstGeom prst="line">
            <a:avLst/>
          </a:prstGeom>
          <a:ln w="19050">
            <a:solidFill>
              <a:srgbClr val="D8E9DC"/>
            </a:solidFill>
          </a:ln>
        </p:spPr>
        <p:style>
          <a:lnRef idx="2">
            <a:schemeClr val="accent1"/>
          </a:lnRef>
          <a:fillRef idx="0">
            <a:schemeClr val="accent1"/>
          </a:fillRef>
          <a:effectRef idx="1">
            <a:schemeClr val="accent1"/>
          </a:effectRef>
          <a:fontRef idx="minor">
            <a:schemeClr val="tx1"/>
          </a:fontRef>
        </p:style>
      </p:cxnSp>
      <p:cxnSp>
        <p:nvCxnSpPr>
          <p:cNvPr id="21" name="s1-object20-line">
            <a:extLst>
              <a:ext uri="{FF2B5EF4-FFF2-40B4-BE49-F238E27FC236}">
                <a16:creationId xmlns:a16="http://schemas.microsoft.com/office/drawing/2014/main" id="{3630C864-A504-A2A9-9811-5952980E8F78}"/>
              </a:ext>
            </a:extLst>
          </p:cNvPr>
          <p:cNvCxnSpPr/>
          <p:nvPr/>
        </p:nvCxnSpPr>
        <p:spPr>
          <a:xfrm>
            <a:off x="10632440" y="2849880"/>
            <a:ext cx="83820" cy="13970"/>
          </a:xfrm>
          <a:prstGeom prst="line">
            <a:avLst/>
          </a:prstGeom>
          <a:ln w="19050">
            <a:solidFill>
              <a:srgbClr val="D8E9DC"/>
            </a:solidFill>
          </a:ln>
        </p:spPr>
        <p:style>
          <a:lnRef idx="2">
            <a:schemeClr val="accent1"/>
          </a:lnRef>
          <a:fillRef idx="0">
            <a:schemeClr val="accent1"/>
          </a:fillRef>
          <a:effectRef idx="1">
            <a:schemeClr val="accent1"/>
          </a:effectRef>
          <a:fontRef idx="minor">
            <a:schemeClr val="tx1"/>
          </a:fontRef>
        </p:style>
      </p:cxnSp>
      <p:cxnSp>
        <p:nvCxnSpPr>
          <p:cNvPr id="22" name="s1-object21-line">
            <a:extLst>
              <a:ext uri="{FF2B5EF4-FFF2-40B4-BE49-F238E27FC236}">
                <a16:creationId xmlns:a16="http://schemas.microsoft.com/office/drawing/2014/main" id="{4E56B35B-1A5C-36AE-82E4-A3C35523084A}"/>
              </a:ext>
            </a:extLst>
          </p:cNvPr>
          <p:cNvCxnSpPr/>
          <p:nvPr/>
        </p:nvCxnSpPr>
        <p:spPr>
          <a:xfrm>
            <a:off x="10716260" y="2863850"/>
            <a:ext cx="55880" cy="83820"/>
          </a:xfrm>
          <a:prstGeom prst="line">
            <a:avLst/>
          </a:prstGeom>
          <a:ln w="19050">
            <a:solidFill>
              <a:srgbClr val="D8E9DC"/>
            </a:solidFill>
          </a:ln>
        </p:spPr>
        <p:style>
          <a:lnRef idx="2">
            <a:schemeClr val="accent1"/>
          </a:lnRef>
          <a:fillRef idx="0">
            <a:schemeClr val="accent1"/>
          </a:fillRef>
          <a:effectRef idx="1">
            <a:schemeClr val="accent1"/>
          </a:effectRef>
          <a:fontRef idx="minor">
            <a:schemeClr val="tx1"/>
          </a:fontRef>
        </p:style>
      </p:cxnSp>
      <p:cxnSp>
        <p:nvCxnSpPr>
          <p:cNvPr id="23" name="s1-object22-line">
            <a:extLst>
              <a:ext uri="{FF2B5EF4-FFF2-40B4-BE49-F238E27FC236}">
                <a16:creationId xmlns:a16="http://schemas.microsoft.com/office/drawing/2014/main" id="{28C9C05C-620B-CBA8-7855-5F3811A1CB0E}"/>
              </a:ext>
            </a:extLst>
          </p:cNvPr>
          <p:cNvCxnSpPr/>
          <p:nvPr/>
        </p:nvCxnSpPr>
        <p:spPr>
          <a:xfrm flipV="1">
            <a:off x="10772140" y="2919730"/>
            <a:ext cx="111760" cy="83820"/>
          </a:xfrm>
          <a:prstGeom prst="line">
            <a:avLst/>
          </a:prstGeom>
          <a:ln w="19050">
            <a:solidFill>
              <a:srgbClr val="D8E9DC"/>
            </a:solidFill>
          </a:ln>
        </p:spPr>
        <p:style>
          <a:lnRef idx="2">
            <a:schemeClr val="accent1"/>
          </a:lnRef>
          <a:fillRef idx="0">
            <a:schemeClr val="accent1"/>
          </a:fillRef>
          <a:effectRef idx="1">
            <a:schemeClr val="accent1"/>
          </a:effectRef>
          <a:fontRef idx="minor">
            <a:schemeClr val="tx1"/>
          </a:fontRef>
        </p:style>
      </p:cxnSp>
      <p:cxnSp>
        <p:nvCxnSpPr>
          <p:cNvPr id="24" name="s1-object23-line">
            <a:extLst>
              <a:ext uri="{FF2B5EF4-FFF2-40B4-BE49-F238E27FC236}">
                <a16:creationId xmlns:a16="http://schemas.microsoft.com/office/drawing/2014/main" id="{BF0BFE50-0EF4-E803-2E25-BC9A1CF30653}"/>
              </a:ext>
            </a:extLst>
          </p:cNvPr>
          <p:cNvCxnSpPr/>
          <p:nvPr/>
        </p:nvCxnSpPr>
        <p:spPr>
          <a:xfrm flipV="1">
            <a:off x="10883900" y="2821940"/>
            <a:ext cx="41910" cy="97790"/>
          </a:xfrm>
          <a:prstGeom prst="line">
            <a:avLst/>
          </a:prstGeom>
          <a:ln w="19050">
            <a:solidFill>
              <a:srgbClr val="D8E9DC"/>
            </a:solidFill>
          </a:ln>
        </p:spPr>
        <p:style>
          <a:lnRef idx="2">
            <a:schemeClr val="accent1"/>
          </a:lnRef>
          <a:fillRef idx="0">
            <a:schemeClr val="accent1"/>
          </a:fillRef>
          <a:effectRef idx="1">
            <a:schemeClr val="accent1"/>
          </a:effectRef>
          <a:fontRef idx="minor">
            <a:schemeClr val="tx1"/>
          </a:fontRef>
        </p:style>
      </p:cxnSp>
      <p:cxnSp>
        <p:nvCxnSpPr>
          <p:cNvPr id="25" name="s1-object24-line">
            <a:extLst>
              <a:ext uri="{FF2B5EF4-FFF2-40B4-BE49-F238E27FC236}">
                <a16:creationId xmlns:a16="http://schemas.microsoft.com/office/drawing/2014/main" id="{883CE78E-E8F4-A793-807F-0211DAD7A6A3}"/>
              </a:ext>
            </a:extLst>
          </p:cNvPr>
          <p:cNvCxnSpPr/>
          <p:nvPr/>
        </p:nvCxnSpPr>
        <p:spPr>
          <a:xfrm flipH="1">
            <a:off x="10828020" y="2821940"/>
            <a:ext cx="97790" cy="27940"/>
          </a:xfrm>
          <a:prstGeom prst="line">
            <a:avLst/>
          </a:prstGeom>
          <a:ln w="19050">
            <a:solidFill>
              <a:srgbClr val="D8E9DC"/>
            </a:solidFill>
          </a:ln>
        </p:spPr>
        <p:style>
          <a:lnRef idx="2">
            <a:schemeClr val="accent1"/>
          </a:lnRef>
          <a:fillRef idx="0">
            <a:schemeClr val="accent1"/>
          </a:fillRef>
          <a:effectRef idx="1">
            <a:schemeClr val="accent1"/>
          </a:effectRef>
          <a:fontRef idx="minor">
            <a:schemeClr val="tx1"/>
          </a:fontRef>
        </p:style>
      </p:cxnSp>
      <p:cxnSp>
        <p:nvCxnSpPr>
          <p:cNvPr id="26" name="s1-object25-line">
            <a:extLst>
              <a:ext uri="{FF2B5EF4-FFF2-40B4-BE49-F238E27FC236}">
                <a16:creationId xmlns:a16="http://schemas.microsoft.com/office/drawing/2014/main" id="{34CA05BA-B924-EA64-2956-28707A45AC29}"/>
              </a:ext>
            </a:extLst>
          </p:cNvPr>
          <p:cNvCxnSpPr/>
          <p:nvPr/>
        </p:nvCxnSpPr>
        <p:spPr>
          <a:xfrm flipH="1">
            <a:off x="10772140" y="2849880"/>
            <a:ext cx="55880" cy="83820"/>
          </a:xfrm>
          <a:prstGeom prst="line">
            <a:avLst/>
          </a:prstGeom>
          <a:ln w="19050">
            <a:solidFill>
              <a:srgbClr val="D8E9DC"/>
            </a:solidFill>
          </a:ln>
        </p:spPr>
        <p:style>
          <a:lnRef idx="2">
            <a:schemeClr val="accent1"/>
          </a:lnRef>
          <a:fillRef idx="0">
            <a:schemeClr val="accent1"/>
          </a:fillRef>
          <a:effectRef idx="1">
            <a:schemeClr val="accent1"/>
          </a:effectRef>
          <a:fontRef idx="minor">
            <a:schemeClr val="tx1"/>
          </a:fontRef>
        </p:style>
      </p:cxnSp>
      <p:cxnSp>
        <p:nvCxnSpPr>
          <p:cNvPr id="27" name="s1-object26-line">
            <a:extLst>
              <a:ext uri="{FF2B5EF4-FFF2-40B4-BE49-F238E27FC236}">
                <a16:creationId xmlns:a16="http://schemas.microsoft.com/office/drawing/2014/main" id="{FCAA7D9B-BE9C-63C7-A7A3-437895DE6BFA}"/>
              </a:ext>
            </a:extLst>
          </p:cNvPr>
          <p:cNvCxnSpPr/>
          <p:nvPr/>
        </p:nvCxnSpPr>
        <p:spPr>
          <a:xfrm>
            <a:off x="10632440" y="3157220"/>
            <a:ext cx="293370" cy="0"/>
          </a:xfrm>
          <a:prstGeom prst="line">
            <a:avLst/>
          </a:prstGeom>
          <a:ln w="19050">
            <a:solidFill>
              <a:srgbClr val="D8E9DC"/>
            </a:solidFill>
          </a:ln>
        </p:spPr>
        <p:style>
          <a:lnRef idx="2">
            <a:schemeClr val="accent1"/>
          </a:lnRef>
          <a:fillRef idx="0">
            <a:schemeClr val="accent1"/>
          </a:fillRef>
          <a:effectRef idx="1">
            <a:schemeClr val="accent1"/>
          </a:effectRef>
          <a:fontRef idx="minor">
            <a:schemeClr val="tx1"/>
          </a:fontRef>
        </p:style>
      </p:cxnSp>
      <p:sp>
        <p:nvSpPr>
          <p:cNvPr id="28" name="s1-object27-ellipse">
            <a:extLst>
              <a:ext uri="{FF2B5EF4-FFF2-40B4-BE49-F238E27FC236}">
                <a16:creationId xmlns:a16="http://schemas.microsoft.com/office/drawing/2014/main" id="{C3FD5375-E65B-D416-B6DD-01C7580F0A4E}"/>
              </a:ext>
            </a:extLst>
          </p:cNvPr>
          <p:cNvSpPr/>
          <p:nvPr/>
        </p:nvSpPr>
        <p:spPr>
          <a:xfrm>
            <a:off x="9385300" y="3987800"/>
            <a:ext cx="889000" cy="889000"/>
          </a:xfrm>
          <a:prstGeom prst="ellipse">
            <a:avLst/>
          </a:prstGeom>
          <a:solidFill>
            <a:srgbClr val="2B57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s1-object28-ellipse">
            <a:extLst>
              <a:ext uri="{FF2B5EF4-FFF2-40B4-BE49-F238E27FC236}">
                <a16:creationId xmlns:a16="http://schemas.microsoft.com/office/drawing/2014/main" id="{28348716-E822-788D-48C7-FF996080F730}"/>
              </a:ext>
            </a:extLst>
          </p:cNvPr>
          <p:cNvSpPr/>
          <p:nvPr/>
        </p:nvSpPr>
        <p:spPr>
          <a:xfrm>
            <a:off x="9763760" y="4268470"/>
            <a:ext cx="111760" cy="111760"/>
          </a:xfrm>
          <a:prstGeom prst="ellipse">
            <a:avLst/>
          </a:prstGeom>
          <a:solidFill>
            <a:srgbClr val="FFFFFF"/>
          </a:solidFill>
          <a:ln w="10160">
            <a:solidFill>
              <a:srgbClr val="D8E9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0" name="s1-object29-line">
            <a:extLst>
              <a:ext uri="{FF2B5EF4-FFF2-40B4-BE49-F238E27FC236}">
                <a16:creationId xmlns:a16="http://schemas.microsoft.com/office/drawing/2014/main" id="{AA7CD77B-2D68-AC2C-20AA-4A60EF3F9D25}"/>
              </a:ext>
            </a:extLst>
          </p:cNvPr>
          <p:cNvCxnSpPr/>
          <p:nvPr/>
        </p:nvCxnSpPr>
        <p:spPr>
          <a:xfrm>
            <a:off x="9819640" y="4394200"/>
            <a:ext cx="0" cy="181610"/>
          </a:xfrm>
          <a:prstGeom prst="line">
            <a:avLst/>
          </a:prstGeom>
          <a:ln w="19050">
            <a:solidFill>
              <a:srgbClr val="D8E9DC"/>
            </a:solidFill>
          </a:ln>
        </p:spPr>
        <p:style>
          <a:lnRef idx="2">
            <a:schemeClr val="accent1"/>
          </a:lnRef>
          <a:fillRef idx="0">
            <a:schemeClr val="accent1"/>
          </a:fillRef>
          <a:effectRef idx="1">
            <a:schemeClr val="accent1"/>
          </a:effectRef>
          <a:fontRef idx="minor">
            <a:schemeClr val="tx1"/>
          </a:fontRef>
        </p:style>
      </p:cxnSp>
      <p:cxnSp>
        <p:nvCxnSpPr>
          <p:cNvPr id="31" name="s1-object30-line">
            <a:extLst>
              <a:ext uri="{FF2B5EF4-FFF2-40B4-BE49-F238E27FC236}">
                <a16:creationId xmlns:a16="http://schemas.microsoft.com/office/drawing/2014/main" id="{6A106143-7D38-BA69-75EE-3B4F3E830F81}"/>
              </a:ext>
            </a:extLst>
          </p:cNvPr>
          <p:cNvCxnSpPr/>
          <p:nvPr/>
        </p:nvCxnSpPr>
        <p:spPr>
          <a:xfrm>
            <a:off x="9693910" y="4464050"/>
            <a:ext cx="251460" cy="0"/>
          </a:xfrm>
          <a:prstGeom prst="line">
            <a:avLst/>
          </a:prstGeom>
          <a:ln w="19050">
            <a:solidFill>
              <a:srgbClr val="D8E9DC"/>
            </a:solidFill>
          </a:ln>
        </p:spPr>
        <p:style>
          <a:lnRef idx="2">
            <a:schemeClr val="accent1"/>
          </a:lnRef>
          <a:fillRef idx="0">
            <a:schemeClr val="accent1"/>
          </a:fillRef>
          <a:effectRef idx="1">
            <a:schemeClr val="accent1"/>
          </a:effectRef>
          <a:fontRef idx="minor">
            <a:schemeClr val="tx1"/>
          </a:fontRef>
        </p:style>
      </p:cxnSp>
      <p:cxnSp>
        <p:nvCxnSpPr>
          <p:cNvPr id="32" name="s1-object31-line">
            <a:extLst>
              <a:ext uri="{FF2B5EF4-FFF2-40B4-BE49-F238E27FC236}">
                <a16:creationId xmlns:a16="http://schemas.microsoft.com/office/drawing/2014/main" id="{CAC0F8AD-96E5-9C91-4B6D-EBD2285E3E6F}"/>
              </a:ext>
            </a:extLst>
          </p:cNvPr>
          <p:cNvCxnSpPr/>
          <p:nvPr/>
        </p:nvCxnSpPr>
        <p:spPr>
          <a:xfrm flipH="1">
            <a:off x="9721850" y="4575810"/>
            <a:ext cx="97790" cy="83820"/>
          </a:xfrm>
          <a:prstGeom prst="line">
            <a:avLst/>
          </a:prstGeom>
          <a:ln w="19050">
            <a:solidFill>
              <a:srgbClr val="D8E9DC"/>
            </a:solidFill>
          </a:ln>
        </p:spPr>
        <p:style>
          <a:lnRef idx="2">
            <a:schemeClr val="accent1"/>
          </a:lnRef>
          <a:fillRef idx="0">
            <a:schemeClr val="accent1"/>
          </a:fillRef>
          <a:effectRef idx="1">
            <a:schemeClr val="accent1"/>
          </a:effectRef>
          <a:fontRef idx="minor">
            <a:schemeClr val="tx1"/>
          </a:fontRef>
        </p:style>
      </p:cxnSp>
      <p:cxnSp>
        <p:nvCxnSpPr>
          <p:cNvPr id="33" name="s1-object32-line">
            <a:extLst>
              <a:ext uri="{FF2B5EF4-FFF2-40B4-BE49-F238E27FC236}">
                <a16:creationId xmlns:a16="http://schemas.microsoft.com/office/drawing/2014/main" id="{018F69A5-AE0F-7AD1-F38C-CA50EEB6F7CE}"/>
              </a:ext>
            </a:extLst>
          </p:cNvPr>
          <p:cNvCxnSpPr/>
          <p:nvPr/>
        </p:nvCxnSpPr>
        <p:spPr>
          <a:xfrm>
            <a:off x="9819640" y="4575810"/>
            <a:ext cx="97790" cy="83820"/>
          </a:xfrm>
          <a:prstGeom prst="line">
            <a:avLst/>
          </a:prstGeom>
          <a:ln w="19050">
            <a:solidFill>
              <a:srgbClr val="D8E9DC"/>
            </a:solidFill>
          </a:ln>
        </p:spPr>
        <p:style>
          <a:lnRef idx="2">
            <a:schemeClr val="accent1"/>
          </a:lnRef>
          <a:fillRef idx="0">
            <a:schemeClr val="accent1"/>
          </a:fillRef>
          <a:effectRef idx="1">
            <a:schemeClr val="accent1"/>
          </a:effectRef>
          <a:fontRef idx="minor">
            <a:schemeClr val="tx1"/>
          </a:fontRef>
        </p:style>
      </p:cxnSp>
      <p:cxnSp>
        <p:nvCxnSpPr>
          <p:cNvPr id="34" name="s1-object33-line">
            <a:extLst>
              <a:ext uri="{FF2B5EF4-FFF2-40B4-BE49-F238E27FC236}">
                <a16:creationId xmlns:a16="http://schemas.microsoft.com/office/drawing/2014/main" id="{B06EAB7B-7188-5874-0C34-8B31135C8A23}"/>
              </a:ext>
            </a:extLst>
          </p:cNvPr>
          <p:cNvCxnSpPr/>
          <p:nvPr/>
        </p:nvCxnSpPr>
        <p:spPr>
          <a:xfrm>
            <a:off x="10033000" y="1943100"/>
            <a:ext cx="571500" cy="711200"/>
          </a:xfrm>
          <a:prstGeom prst="line">
            <a:avLst/>
          </a:prstGeom>
          <a:ln w="25400">
            <a:solidFill>
              <a:srgbClr val="7CA98F"/>
            </a:solidFill>
          </a:ln>
        </p:spPr>
        <p:style>
          <a:lnRef idx="2">
            <a:schemeClr val="accent1"/>
          </a:lnRef>
          <a:fillRef idx="0">
            <a:schemeClr val="accent1"/>
          </a:fillRef>
          <a:effectRef idx="1">
            <a:schemeClr val="accent1"/>
          </a:effectRef>
          <a:fontRef idx="minor">
            <a:schemeClr val="tx1"/>
          </a:fontRef>
        </p:style>
      </p:cxnSp>
      <p:cxnSp>
        <p:nvCxnSpPr>
          <p:cNvPr id="35" name="s1-object34-line">
            <a:extLst>
              <a:ext uri="{FF2B5EF4-FFF2-40B4-BE49-F238E27FC236}">
                <a16:creationId xmlns:a16="http://schemas.microsoft.com/office/drawing/2014/main" id="{899F68E6-F786-7013-4AF3-813A8C813AD0}"/>
              </a:ext>
            </a:extLst>
          </p:cNvPr>
          <p:cNvCxnSpPr/>
          <p:nvPr/>
        </p:nvCxnSpPr>
        <p:spPr>
          <a:xfrm flipH="1">
            <a:off x="10033000" y="3365500"/>
            <a:ext cx="584200" cy="711200"/>
          </a:xfrm>
          <a:prstGeom prst="line">
            <a:avLst/>
          </a:prstGeom>
          <a:ln w="25400">
            <a:solidFill>
              <a:srgbClr val="7CA98F"/>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09555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DFB"/>
        </a:solidFill>
        <a:effectLst/>
      </p:bgPr>
    </p:bg>
    <p:spTree>
      <p:nvGrpSpPr>
        <p:cNvPr id="1" name=""/>
        <p:cNvGrpSpPr/>
        <p:nvPr/>
      </p:nvGrpSpPr>
      <p:grpSpPr>
        <a:xfrm>
          <a:off x="0" y="0"/>
          <a:ext cx="0" cy="0"/>
          <a:chOff x="0" y="0"/>
          <a:chExt cx="0" cy="0"/>
        </a:xfrm>
      </p:grpSpPr>
      <p:sp>
        <p:nvSpPr>
          <p:cNvPr id="2" name="s2-object1-text">
            <a:extLst>
              <a:ext uri="{FF2B5EF4-FFF2-40B4-BE49-F238E27FC236}">
                <a16:creationId xmlns:a16="http://schemas.microsoft.com/office/drawing/2014/main" id="{E40BE122-3342-4DAB-FFA8-21CA314F71BA}"/>
              </a:ext>
            </a:extLst>
          </p:cNvPr>
          <p:cNvSpPr txBox="1"/>
          <p:nvPr/>
        </p:nvSpPr>
        <p:spPr>
          <a:xfrm>
            <a:off x="609600" y="304800"/>
            <a:ext cx="10160000" cy="228600"/>
          </a:xfrm>
          <a:prstGeom prst="rect">
            <a:avLst/>
          </a:prstGeom>
          <a:noFill/>
        </p:spPr>
        <p:txBody>
          <a:bodyPr vert="horz" wrap="square" lIns="0" tIns="0" rIns="0" bIns="0" rtlCol="0" anchor="t">
            <a:noAutofit/>
          </a:bodyPr>
          <a:lstStyle/>
          <a:p>
            <a:r>
              <a:rPr lang="en-IN" sz="1000" b="1">
                <a:solidFill>
                  <a:srgbClr val="2D7257"/>
                </a:solidFill>
                <a:latin typeface="Calibri" panose="020F0502020204030204" pitchFamily="34" charset="0"/>
              </a:rPr>
              <a:t>RESEARCH PROBLEM</a:t>
            </a:r>
          </a:p>
        </p:txBody>
      </p:sp>
      <p:sp>
        <p:nvSpPr>
          <p:cNvPr id="3" name="s2-object2-text">
            <a:extLst>
              <a:ext uri="{FF2B5EF4-FFF2-40B4-BE49-F238E27FC236}">
                <a16:creationId xmlns:a16="http://schemas.microsoft.com/office/drawing/2014/main" id="{7CD6D664-5729-56F7-05F2-60494BA846C0}"/>
              </a:ext>
            </a:extLst>
          </p:cNvPr>
          <p:cNvSpPr txBox="1"/>
          <p:nvPr/>
        </p:nvSpPr>
        <p:spPr>
          <a:xfrm>
            <a:off x="609600" y="647700"/>
            <a:ext cx="10972800" cy="622300"/>
          </a:xfrm>
          <a:prstGeom prst="rect">
            <a:avLst/>
          </a:prstGeom>
          <a:noFill/>
        </p:spPr>
        <p:txBody>
          <a:bodyPr vert="horz" wrap="square" lIns="0" tIns="0" rIns="0" bIns="0" rtlCol="0" anchor="t">
            <a:noAutofit/>
          </a:bodyPr>
          <a:lstStyle/>
          <a:p>
            <a:r>
              <a:rPr lang="en-US" sz="3000" b="1">
                <a:solidFill>
                  <a:srgbClr val="193F35"/>
                </a:solidFill>
                <a:latin typeface="Calibri" panose="020F0502020204030204" pitchFamily="34" charset="0"/>
              </a:rPr>
              <a:t>Agriculture and health evidence is fragmented</a:t>
            </a:r>
            <a:endParaRPr lang="en-IN" sz="3000" b="1">
              <a:solidFill>
                <a:srgbClr val="193F35"/>
              </a:solidFill>
              <a:latin typeface="Calibri" panose="020F0502020204030204" pitchFamily="34" charset="0"/>
            </a:endParaRPr>
          </a:p>
        </p:txBody>
      </p:sp>
      <p:sp>
        <p:nvSpPr>
          <p:cNvPr id="4" name="s2-object3-text">
            <a:extLst>
              <a:ext uri="{FF2B5EF4-FFF2-40B4-BE49-F238E27FC236}">
                <a16:creationId xmlns:a16="http://schemas.microsoft.com/office/drawing/2014/main" id="{DA3FDDA0-CE1A-52B3-B973-7E4612E837EB}"/>
              </a:ext>
            </a:extLst>
          </p:cNvPr>
          <p:cNvSpPr txBox="1"/>
          <p:nvPr/>
        </p:nvSpPr>
        <p:spPr>
          <a:xfrm>
            <a:off x="609600" y="1346200"/>
            <a:ext cx="10972800" cy="584200"/>
          </a:xfrm>
          <a:prstGeom prst="rect">
            <a:avLst/>
          </a:prstGeom>
          <a:noFill/>
        </p:spPr>
        <p:txBody>
          <a:bodyPr vert="horz" wrap="square" lIns="0" tIns="0" rIns="0" bIns="0" rtlCol="0" anchor="t">
            <a:noAutofit/>
          </a:bodyPr>
          <a:lstStyle/>
          <a:p>
            <a:r>
              <a:rPr lang="en-US" sz="1600">
                <a:solidFill>
                  <a:srgbClr val="62756A"/>
                </a:solidFill>
                <a:latin typeface="Calibri" panose="020F0502020204030204" pitchFamily="34" charset="0"/>
              </a:rPr>
              <a:t>A relationship may be described across several papers, with different entities, conditions and outcomes.</a:t>
            </a:r>
            <a:endParaRPr lang="en-IN" sz="1600">
              <a:solidFill>
                <a:srgbClr val="62756A"/>
              </a:solidFill>
              <a:latin typeface="Calibri" panose="020F0502020204030204" pitchFamily="34" charset="0"/>
            </a:endParaRPr>
          </a:p>
        </p:txBody>
      </p:sp>
      <p:cxnSp>
        <p:nvCxnSpPr>
          <p:cNvPr id="5" name="s2-object4-line">
            <a:extLst>
              <a:ext uri="{FF2B5EF4-FFF2-40B4-BE49-F238E27FC236}">
                <a16:creationId xmlns:a16="http://schemas.microsoft.com/office/drawing/2014/main" id="{7A144257-E0B7-021C-EFD0-AC9EB939242D}"/>
              </a:ext>
            </a:extLst>
          </p:cNvPr>
          <p:cNvCxnSpPr/>
          <p:nvPr/>
        </p:nvCxnSpPr>
        <p:spPr>
          <a:xfrm>
            <a:off x="609600" y="6477000"/>
            <a:ext cx="10972800" cy="0"/>
          </a:xfrm>
          <a:prstGeom prst="line">
            <a:avLst/>
          </a:prstGeom>
          <a:ln w="15240">
            <a:solidFill>
              <a:srgbClr val="D7E3DA"/>
            </a:solidFill>
          </a:ln>
        </p:spPr>
        <p:style>
          <a:lnRef idx="2">
            <a:schemeClr val="accent1"/>
          </a:lnRef>
          <a:fillRef idx="0">
            <a:schemeClr val="accent1"/>
          </a:fillRef>
          <a:effectRef idx="1">
            <a:schemeClr val="accent1"/>
          </a:effectRef>
          <a:fontRef idx="minor">
            <a:schemeClr val="tx1"/>
          </a:fontRef>
        </p:style>
      </p:cxnSp>
      <p:sp>
        <p:nvSpPr>
          <p:cNvPr id="6" name="s2-object5-text">
            <a:extLst>
              <a:ext uri="{FF2B5EF4-FFF2-40B4-BE49-F238E27FC236}">
                <a16:creationId xmlns:a16="http://schemas.microsoft.com/office/drawing/2014/main" id="{A2C64C62-5ACE-E55C-BB65-638F91FAC68A}"/>
              </a:ext>
            </a:extLst>
          </p:cNvPr>
          <p:cNvSpPr txBox="1"/>
          <p:nvPr/>
        </p:nvSpPr>
        <p:spPr>
          <a:xfrm>
            <a:off x="609600" y="6553200"/>
            <a:ext cx="8255000" cy="190500"/>
          </a:xfrm>
          <a:prstGeom prst="rect">
            <a:avLst/>
          </a:prstGeom>
          <a:noFill/>
        </p:spPr>
        <p:txBody>
          <a:bodyPr vert="horz" wrap="square" lIns="0" tIns="0" rIns="0" bIns="0" rtlCol="0" anchor="t">
            <a:noAutofit/>
          </a:bodyPr>
          <a:lstStyle/>
          <a:p>
            <a:r>
              <a:rPr lang="en-US" sz="900">
                <a:solidFill>
                  <a:srgbClr val="62756A"/>
                </a:solidFill>
                <a:latin typeface="Calibri" panose="020F0502020204030204" pitchFamily="34" charset="0"/>
              </a:rPr>
              <a:t>Reasoning with Food Knowledge Graphs</a:t>
            </a:r>
            <a:endParaRPr lang="en-IN" sz="900">
              <a:solidFill>
                <a:srgbClr val="62756A"/>
              </a:solidFill>
              <a:latin typeface="Calibri" panose="020F0502020204030204" pitchFamily="34" charset="0"/>
            </a:endParaRPr>
          </a:p>
        </p:txBody>
      </p:sp>
      <p:sp>
        <p:nvSpPr>
          <p:cNvPr id="7" name="s2-object6-text">
            <a:extLst>
              <a:ext uri="{FF2B5EF4-FFF2-40B4-BE49-F238E27FC236}">
                <a16:creationId xmlns:a16="http://schemas.microsoft.com/office/drawing/2014/main" id="{C6624813-4C3D-C3B1-5BD1-8B796C16E570}"/>
              </a:ext>
            </a:extLst>
          </p:cNvPr>
          <p:cNvSpPr txBox="1"/>
          <p:nvPr/>
        </p:nvSpPr>
        <p:spPr>
          <a:xfrm>
            <a:off x="11049000" y="6553200"/>
            <a:ext cx="533400" cy="190500"/>
          </a:xfrm>
          <a:prstGeom prst="rect">
            <a:avLst/>
          </a:prstGeom>
          <a:noFill/>
        </p:spPr>
        <p:txBody>
          <a:bodyPr vert="horz" wrap="square" lIns="0" tIns="0" rIns="0" bIns="0" rtlCol="0" anchor="t">
            <a:noAutofit/>
          </a:bodyPr>
          <a:lstStyle/>
          <a:p>
            <a:pPr algn="r"/>
            <a:r>
              <a:rPr lang="en-IN" sz="900">
                <a:solidFill>
                  <a:srgbClr val="62756A"/>
                </a:solidFill>
                <a:latin typeface="Calibri" panose="020F0502020204030204" pitchFamily="34" charset="0"/>
              </a:rPr>
              <a:t>2</a:t>
            </a:r>
          </a:p>
        </p:txBody>
      </p:sp>
      <p:cxnSp>
        <p:nvCxnSpPr>
          <p:cNvPr id="8" name="s2-object7-line">
            <a:extLst>
              <a:ext uri="{FF2B5EF4-FFF2-40B4-BE49-F238E27FC236}">
                <a16:creationId xmlns:a16="http://schemas.microsoft.com/office/drawing/2014/main" id="{06DCBE80-B5F4-84A0-E818-80699BBE4836}"/>
              </a:ext>
            </a:extLst>
          </p:cNvPr>
          <p:cNvCxnSpPr/>
          <p:nvPr/>
        </p:nvCxnSpPr>
        <p:spPr>
          <a:xfrm>
            <a:off x="730250" y="2508250"/>
            <a:ext cx="41910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9" name="s2-object8-line">
            <a:extLst>
              <a:ext uri="{FF2B5EF4-FFF2-40B4-BE49-F238E27FC236}">
                <a16:creationId xmlns:a16="http://schemas.microsoft.com/office/drawing/2014/main" id="{841D4749-0486-6529-6505-3F579BB75C9C}"/>
              </a:ext>
            </a:extLst>
          </p:cNvPr>
          <p:cNvCxnSpPr/>
          <p:nvPr/>
        </p:nvCxnSpPr>
        <p:spPr>
          <a:xfrm>
            <a:off x="730250" y="2508250"/>
            <a:ext cx="76200" cy="5715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0" name="s2-object9-line">
            <a:extLst>
              <a:ext uri="{FF2B5EF4-FFF2-40B4-BE49-F238E27FC236}">
                <a16:creationId xmlns:a16="http://schemas.microsoft.com/office/drawing/2014/main" id="{155BC58F-8B6A-79A3-616B-675F7F7365C3}"/>
              </a:ext>
            </a:extLst>
          </p:cNvPr>
          <p:cNvCxnSpPr/>
          <p:nvPr/>
        </p:nvCxnSpPr>
        <p:spPr>
          <a:xfrm>
            <a:off x="806450" y="2565400"/>
            <a:ext cx="28575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1" name="s2-object10-line">
            <a:extLst>
              <a:ext uri="{FF2B5EF4-FFF2-40B4-BE49-F238E27FC236}">
                <a16:creationId xmlns:a16="http://schemas.microsoft.com/office/drawing/2014/main" id="{533DE5E0-33D2-84E4-8536-BA335B7FF10D}"/>
              </a:ext>
            </a:extLst>
          </p:cNvPr>
          <p:cNvCxnSpPr/>
          <p:nvPr/>
        </p:nvCxnSpPr>
        <p:spPr>
          <a:xfrm>
            <a:off x="730250" y="2660650"/>
            <a:ext cx="41910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2" name="s2-object11-line">
            <a:extLst>
              <a:ext uri="{FF2B5EF4-FFF2-40B4-BE49-F238E27FC236}">
                <a16:creationId xmlns:a16="http://schemas.microsoft.com/office/drawing/2014/main" id="{3BE96754-88CA-0C6D-5884-0E6B8E703A15}"/>
              </a:ext>
            </a:extLst>
          </p:cNvPr>
          <p:cNvCxnSpPr/>
          <p:nvPr/>
        </p:nvCxnSpPr>
        <p:spPr>
          <a:xfrm>
            <a:off x="730250" y="2660650"/>
            <a:ext cx="76200" cy="5715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3" name="s2-object12-line">
            <a:extLst>
              <a:ext uri="{FF2B5EF4-FFF2-40B4-BE49-F238E27FC236}">
                <a16:creationId xmlns:a16="http://schemas.microsoft.com/office/drawing/2014/main" id="{580DBEF6-BF81-CAC4-0C15-4B7BB0079741}"/>
              </a:ext>
            </a:extLst>
          </p:cNvPr>
          <p:cNvCxnSpPr/>
          <p:nvPr/>
        </p:nvCxnSpPr>
        <p:spPr>
          <a:xfrm>
            <a:off x="806450" y="2717800"/>
            <a:ext cx="28575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4" name="s2-object13-line">
            <a:extLst>
              <a:ext uri="{FF2B5EF4-FFF2-40B4-BE49-F238E27FC236}">
                <a16:creationId xmlns:a16="http://schemas.microsoft.com/office/drawing/2014/main" id="{8B06F4DB-31F7-604B-56BA-5E95F4F4CD82}"/>
              </a:ext>
            </a:extLst>
          </p:cNvPr>
          <p:cNvCxnSpPr/>
          <p:nvPr/>
        </p:nvCxnSpPr>
        <p:spPr>
          <a:xfrm>
            <a:off x="730250" y="2813050"/>
            <a:ext cx="41910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5" name="s2-object14-line">
            <a:extLst>
              <a:ext uri="{FF2B5EF4-FFF2-40B4-BE49-F238E27FC236}">
                <a16:creationId xmlns:a16="http://schemas.microsoft.com/office/drawing/2014/main" id="{CAA8B4C8-C2FA-3A09-8114-A5F94AD82E4B}"/>
              </a:ext>
            </a:extLst>
          </p:cNvPr>
          <p:cNvCxnSpPr/>
          <p:nvPr/>
        </p:nvCxnSpPr>
        <p:spPr>
          <a:xfrm>
            <a:off x="730250" y="2813050"/>
            <a:ext cx="76200" cy="5715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6" name="s2-object15-line">
            <a:extLst>
              <a:ext uri="{FF2B5EF4-FFF2-40B4-BE49-F238E27FC236}">
                <a16:creationId xmlns:a16="http://schemas.microsoft.com/office/drawing/2014/main" id="{9122F64B-7F6D-0171-9029-99BEAD221DAF}"/>
              </a:ext>
            </a:extLst>
          </p:cNvPr>
          <p:cNvCxnSpPr/>
          <p:nvPr/>
        </p:nvCxnSpPr>
        <p:spPr>
          <a:xfrm>
            <a:off x="806450" y="2870200"/>
            <a:ext cx="28575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17" name="s2-object16-text">
            <a:extLst>
              <a:ext uri="{FF2B5EF4-FFF2-40B4-BE49-F238E27FC236}">
                <a16:creationId xmlns:a16="http://schemas.microsoft.com/office/drawing/2014/main" id="{8DEC1D1E-F735-1DA0-6393-B2CBF1326713}"/>
              </a:ext>
            </a:extLst>
          </p:cNvPr>
          <p:cNvSpPr txBox="1"/>
          <p:nvPr/>
        </p:nvSpPr>
        <p:spPr>
          <a:xfrm>
            <a:off x="609600" y="3162300"/>
            <a:ext cx="2476500" cy="635000"/>
          </a:xfrm>
          <a:prstGeom prst="rect">
            <a:avLst/>
          </a:prstGeom>
          <a:noFill/>
        </p:spPr>
        <p:txBody>
          <a:bodyPr vert="horz" wrap="square" lIns="0" tIns="0" rIns="0" bIns="0" rtlCol="0" anchor="t">
            <a:noAutofit/>
          </a:bodyPr>
          <a:lstStyle/>
          <a:p>
            <a:r>
              <a:rPr lang="en-IN" sz="2100" b="1">
                <a:solidFill>
                  <a:srgbClr val="193F35"/>
                </a:solidFill>
                <a:latin typeface="Calibri" panose="020F0502020204030204" pitchFamily="34" charset="0"/>
              </a:rPr>
              <a:t>Soil and farming</a:t>
            </a:r>
          </a:p>
        </p:txBody>
      </p:sp>
      <p:sp>
        <p:nvSpPr>
          <p:cNvPr id="18" name="s2-object17-text">
            <a:extLst>
              <a:ext uri="{FF2B5EF4-FFF2-40B4-BE49-F238E27FC236}">
                <a16:creationId xmlns:a16="http://schemas.microsoft.com/office/drawing/2014/main" id="{6B1DFAC7-130F-1665-60CB-B2A2357C61D5}"/>
              </a:ext>
            </a:extLst>
          </p:cNvPr>
          <p:cNvSpPr txBox="1"/>
          <p:nvPr/>
        </p:nvSpPr>
        <p:spPr>
          <a:xfrm>
            <a:off x="609600" y="3937000"/>
            <a:ext cx="2476500" cy="825500"/>
          </a:xfrm>
          <a:prstGeom prst="rect">
            <a:avLst/>
          </a:prstGeom>
          <a:noFill/>
        </p:spPr>
        <p:txBody>
          <a:bodyPr vert="horz" wrap="square" lIns="0" tIns="0" rIns="0" bIns="0" rtlCol="0" anchor="t">
            <a:noAutofit/>
          </a:bodyPr>
          <a:lstStyle/>
          <a:p>
            <a:r>
              <a:rPr lang="en-IN" sz="1700">
                <a:solidFill>
                  <a:srgbClr val="62756A"/>
                </a:solidFill>
                <a:latin typeface="Calibri" panose="020F0502020204030204" pitchFamily="34" charset="0"/>
              </a:rPr>
              <a:t>Soil properties
Management practices</a:t>
            </a:r>
          </a:p>
        </p:txBody>
      </p:sp>
      <p:cxnSp>
        <p:nvCxnSpPr>
          <p:cNvPr id="19" name="s2-object18-line">
            <a:extLst>
              <a:ext uri="{FF2B5EF4-FFF2-40B4-BE49-F238E27FC236}">
                <a16:creationId xmlns:a16="http://schemas.microsoft.com/office/drawing/2014/main" id="{C911DF7B-52EF-D4F6-019D-A55FD654D31A}"/>
              </a:ext>
            </a:extLst>
          </p:cNvPr>
          <p:cNvCxnSpPr/>
          <p:nvPr/>
        </p:nvCxnSpPr>
        <p:spPr>
          <a:xfrm>
            <a:off x="3810000" y="2584450"/>
            <a:ext cx="0" cy="3048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0" name="s2-object19-line">
            <a:extLst>
              <a:ext uri="{FF2B5EF4-FFF2-40B4-BE49-F238E27FC236}">
                <a16:creationId xmlns:a16="http://schemas.microsoft.com/office/drawing/2014/main" id="{C4499B11-6C7A-7905-EAF6-23E3F0CBB478}"/>
              </a:ext>
            </a:extLst>
          </p:cNvPr>
          <p:cNvCxnSpPr/>
          <p:nvPr/>
        </p:nvCxnSpPr>
        <p:spPr>
          <a:xfrm flipH="1" flipV="1">
            <a:off x="3657600" y="2603500"/>
            <a:ext cx="152400" cy="1143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1" name="s2-object20-line">
            <a:extLst>
              <a:ext uri="{FF2B5EF4-FFF2-40B4-BE49-F238E27FC236}">
                <a16:creationId xmlns:a16="http://schemas.microsoft.com/office/drawing/2014/main" id="{FC07007A-3871-3925-22F7-7CD40B2D6E14}"/>
              </a:ext>
            </a:extLst>
          </p:cNvPr>
          <p:cNvCxnSpPr/>
          <p:nvPr/>
        </p:nvCxnSpPr>
        <p:spPr>
          <a:xfrm flipH="1" flipV="1">
            <a:off x="3619500" y="2489200"/>
            <a:ext cx="38100" cy="1143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2" name="s2-object21-line">
            <a:extLst>
              <a:ext uri="{FF2B5EF4-FFF2-40B4-BE49-F238E27FC236}">
                <a16:creationId xmlns:a16="http://schemas.microsoft.com/office/drawing/2014/main" id="{4F664A71-7A10-64DB-C42C-0AAE70CB4136}"/>
              </a:ext>
            </a:extLst>
          </p:cNvPr>
          <p:cNvCxnSpPr/>
          <p:nvPr/>
        </p:nvCxnSpPr>
        <p:spPr>
          <a:xfrm>
            <a:off x="3619500" y="2489200"/>
            <a:ext cx="114300" cy="1905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3" name="s2-object22-line">
            <a:extLst>
              <a:ext uri="{FF2B5EF4-FFF2-40B4-BE49-F238E27FC236}">
                <a16:creationId xmlns:a16="http://schemas.microsoft.com/office/drawing/2014/main" id="{EC10A52B-DD3C-7FA4-C4E7-C18B1CBA2D5D}"/>
              </a:ext>
            </a:extLst>
          </p:cNvPr>
          <p:cNvCxnSpPr/>
          <p:nvPr/>
        </p:nvCxnSpPr>
        <p:spPr>
          <a:xfrm>
            <a:off x="3733800" y="2508250"/>
            <a:ext cx="76200" cy="1143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4" name="s2-object23-line">
            <a:extLst>
              <a:ext uri="{FF2B5EF4-FFF2-40B4-BE49-F238E27FC236}">
                <a16:creationId xmlns:a16="http://schemas.microsoft.com/office/drawing/2014/main" id="{9449511A-B75B-EFEA-0D11-0E326A5ABD87}"/>
              </a:ext>
            </a:extLst>
          </p:cNvPr>
          <p:cNvCxnSpPr/>
          <p:nvPr/>
        </p:nvCxnSpPr>
        <p:spPr>
          <a:xfrm flipV="1">
            <a:off x="3810000" y="2584450"/>
            <a:ext cx="152400" cy="1143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5" name="s2-object24-line">
            <a:extLst>
              <a:ext uri="{FF2B5EF4-FFF2-40B4-BE49-F238E27FC236}">
                <a16:creationId xmlns:a16="http://schemas.microsoft.com/office/drawing/2014/main" id="{AC4C65CB-8881-1CF6-61FE-323B7615CA26}"/>
              </a:ext>
            </a:extLst>
          </p:cNvPr>
          <p:cNvCxnSpPr/>
          <p:nvPr/>
        </p:nvCxnSpPr>
        <p:spPr>
          <a:xfrm flipV="1">
            <a:off x="3962400" y="2451100"/>
            <a:ext cx="57150" cy="13335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6" name="s2-object25-line">
            <a:extLst>
              <a:ext uri="{FF2B5EF4-FFF2-40B4-BE49-F238E27FC236}">
                <a16:creationId xmlns:a16="http://schemas.microsoft.com/office/drawing/2014/main" id="{A399F570-5EB0-4828-EBEC-ACDE65256340}"/>
              </a:ext>
            </a:extLst>
          </p:cNvPr>
          <p:cNvCxnSpPr/>
          <p:nvPr/>
        </p:nvCxnSpPr>
        <p:spPr>
          <a:xfrm flipH="1">
            <a:off x="3886200" y="2451100"/>
            <a:ext cx="133350" cy="381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7" name="s2-object26-line">
            <a:extLst>
              <a:ext uri="{FF2B5EF4-FFF2-40B4-BE49-F238E27FC236}">
                <a16:creationId xmlns:a16="http://schemas.microsoft.com/office/drawing/2014/main" id="{02C8E601-F2F7-25C4-5AC2-BB8265532177}"/>
              </a:ext>
            </a:extLst>
          </p:cNvPr>
          <p:cNvCxnSpPr/>
          <p:nvPr/>
        </p:nvCxnSpPr>
        <p:spPr>
          <a:xfrm flipH="1">
            <a:off x="3810000" y="2489200"/>
            <a:ext cx="76200" cy="1143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8" name="s2-object27-line">
            <a:extLst>
              <a:ext uri="{FF2B5EF4-FFF2-40B4-BE49-F238E27FC236}">
                <a16:creationId xmlns:a16="http://schemas.microsoft.com/office/drawing/2014/main" id="{FCAC1189-402F-1EA3-B1A1-F7E0A980D15B}"/>
              </a:ext>
            </a:extLst>
          </p:cNvPr>
          <p:cNvCxnSpPr/>
          <p:nvPr/>
        </p:nvCxnSpPr>
        <p:spPr>
          <a:xfrm>
            <a:off x="3619500" y="2908300"/>
            <a:ext cx="40005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29" name="s2-object28-text">
            <a:extLst>
              <a:ext uri="{FF2B5EF4-FFF2-40B4-BE49-F238E27FC236}">
                <a16:creationId xmlns:a16="http://schemas.microsoft.com/office/drawing/2014/main" id="{172A223B-3A1A-E866-FC99-34782CDB0EF1}"/>
              </a:ext>
            </a:extLst>
          </p:cNvPr>
          <p:cNvSpPr txBox="1"/>
          <p:nvPr/>
        </p:nvSpPr>
        <p:spPr>
          <a:xfrm>
            <a:off x="3479800" y="3162300"/>
            <a:ext cx="2476500" cy="635000"/>
          </a:xfrm>
          <a:prstGeom prst="rect">
            <a:avLst/>
          </a:prstGeom>
          <a:noFill/>
        </p:spPr>
        <p:txBody>
          <a:bodyPr vert="horz" wrap="square" lIns="0" tIns="0" rIns="0" bIns="0" rtlCol="0" anchor="t">
            <a:noAutofit/>
          </a:bodyPr>
          <a:lstStyle/>
          <a:p>
            <a:r>
              <a:rPr lang="en-IN" sz="2100" b="1">
                <a:solidFill>
                  <a:srgbClr val="193F35"/>
                </a:solidFill>
                <a:latin typeface="Calibri" panose="020F0502020204030204" pitchFamily="34" charset="0"/>
              </a:rPr>
              <a:t>Crop health</a:t>
            </a:r>
          </a:p>
        </p:txBody>
      </p:sp>
      <p:sp>
        <p:nvSpPr>
          <p:cNvPr id="30" name="s2-object29-text">
            <a:extLst>
              <a:ext uri="{FF2B5EF4-FFF2-40B4-BE49-F238E27FC236}">
                <a16:creationId xmlns:a16="http://schemas.microsoft.com/office/drawing/2014/main" id="{074D31B7-EF15-C965-CD23-C4FEE04BEC2D}"/>
              </a:ext>
            </a:extLst>
          </p:cNvPr>
          <p:cNvSpPr txBox="1"/>
          <p:nvPr/>
        </p:nvSpPr>
        <p:spPr>
          <a:xfrm>
            <a:off x="3479800" y="3937000"/>
            <a:ext cx="2476500" cy="825500"/>
          </a:xfrm>
          <a:prstGeom prst="rect">
            <a:avLst/>
          </a:prstGeom>
          <a:noFill/>
        </p:spPr>
        <p:txBody>
          <a:bodyPr vert="horz" wrap="square" lIns="0" tIns="0" rIns="0" bIns="0" rtlCol="0" anchor="t">
            <a:noAutofit/>
          </a:bodyPr>
          <a:lstStyle/>
          <a:p>
            <a:r>
              <a:rPr lang="en-US" sz="1700">
                <a:solidFill>
                  <a:srgbClr val="62756A"/>
                </a:solidFill>
                <a:latin typeface="Calibri" panose="020F0502020204030204" pitchFamily="34" charset="0"/>
              </a:rPr>
              <a:t>Diseases and pathogens
Crop responses</a:t>
            </a:r>
            <a:endParaRPr lang="en-IN" sz="1700">
              <a:solidFill>
                <a:srgbClr val="62756A"/>
              </a:solidFill>
              <a:latin typeface="Calibri" panose="020F0502020204030204" pitchFamily="34" charset="0"/>
            </a:endParaRPr>
          </a:p>
        </p:txBody>
      </p:sp>
      <p:cxnSp>
        <p:nvCxnSpPr>
          <p:cNvPr id="31" name="s2-object30-line">
            <a:extLst>
              <a:ext uri="{FF2B5EF4-FFF2-40B4-BE49-F238E27FC236}">
                <a16:creationId xmlns:a16="http://schemas.microsoft.com/office/drawing/2014/main" id="{EB5488C9-C189-59D0-8B5A-F5DA66BCC9D0}"/>
              </a:ext>
            </a:extLst>
          </p:cNvPr>
          <p:cNvCxnSpPr/>
          <p:nvPr/>
        </p:nvCxnSpPr>
        <p:spPr>
          <a:xfrm>
            <a:off x="6680200" y="2508250"/>
            <a:ext cx="0" cy="3810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2" name="s2-object31-line">
            <a:extLst>
              <a:ext uri="{FF2B5EF4-FFF2-40B4-BE49-F238E27FC236}">
                <a16:creationId xmlns:a16="http://schemas.microsoft.com/office/drawing/2014/main" id="{49B39276-B301-64DF-D9C4-71F08DEF1F9E}"/>
              </a:ext>
            </a:extLst>
          </p:cNvPr>
          <p:cNvCxnSpPr/>
          <p:nvPr/>
        </p:nvCxnSpPr>
        <p:spPr>
          <a:xfrm>
            <a:off x="6470650" y="2470150"/>
            <a:ext cx="0" cy="3810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3" name="s2-object32-line">
            <a:extLst>
              <a:ext uri="{FF2B5EF4-FFF2-40B4-BE49-F238E27FC236}">
                <a16:creationId xmlns:a16="http://schemas.microsoft.com/office/drawing/2014/main" id="{7ACFB86A-3A83-8FCA-EC9A-288FC021423B}"/>
              </a:ext>
            </a:extLst>
          </p:cNvPr>
          <p:cNvCxnSpPr/>
          <p:nvPr/>
        </p:nvCxnSpPr>
        <p:spPr>
          <a:xfrm>
            <a:off x="6889750" y="2470150"/>
            <a:ext cx="0" cy="3810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4" name="s2-object33-line">
            <a:extLst>
              <a:ext uri="{FF2B5EF4-FFF2-40B4-BE49-F238E27FC236}">
                <a16:creationId xmlns:a16="http://schemas.microsoft.com/office/drawing/2014/main" id="{B199D05F-C59C-6F76-8994-696D51DA7AC0}"/>
              </a:ext>
            </a:extLst>
          </p:cNvPr>
          <p:cNvCxnSpPr/>
          <p:nvPr/>
        </p:nvCxnSpPr>
        <p:spPr>
          <a:xfrm>
            <a:off x="6470650" y="2470150"/>
            <a:ext cx="13335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5" name="s2-object34-line">
            <a:extLst>
              <a:ext uri="{FF2B5EF4-FFF2-40B4-BE49-F238E27FC236}">
                <a16:creationId xmlns:a16="http://schemas.microsoft.com/office/drawing/2014/main" id="{1E7BD435-D0F9-4E37-C7DE-5B475E6D84FE}"/>
              </a:ext>
            </a:extLst>
          </p:cNvPr>
          <p:cNvCxnSpPr/>
          <p:nvPr/>
        </p:nvCxnSpPr>
        <p:spPr>
          <a:xfrm>
            <a:off x="6604000" y="2470150"/>
            <a:ext cx="76200" cy="5715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6" name="s2-object35-line">
            <a:extLst>
              <a:ext uri="{FF2B5EF4-FFF2-40B4-BE49-F238E27FC236}">
                <a16:creationId xmlns:a16="http://schemas.microsoft.com/office/drawing/2014/main" id="{7ECA6C45-7289-F04B-5797-043EA3B4D0C2}"/>
              </a:ext>
            </a:extLst>
          </p:cNvPr>
          <p:cNvCxnSpPr/>
          <p:nvPr/>
        </p:nvCxnSpPr>
        <p:spPr>
          <a:xfrm flipV="1">
            <a:off x="6680200" y="2470150"/>
            <a:ext cx="76200" cy="5715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7" name="s2-object36-line">
            <a:extLst>
              <a:ext uri="{FF2B5EF4-FFF2-40B4-BE49-F238E27FC236}">
                <a16:creationId xmlns:a16="http://schemas.microsoft.com/office/drawing/2014/main" id="{A6F59DEB-C8CD-915C-8417-DBB4463A89CF}"/>
              </a:ext>
            </a:extLst>
          </p:cNvPr>
          <p:cNvCxnSpPr/>
          <p:nvPr/>
        </p:nvCxnSpPr>
        <p:spPr>
          <a:xfrm>
            <a:off x="6756400" y="2470150"/>
            <a:ext cx="13335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8" name="s2-object37-line">
            <a:extLst>
              <a:ext uri="{FF2B5EF4-FFF2-40B4-BE49-F238E27FC236}">
                <a16:creationId xmlns:a16="http://schemas.microsoft.com/office/drawing/2014/main" id="{D98B4CDB-AF0E-A590-8A89-BDBD02FBEBBF}"/>
              </a:ext>
            </a:extLst>
          </p:cNvPr>
          <p:cNvCxnSpPr/>
          <p:nvPr/>
        </p:nvCxnSpPr>
        <p:spPr>
          <a:xfrm>
            <a:off x="6470650" y="2851150"/>
            <a:ext cx="13335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9" name="s2-object38-line">
            <a:extLst>
              <a:ext uri="{FF2B5EF4-FFF2-40B4-BE49-F238E27FC236}">
                <a16:creationId xmlns:a16="http://schemas.microsoft.com/office/drawing/2014/main" id="{C968A678-E147-A162-FB9C-262332FD29A5}"/>
              </a:ext>
            </a:extLst>
          </p:cNvPr>
          <p:cNvCxnSpPr/>
          <p:nvPr/>
        </p:nvCxnSpPr>
        <p:spPr>
          <a:xfrm>
            <a:off x="6604000" y="2851150"/>
            <a:ext cx="76200" cy="381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40" name="s2-object39-line">
            <a:extLst>
              <a:ext uri="{FF2B5EF4-FFF2-40B4-BE49-F238E27FC236}">
                <a16:creationId xmlns:a16="http://schemas.microsoft.com/office/drawing/2014/main" id="{80BEF1F2-F660-E061-1FCF-A969CEC58E52}"/>
              </a:ext>
            </a:extLst>
          </p:cNvPr>
          <p:cNvCxnSpPr/>
          <p:nvPr/>
        </p:nvCxnSpPr>
        <p:spPr>
          <a:xfrm flipV="1">
            <a:off x="6680200" y="2851150"/>
            <a:ext cx="76200" cy="381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41" name="s2-object40-line">
            <a:extLst>
              <a:ext uri="{FF2B5EF4-FFF2-40B4-BE49-F238E27FC236}">
                <a16:creationId xmlns:a16="http://schemas.microsoft.com/office/drawing/2014/main" id="{74A1079C-94FF-D933-45AB-26AED0E5B345}"/>
              </a:ext>
            </a:extLst>
          </p:cNvPr>
          <p:cNvCxnSpPr/>
          <p:nvPr/>
        </p:nvCxnSpPr>
        <p:spPr>
          <a:xfrm>
            <a:off x="6756400" y="2851150"/>
            <a:ext cx="13335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42" name="s2-object41-text">
            <a:extLst>
              <a:ext uri="{FF2B5EF4-FFF2-40B4-BE49-F238E27FC236}">
                <a16:creationId xmlns:a16="http://schemas.microsoft.com/office/drawing/2014/main" id="{4A51679B-006B-43A6-6B73-4DC02D360578}"/>
              </a:ext>
            </a:extLst>
          </p:cNvPr>
          <p:cNvSpPr txBox="1"/>
          <p:nvPr/>
        </p:nvSpPr>
        <p:spPr>
          <a:xfrm>
            <a:off x="6350000" y="3162300"/>
            <a:ext cx="2476500" cy="635000"/>
          </a:xfrm>
          <a:prstGeom prst="rect">
            <a:avLst/>
          </a:prstGeom>
          <a:noFill/>
        </p:spPr>
        <p:txBody>
          <a:bodyPr vert="horz" wrap="square" lIns="0" tIns="0" rIns="0" bIns="0" rtlCol="0" anchor="t">
            <a:noAutofit/>
          </a:bodyPr>
          <a:lstStyle/>
          <a:p>
            <a:r>
              <a:rPr lang="en-IN" sz="2100" b="1">
                <a:solidFill>
                  <a:srgbClr val="193F35"/>
                </a:solidFill>
                <a:latin typeface="Calibri" panose="020F0502020204030204" pitchFamily="34" charset="0"/>
              </a:rPr>
              <a:t>Food composition</a:t>
            </a:r>
          </a:p>
        </p:txBody>
      </p:sp>
      <p:sp>
        <p:nvSpPr>
          <p:cNvPr id="43" name="s2-object42-text">
            <a:extLst>
              <a:ext uri="{FF2B5EF4-FFF2-40B4-BE49-F238E27FC236}">
                <a16:creationId xmlns:a16="http://schemas.microsoft.com/office/drawing/2014/main" id="{0AB0EF57-44DB-3210-7050-A0C71AA13475}"/>
              </a:ext>
            </a:extLst>
          </p:cNvPr>
          <p:cNvSpPr txBox="1"/>
          <p:nvPr/>
        </p:nvSpPr>
        <p:spPr>
          <a:xfrm>
            <a:off x="6350000" y="3937000"/>
            <a:ext cx="2476500" cy="825500"/>
          </a:xfrm>
          <a:prstGeom prst="rect">
            <a:avLst/>
          </a:prstGeom>
          <a:noFill/>
        </p:spPr>
        <p:txBody>
          <a:bodyPr vert="horz" wrap="square" lIns="0" tIns="0" rIns="0" bIns="0" rtlCol="0" anchor="t">
            <a:noAutofit/>
          </a:bodyPr>
          <a:lstStyle/>
          <a:p>
            <a:r>
              <a:rPr lang="en-US" sz="1700">
                <a:solidFill>
                  <a:srgbClr val="62756A"/>
                </a:solidFill>
                <a:latin typeface="Calibri" panose="020F0502020204030204" pitchFamily="34" charset="0"/>
              </a:rPr>
              <a:t>Nutrients and toxins
Food quality</a:t>
            </a:r>
            <a:endParaRPr lang="en-IN" sz="1700">
              <a:solidFill>
                <a:srgbClr val="62756A"/>
              </a:solidFill>
              <a:latin typeface="Calibri" panose="020F0502020204030204" pitchFamily="34" charset="0"/>
            </a:endParaRPr>
          </a:p>
        </p:txBody>
      </p:sp>
      <p:sp>
        <p:nvSpPr>
          <p:cNvPr id="44" name="s2-object43-ellipse">
            <a:extLst>
              <a:ext uri="{FF2B5EF4-FFF2-40B4-BE49-F238E27FC236}">
                <a16:creationId xmlns:a16="http://schemas.microsoft.com/office/drawing/2014/main" id="{9D8E7D2D-4314-C512-B7AC-3164AD4CE6F3}"/>
              </a:ext>
            </a:extLst>
          </p:cNvPr>
          <p:cNvSpPr/>
          <p:nvPr/>
        </p:nvSpPr>
        <p:spPr>
          <a:xfrm>
            <a:off x="9474200" y="2432050"/>
            <a:ext cx="152400" cy="152400"/>
          </a:xfrm>
          <a:prstGeom prst="ellipse">
            <a:avLst/>
          </a:prstGeom>
          <a:solidFill>
            <a:srgbClr val="FFFFFF"/>
          </a:solidFill>
          <a:ln w="10160">
            <a:solidFill>
              <a:srgbClr val="2D725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5" name="s2-object44-line">
            <a:extLst>
              <a:ext uri="{FF2B5EF4-FFF2-40B4-BE49-F238E27FC236}">
                <a16:creationId xmlns:a16="http://schemas.microsoft.com/office/drawing/2014/main" id="{638D8E33-97E5-FA71-0C0F-9549A376DF7F}"/>
              </a:ext>
            </a:extLst>
          </p:cNvPr>
          <p:cNvCxnSpPr/>
          <p:nvPr/>
        </p:nvCxnSpPr>
        <p:spPr>
          <a:xfrm>
            <a:off x="9550400" y="2603500"/>
            <a:ext cx="0" cy="24765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46" name="s2-object45-line">
            <a:extLst>
              <a:ext uri="{FF2B5EF4-FFF2-40B4-BE49-F238E27FC236}">
                <a16:creationId xmlns:a16="http://schemas.microsoft.com/office/drawing/2014/main" id="{E1CEEE97-B727-51E6-2884-F05BA457B960}"/>
              </a:ext>
            </a:extLst>
          </p:cNvPr>
          <p:cNvCxnSpPr/>
          <p:nvPr/>
        </p:nvCxnSpPr>
        <p:spPr>
          <a:xfrm>
            <a:off x="9378950" y="2698750"/>
            <a:ext cx="34290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47" name="s2-object46-line">
            <a:extLst>
              <a:ext uri="{FF2B5EF4-FFF2-40B4-BE49-F238E27FC236}">
                <a16:creationId xmlns:a16="http://schemas.microsoft.com/office/drawing/2014/main" id="{93E0AF00-76D7-3574-263B-9734A811A515}"/>
              </a:ext>
            </a:extLst>
          </p:cNvPr>
          <p:cNvCxnSpPr/>
          <p:nvPr/>
        </p:nvCxnSpPr>
        <p:spPr>
          <a:xfrm flipH="1">
            <a:off x="9417050" y="2851150"/>
            <a:ext cx="133350" cy="1143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48" name="s2-object47-line">
            <a:extLst>
              <a:ext uri="{FF2B5EF4-FFF2-40B4-BE49-F238E27FC236}">
                <a16:creationId xmlns:a16="http://schemas.microsoft.com/office/drawing/2014/main" id="{5B8E272B-E9B6-2B9A-98AB-E83373765032}"/>
              </a:ext>
            </a:extLst>
          </p:cNvPr>
          <p:cNvCxnSpPr/>
          <p:nvPr/>
        </p:nvCxnSpPr>
        <p:spPr>
          <a:xfrm>
            <a:off x="9550400" y="2851150"/>
            <a:ext cx="133350" cy="1143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49" name="s2-object48-text">
            <a:extLst>
              <a:ext uri="{FF2B5EF4-FFF2-40B4-BE49-F238E27FC236}">
                <a16:creationId xmlns:a16="http://schemas.microsoft.com/office/drawing/2014/main" id="{130815CE-35FA-90D9-F886-66AE27DBDDD2}"/>
              </a:ext>
            </a:extLst>
          </p:cNvPr>
          <p:cNvSpPr txBox="1"/>
          <p:nvPr/>
        </p:nvSpPr>
        <p:spPr>
          <a:xfrm>
            <a:off x="9220200" y="3162300"/>
            <a:ext cx="2476500" cy="635000"/>
          </a:xfrm>
          <a:prstGeom prst="rect">
            <a:avLst/>
          </a:prstGeom>
          <a:noFill/>
        </p:spPr>
        <p:txBody>
          <a:bodyPr vert="horz" wrap="square" lIns="0" tIns="0" rIns="0" bIns="0" rtlCol="0" anchor="t">
            <a:noAutofit/>
          </a:bodyPr>
          <a:lstStyle/>
          <a:p>
            <a:r>
              <a:rPr lang="en-IN" sz="2100" b="1">
                <a:solidFill>
                  <a:srgbClr val="193F35"/>
                </a:solidFill>
                <a:latin typeface="Calibri" panose="020F0502020204030204" pitchFamily="34" charset="0"/>
              </a:rPr>
              <a:t>Human health</a:t>
            </a:r>
          </a:p>
        </p:txBody>
      </p:sp>
      <p:sp>
        <p:nvSpPr>
          <p:cNvPr id="50" name="s2-object49-text">
            <a:extLst>
              <a:ext uri="{FF2B5EF4-FFF2-40B4-BE49-F238E27FC236}">
                <a16:creationId xmlns:a16="http://schemas.microsoft.com/office/drawing/2014/main" id="{43044B05-B5FE-FC68-9236-96E46AE26FE3}"/>
              </a:ext>
            </a:extLst>
          </p:cNvPr>
          <p:cNvSpPr txBox="1"/>
          <p:nvPr/>
        </p:nvSpPr>
        <p:spPr>
          <a:xfrm>
            <a:off x="9220200" y="3937000"/>
            <a:ext cx="2476500" cy="825500"/>
          </a:xfrm>
          <a:prstGeom prst="rect">
            <a:avLst/>
          </a:prstGeom>
          <a:noFill/>
        </p:spPr>
        <p:txBody>
          <a:bodyPr vert="horz" wrap="square" lIns="0" tIns="0" rIns="0" bIns="0" rtlCol="0" anchor="t">
            <a:noAutofit/>
          </a:bodyPr>
          <a:lstStyle/>
          <a:p>
            <a:r>
              <a:rPr lang="en-IN" sz="1700">
                <a:solidFill>
                  <a:srgbClr val="62756A"/>
                </a:solidFill>
                <a:latin typeface="Calibri" panose="020F0502020204030204" pitchFamily="34" charset="0"/>
              </a:rPr>
              <a:t>Exposure routes
Biological outcomes</a:t>
            </a:r>
          </a:p>
        </p:txBody>
      </p:sp>
      <p:cxnSp>
        <p:nvCxnSpPr>
          <p:cNvPr id="51" name="s2-object50-line">
            <a:extLst>
              <a:ext uri="{FF2B5EF4-FFF2-40B4-BE49-F238E27FC236}">
                <a16:creationId xmlns:a16="http://schemas.microsoft.com/office/drawing/2014/main" id="{F4CADC5C-6EF5-33D2-8EFF-27546E36C450}"/>
              </a:ext>
            </a:extLst>
          </p:cNvPr>
          <p:cNvCxnSpPr/>
          <p:nvPr/>
        </p:nvCxnSpPr>
        <p:spPr>
          <a:xfrm>
            <a:off x="3073400" y="2794000"/>
            <a:ext cx="279400" cy="0"/>
          </a:xfrm>
          <a:prstGeom prst="line">
            <a:avLst/>
          </a:prstGeom>
          <a:ln w="19050">
            <a:solidFill>
              <a:srgbClr val="2D7257"/>
            </a:solidFill>
            <a:tailEnd type="arrow"/>
          </a:ln>
        </p:spPr>
        <p:style>
          <a:lnRef idx="2">
            <a:schemeClr val="accent1"/>
          </a:lnRef>
          <a:fillRef idx="0">
            <a:schemeClr val="accent1"/>
          </a:fillRef>
          <a:effectRef idx="1">
            <a:schemeClr val="accent1"/>
          </a:effectRef>
          <a:fontRef idx="minor">
            <a:schemeClr val="tx1"/>
          </a:fontRef>
        </p:style>
      </p:cxnSp>
      <p:cxnSp>
        <p:nvCxnSpPr>
          <p:cNvPr id="52" name="s2-object51-line">
            <a:extLst>
              <a:ext uri="{FF2B5EF4-FFF2-40B4-BE49-F238E27FC236}">
                <a16:creationId xmlns:a16="http://schemas.microsoft.com/office/drawing/2014/main" id="{B417FB17-8B44-BE65-E51B-E8681B0DD4D9}"/>
              </a:ext>
            </a:extLst>
          </p:cNvPr>
          <p:cNvCxnSpPr/>
          <p:nvPr/>
        </p:nvCxnSpPr>
        <p:spPr>
          <a:xfrm>
            <a:off x="5943600" y="2794000"/>
            <a:ext cx="279400" cy="0"/>
          </a:xfrm>
          <a:prstGeom prst="line">
            <a:avLst/>
          </a:prstGeom>
          <a:ln w="19050">
            <a:solidFill>
              <a:srgbClr val="2D7257"/>
            </a:solidFill>
            <a:tailEnd type="arrow"/>
          </a:ln>
        </p:spPr>
        <p:style>
          <a:lnRef idx="2">
            <a:schemeClr val="accent1"/>
          </a:lnRef>
          <a:fillRef idx="0">
            <a:schemeClr val="accent1"/>
          </a:fillRef>
          <a:effectRef idx="1">
            <a:schemeClr val="accent1"/>
          </a:effectRef>
          <a:fontRef idx="minor">
            <a:schemeClr val="tx1"/>
          </a:fontRef>
        </p:style>
      </p:cxnSp>
      <p:cxnSp>
        <p:nvCxnSpPr>
          <p:cNvPr id="53" name="s2-object52-line">
            <a:extLst>
              <a:ext uri="{FF2B5EF4-FFF2-40B4-BE49-F238E27FC236}">
                <a16:creationId xmlns:a16="http://schemas.microsoft.com/office/drawing/2014/main" id="{EF45D319-DBF6-F540-A19C-FF3AE331263C}"/>
              </a:ext>
            </a:extLst>
          </p:cNvPr>
          <p:cNvCxnSpPr/>
          <p:nvPr/>
        </p:nvCxnSpPr>
        <p:spPr>
          <a:xfrm>
            <a:off x="8813800" y="2794000"/>
            <a:ext cx="279400" cy="0"/>
          </a:xfrm>
          <a:prstGeom prst="line">
            <a:avLst/>
          </a:prstGeom>
          <a:ln w="19050">
            <a:solidFill>
              <a:srgbClr val="2D7257"/>
            </a:solidFill>
            <a:tailEnd type="arrow"/>
          </a:ln>
        </p:spPr>
        <p:style>
          <a:lnRef idx="2">
            <a:schemeClr val="accent1"/>
          </a:lnRef>
          <a:fillRef idx="0">
            <a:schemeClr val="accent1"/>
          </a:fillRef>
          <a:effectRef idx="1">
            <a:schemeClr val="accent1"/>
          </a:effectRef>
          <a:fontRef idx="minor">
            <a:schemeClr val="tx1"/>
          </a:fontRef>
        </p:style>
      </p:cxnSp>
      <p:sp>
        <p:nvSpPr>
          <p:cNvPr id="54" name="s2-object53-rect">
            <a:extLst>
              <a:ext uri="{FF2B5EF4-FFF2-40B4-BE49-F238E27FC236}">
                <a16:creationId xmlns:a16="http://schemas.microsoft.com/office/drawing/2014/main" id="{939CA06A-3E3E-5350-1630-074781CB44FA}"/>
              </a:ext>
            </a:extLst>
          </p:cNvPr>
          <p:cNvSpPr/>
          <p:nvPr/>
        </p:nvSpPr>
        <p:spPr>
          <a:xfrm>
            <a:off x="609600" y="5194300"/>
            <a:ext cx="10972800" cy="850900"/>
          </a:xfrm>
          <a:prstGeom prst="rect">
            <a:avLst/>
          </a:prstGeom>
          <a:solidFill>
            <a:srgbClr val="EDF4E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s2-object54-text">
            <a:extLst>
              <a:ext uri="{FF2B5EF4-FFF2-40B4-BE49-F238E27FC236}">
                <a16:creationId xmlns:a16="http://schemas.microsoft.com/office/drawing/2014/main" id="{7981545D-73C4-FF49-8CDD-5D7F4CC94B54}"/>
              </a:ext>
            </a:extLst>
          </p:cNvPr>
          <p:cNvSpPr txBox="1"/>
          <p:nvPr/>
        </p:nvSpPr>
        <p:spPr>
          <a:xfrm>
            <a:off x="838200" y="5384800"/>
            <a:ext cx="2032000" cy="292100"/>
          </a:xfrm>
          <a:prstGeom prst="rect">
            <a:avLst/>
          </a:prstGeom>
          <a:noFill/>
        </p:spPr>
        <p:txBody>
          <a:bodyPr vert="horz" wrap="square" lIns="0" tIns="0" rIns="0" bIns="0" rtlCol="0" anchor="t">
            <a:noAutofit/>
          </a:bodyPr>
          <a:lstStyle/>
          <a:p>
            <a:r>
              <a:rPr lang="en-IN" sz="1600" b="1">
                <a:solidFill>
                  <a:srgbClr val="2D7257"/>
                </a:solidFill>
                <a:latin typeface="Calibri" panose="020F0502020204030204" pitchFamily="34" charset="0"/>
              </a:rPr>
              <a:t>Research need</a:t>
            </a:r>
          </a:p>
        </p:txBody>
      </p:sp>
      <p:sp>
        <p:nvSpPr>
          <p:cNvPr id="56" name="s2-object55-text">
            <a:extLst>
              <a:ext uri="{FF2B5EF4-FFF2-40B4-BE49-F238E27FC236}">
                <a16:creationId xmlns:a16="http://schemas.microsoft.com/office/drawing/2014/main" id="{68A956D7-96A6-DEE6-45A3-79BAE722F904}"/>
              </a:ext>
            </a:extLst>
          </p:cNvPr>
          <p:cNvSpPr txBox="1"/>
          <p:nvPr/>
        </p:nvSpPr>
        <p:spPr>
          <a:xfrm>
            <a:off x="2857500" y="5384800"/>
            <a:ext cx="8382000" cy="508000"/>
          </a:xfrm>
          <a:prstGeom prst="rect">
            <a:avLst/>
          </a:prstGeom>
          <a:noFill/>
        </p:spPr>
        <p:txBody>
          <a:bodyPr vert="horz" wrap="square" lIns="0" tIns="0" rIns="0" bIns="0" rtlCol="0" anchor="t">
            <a:noAutofit/>
          </a:bodyPr>
          <a:lstStyle/>
          <a:p>
            <a:r>
              <a:rPr lang="en-US" sz="1900">
                <a:solidFill>
                  <a:srgbClr val="193F35"/>
                </a:solidFill>
                <a:latin typeface="Calibri" panose="020F0502020204030204" pitchFamily="34" charset="0"/>
              </a:rPr>
              <a:t>Connect claims while retaining what each paper actually supports.</a:t>
            </a:r>
            <a:endParaRPr lang="en-IN" sz="1900">
              <a:solidFill>
                <a:srgbClr val="193F35"/>
              </a:solidFill>
              <a:latin typeface="Calibri" panose="020F0502020204030204" pitchFamily="34" charset="0"/>
            </a:endParaRPr>
          </a:p>
        </p:txBody>
      </p:sp>
    </p:spTree>
    <p:extLst>
      <p:ext uri="{BB962C8B-B14F-4D97-AF65-F5344CB8AC3E}">
        <p14:creationId xmlns:p14="http://schemas.microsoft.com/office/powerpoint/2010/main" val="1018519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DFB"/>
        </a:solidFill>
        <a:effectLst/>
      </p:bgPr>
    </p:bg>
    <p:spTree>
      <p:nvGrpSpPr>
        <p:cNvPr id="1" name=""/>
        <p:cNvGrpSpPr/>
        <p:nvPr/>
      </p:nvGrpSpPr>
      <p:grpSpPr>
        <a:xfrm>
          <a:off x="0" y="0"/>
          <a:ext cx="0" cy="0"/>
          <a:chOff x="0" y="0"/>
          <a:chExt cx="0" cy="0"/>
        </a:xfrm>
      </p:grpSpPr>
      <p:sp>
        <p:nvSpPr>
          <p:cNvPr id="2" name="s3-object1-text">
            <a:extLst>
              <a:ext uri="{FF2B5EF4-FFF2-40B4-BE49-F238E27FC236}">
                <a16:creationId xmlns:a16="http://schemas.microsoft.com/office/drawing/2014/main" id="{0E7F3F79-665F-9B66-9D5D-B23580CADCAF}"/>
              </a:ext>
            </a:extLst>
          </p:cNvPr>
          <p:cNvSpPr txBox="1"/>
          <p:nvPr/>
        </p:nvSpPr>
        <p:spPr>
          <a:xfrm>
            <a:off x="609600" y="304800"/>
            <a:ext cx="10160000" cy="228600"/>
          </a:xfrm>
          <a:prstGeom prst="rect">
            <a:avLst/>
          </a:prstGeom>
          <a:noFill/>
        </p:spPr>
        <p:txBody>
          <a:bodyPr vert="horz" wrap="square" lIns="0" tIns="0" rIns="0" bIns="0" rtlCol="0" anchor="t">
            <a:noAutofit/>
          </a:bodyPr>
          <a:lstStyle/>
          <a:p>
            <a:r>
              <a:rPr lang="en-IN" sz="1000" b="1">
                <a:solidFill>
                  <a:srgbClr val="2D7257"/>
                </a:solidFill>
                <a:latin typeface="Calibri" panose="020F0502020204030204" pitchFamily="34" charset="0"/>
              </a:rPr>
              <a:t>RESEARCH OBJECTIVES</a:t>
            </a:r>
          </a:p>
        </p:txBody>
      </p:sp>
      <p:sp>
        <p:nvSpPr>
          <p:cNvPr id="3" name="s3-object2-text">
            <a:extLst>
              <a:ext uri="{FF2B5EF4-FFF2-40B4-BE49-F238E27FC236}">
                <a16:creationId xmlns:a16="http://schemas.microsoft.com/office/drawing/2014/main" id="{332F63C2-0629-1535-D2EA-12492883EC19}"/>
              </a:ext>
            </a:extLst>
          </p:cNvPr>
          <p:cNvSpPr txBox="1"/>
          <p:nvPr/>
        </p:nvSpPr>
        <p:spPr>
          <a:xfrm>
            <a:off x="609600" y="647700"/>
            <a:ext cx="10972800" cy="622300"/>
          </a:xfrm>
          <a:prstGeom prst="rect">
            <a:avLst/>
          </a:prstGeom>
          <a:noFill/>
        </p:spPr>
        <p:txBody>
          <a:bodyPr vert="horz" wrap="square" lIns="0" tIns="0" rIns="0" bIns="0" rtlCol="0" anchor="t">
            <a:noAutofit/>
          </a:bodyPr>
          <a:lstStyle/>
          <a:p>
            <a:r>
              <a:rPr lang="en-US" sz="3000" b="1">
                <a:solidFill>
                  <a:srgbClr val="193F35"/>
                </a:solidFill>
                <a:latin typeface="Calibri" panose="020F0502020204030204" pitchFamily="34" charset="0"/>
              </a:rPr>
              <a:t>Research objectives and domain scope</a:t>
            </a:r>
            <a:endParaRPr lang="en-IN" sz="3000" b="1">
              <a:solidFill>
                <a:srgbClr val="193F35"/>
              </a:solidFill>
              <a:latin typeface="Calibri" panose="020F0502020204030204" pitchFamily="34" charset="0"/>
            </a:endParaRPr>
          </a:p>
        </p:txBody>
      </p:sp>
      <p:sp>
        <p:nvSpPr>
          <p:cNvPr id="4" name="s3-object3-text">
            <a:extLst>
              <a:ext uri="{FF2B5EF4-FFF2-40B4-BE49-F238E27FC236}">
                <a16:creationId xmlns:a16="http://schemas.microsoft.com/office/drawing/2014/main" id="{59D5814A-4502-0E03-4A98-FE55858D75D8}"/>
              </a:ext>
            </a:extLst>
          </p:cNvPr>
          <p:cNvSpPr txBox="1"/>
          <p:nvPr/>
        </p:nvSpPr>
        <p:spPr>
          <a:xfrm>
            <a:off x="609600" y="1346200"/>
            <a:ext cx="10972800" cy="584200"/>
          </a:xfrm>
          <a:prstGeom prst="rect">
            <a:avLst/>
          </a:prstGeom>
          <a:noFill/>
        </p:spPr>
        <p:txBody>
          <a:bodyPr vert="horz" wrap="square" lIns="0" tIns="0" rIns="0" bIns="0" rtlCol="0" anchor="t">
            <a:noAutofit/>
          </a:bodyPr>
          <a:lstStyle/>
          <a:p>
            <a:r>
              <a:rPr lang="en-US" sz="1600">
                <a:solidFill>
                  <a:srgbClr val="62756A"/>
                </a:solidFill>
                <a:latin typeface="Calibri" panose="020F0502020204030204" pitchFamily="34" charset="0"/>
              </a:rPr>
              <a:t>Build a cumulative graph that researchers can inspect from a pathway down to its exact evidence.</a:t>
            </a:r>
            <a:endParaRPr lang="en-IN" sz="1600">
              <a:solidFill>
                <a:srgbClr val="62756A"/>
              </a:solidFill>
              <a:latin typeface="Calibri" panose="020F0502020204030204" pitchFamily="34" charset="0"/>
            </a:endParaRPr>
          </a:p>
        </p:txBody>
      </p:sp>
      <p:cxnSp>
        <p:nvCxnSpPr>
          <p:cNvPr id="5" name="s3-object4-line">
            <a:extLst>
              <a:ext uri="{FF2B5EF4-FFF2-40B4-BE49-F238E27FC236}">
                <a16:creationId xmlns:a16="http://schemas.microsoft.com/office/drawing/2014/main" id="{3593E3E4-C117-6A01-6A9E-DA094BDFDEA5}"/>
              </a:ext>
            </a:extLst>
          </p:cNvPr>
          <p:cNvCxnSpPr/>
          <p:nvPr/>
        </p:nvCxnSpPr>
        <p:spPr>
          <a:xfrm>
            <a:off x="609600" y="6477000"/>
            <a:ext cx="10972800" cy="0"/>
          </a:xfrm>
          <a:prstGeom prst="line">
            <a:avLst/>
          </a:prstGeom>
          <a:ln w="15240">
            <a:solidFill>
              <a:srgbClr val="D7E3DA"/>
            </a:solidFill>
          </a:ln>
        </p:spPr>
        <p:style>
          <a:lnRef idx="2">
            <a:schemeClr val="accent1"/>
          </a:lnRef>
          <a:fillRef idx="0">
            <a:schemeClr val="accent1"/>
          </a:fillRef>
          <a:effectRef idx="1">
            <a:schemeClr val="accent1"/>
          </a:effectRef>
          <a:fontRef idx="minor">
            <a:schemeClr val="tx1"/>
          </a:fontRef>
        </p:style>
      </p:cxnSp>
      <p:sp>
        <p:nvSpPr>
          <p:cNvPr id="6" name="s3-object5-text">
            <a:extLst>
              <a:ext uri="{FF2B5EF4-FFF2-40B4-BE49-F238E27FC236}">
                <a16:creationId xmlns:a16="http://schemas.microsoft.com/office/drawing/2014/main" id="{FEE2BA75-3AA2-E257-D264-6CBB699CFEE1}"/>
              </a:ext>
            </a:extLst>
          </p:cNvPr>
          <p:cNvSpPr txBox="1"/>
          <p:nvPr/>
        </p:nvSpPr>
        <p:spPr>
          <a:xfrm>
            <a:off x="609600" y="6553200"/>
            <a:ext cx="8255000" cy="190500"/>
          </a:xfrm>
          <a:prstGeom prst="rect">
            <a:avLst/>
          </a:prstGeom>
          <a:noFill/>
        </p:spPr>
        <p:txBody>
          <a:bodyPr vert="horz" wrap="square" lIns="0" tIns="0" rIns="0" bIns="0" rtlCol="0" anchor="t">
            <a:noAutofit/>
          </a:bodyPr>
          <a:lstStyle/>
          <a:p>
            <a:r>
              <a:rPr lang="en-US" sz="900">
                <a:solidFill>
                  <a:srgbClr val="62756A"/>
                </a:solidFill>
                <a:latin typeface="Calibri" panose="020F0502020204030204" pitchFamily="34" charset="0"/>
              </a:rPr>
              <a:t>Reasoning with Food Knowledge Graphs</a:t>
            </a:r>
            <a:endParaRPr lang="en-IN" sz="900">
              <a:solidFill>
                <a:srgbClr val="62756A"/>
              </a:solidFill>
              <a:latin typeface="Calibri" panose="020F0502020204030204" pitchFamily="34" charset="0"/>
            </a:endParaRPr>
          </a:p>
        </p:txBody>
      </p:sp>
      <p:sp>
        <p:nvSpPr>
          <p:cNvPr id="7" name="s3-object6-text">
            <a:extLst>
              <a:ext uri="{FF2B5EF4-FFF2-40B4-BE49-F238E27FC236}">
                <a16:creationId xmlns:a16="http://schemas.microsoft.com/office/drawing/2014/main" id="{C6CBE713-DDFD-629C-82A4-2B3667325B80}"/>
              </a:ext>
            </a:extLst>
          </p:cNvPr>
          <p:cNvSpPr txBox="1"/>
          <p:nvPr/>
        </p:nvSpPr>
        <p:spPr>
          <a:xfrm>
            <a:off x="11049000" y="6553200"/>
            <a:ext cx="533400" cy="190500"/>
          </a:xfrm>
          <a:prstGeom prst="rect">
            <a:avLst/>
          </a:prstGeom>
          <a:noFill/>
        </p:spPr>
        <p:txBody>
          <a:bodyPr vert="horz" wrap="square" lIns="0" tIns="0" rIns="0" bIns="0" rtlCol="0" anchor="t">
            <a:noAutofit/>
          </a:bodyPr>
          <a:lstStyle/>
          <a:p>
            <a:pPr algn="r"/>
            <a:r>
              <a:rPr lang="en-IN" sz="900">
                <a:solidFill>
                  <a:srgbClr val="62756A"/>
                </a:solidFill>
                <a:latin typeface="Calibri" panose="020F0502020204030204" pitchFamily="34" charset="0"/>
              </a:rPr>
              <a:t>3</a:t>
            </a:r>
          </a:p>
        </p:txBody>
      </p:sp>
      <p:sp>
        <p:nvSpPr>
          <p:cNvPr id="8" name="s3-object7-ellipse">
            <a:extLst>
              <a:ext uri="{FF2B5EF4-FFF2-40B4-BE49-F238E27FC236}">
                <a16:creationId xmlns:a16="http://schemas.microsoft.com/office/drawing/2014/main" id="{DA8860DF-5E86-F781-4AB9-DB76D3B3E96C}"/>
              </a:ext>
            </a:extLst>
          </p:cNvPr>
          <p:cNvSpPr/>
          <p:nvPr/>
        </p:nvSpPr>
        <p:spPr>
          <a:xfrm>
            <a:off x="635000" y="2133600"/>
            <a:ext cx="381000" cy="381000"/>
          </a:xfrm>
          <a:prstGeom prst="ellipse">
            <a:avLst/>
          </a:prstGeom>
          <a:solidFill>
            <a:srgbClr val="EDF4E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s3-object8-text">
            <a:extLst>
              <a:ext uri="{FF2B5EF4-FFF2-40B4-BE49-F238E27FC236}">
                <a16:creationId xmlns:a16="http://schemas.microsoft.com/office/drawing/2014/main" id="{344E2FA0-3AB2-92C5-7289-B1320C096C5A}"/>
              </a:ext>
            </a:extLst>
          </p:cNvPr>
          <p:cNvSpPr txBox="1"/>
          <p:nvPr/>
        </p:nvSpPr>
        <p:spPr>
          <a:xfrm>
            <a:off x="673100" y="2171700"/>
            <a:ext cx="304800" cy="304800"/>
          </a:xfrm>
          <a:prstGeom prst="rect">
            <a:avLst/>
          </a:prstGeom>
          <a:noFill/>
        </p:spPr>
        <p:txBody>
          <a:bodyPr vert="horz" wrap="square" lIns="0" tIns="0" rIns="0" bIns="0" rtlCol="0" anchor="t">
            <a:noAutofit/>
          </a:bodyPr>
          <a:lstStyle/>
          <a:p>
            <a:pPr algn="ctr"/>
            <a:r>
              <a:rPr lang="en-IN" sz="1500" b="1">
                <a:solidFill>
                  <a:srgbClr val="2D7257"/>
                </a:solidFill>
                <a:latin typeface="Calibri" panose="020F0502020204030204" pitchFamily="34" charset="0"/>
              </a:rPr>
              <a:t>1</a:t>
            </a:r>
          </a:p>
        </p:txBody>
      </p:sp>
      <p:sp>
        <p:nvSpPr>
          <p:cNvPr id="10" name="s3-object9-text">
            <a:extLst>
              <a:ext uri="{FF2B5EF4-FFF2-40B4-BE49-F238E27FC236}">
                <a16:creationId xmlns:a16="http://schemas.microsoft.com/office/drawing/2014/main" id="{A1F5D327-E2A3-0CA2-C7FF-6C1C10C2E4FD}"/>
              </a:ext>
            </a:extLst>
          </p:cNvPr>
          <p:cNvSpPr txBox="1"/>
          <p:nvPr/>
        </p:nvSpPr>
        <p:spPr>
          <a:xfrm>
            <a:off x="1231900" y="2133600"/>
            <a:ext cx="9652000" cy="342900"/>
          </a:xfrm>
          <a:prstGeom prst="rect">
            <a:avLst/>
          </a:prstGeom>
          <a:noFill/>
        </p:spPr>
        <p:txBody>
          <a:bodyPr vert="horz" wrap="square" lIns="0" tIns="0" rIns="0" bIns="0" rtlCol="0" anchor="t">
            <a:noAutofit/>
          </a:bodyPr>
          <a:lstStyle/>
          <a:p>
            <a:r>
              <a:rPr lang="en-IN" sz="2100" b="1">
                <a:solidFill>
                  <a:srgbClr val="193F35"/>
                </a:solidFill>
                <a:latin typeface="Calibri" panose="020F0502020204030204" pitchFamily="34" charset="0"/>
              </a:rPr>
              <a:t>Represent scientific relationships</a:t>
            </a:r>
          </a:p>
        </p:txBody>
      </p:sp>
      <p:sp>
        <p:nvSpPr>
          <p:cNvPr id="11" name="s3-object10-text">
            <a:extLst>
              <a:ext uri="{FF2B5EF4-FFF2-40B4-BE49-F238E27FC236}">
                <a16:creationId xmlns:a16="http://schemas.microsoft.com/office/drawing/2014/main" id="{26096CDE-E1A4-D245-A2C4-D3A2BA27FE9E}"/>
              </a:ext>
            </a:extLst>
          </p:cNvPr>
          <p:cNvSpPr txBox="1"/>
          <p:nvPr/>
        </p:nvSpPr>
        <p:spPr>
          <a:xfrm>
            <a:off x="1231900" y="2527300"/>
            <a:ext cx="9842500" cy="368300"/>
          </a:xfrm>
          <a:prstGeom prst="rect">
            <a:avLst/>
          </a:prstGeom>
          <a:noFill/>
        </p:spPr>
        <p:txBody>
          <a:bodyPr vert="horz" wrap="square" lIns="0" tIns="0" rIns="0" bIns="0" rtlCol="0" anchor="t">
            <a:noAutofit/>
          </a:bodyPr>
          <a:lstStyle/>
          <a:p>
            <a:r>
              <a:rPr lang="en-US" sz="1600">
                <a:solidFill>
                  <a:srgbClr val="62756A"/>
                </a:solidFill>
                <a:latin typeface="Calibri" panose="020F0502020204030204" pitchFamily="34" charset="0"/>
              </a:rPr>
              <a:t>Extract direct biological and food-quality claims with their conditions.</a:t>
            </a:r>
            <a:endParaRPr lang="en-IN" sz="1600">
              <a:solidFill>
                <a:srgbClr val="62756A"/>
              </a:solidFill>
              <a:latin typeface="Calibri" panose="020F0502020204030204" pitchFamily="34" charset="0"/>
            </a:endParaRPr>
          </a:p>
        </p:txBody>
      </p:sp>
      <p:sp>
        <p:nvSpPr>
          <p:cNvPr id="12" name="s3-object11-ellipse">
            <a:extLst>
              <a:ext uri="{FF2B5EF4-FFF2-40B4-BE49-F238E27FC236}">
                <a16:creationId xmlns:a16="http://schemas.microsoft.com/office/drawing/2014/main" id="{394627BE-E41D-A877-24EF-6DD7A0A225E7}"/>
              </a:ext>
            </a:extLst>
          </p:cNvPr>
          <p:cNvSpPr/>
          <p:nvPr/>
        </p:nvSpPr>
        <p:spPr>
          <a:xfrm>
            <a:off x="635000" y="3048000"/>
            <a:ext cx="381000" cy="381000"/>
          </a:xfrm>
          <a:prstGeom prst="ellipse">
            <a:avLst/>
          </a:prstGeom>
          <a:solidFill>
            <a:srgbClr val="EDF4E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s3-object12-text">
            <a:extLst>
              <a:ext uri="{FF2B5EF4-FFF2-40B4-BE49-F238E27FC236}">
                <a16:creationId xmlns:a16="http://schemas.microsoft.com/office/drawing/2014/main" id="{A5869963-3F87-47F2-42B7-747CAEE995E9}"/>
              </a:ext>
            </a:extLst>
          </p:cNvPr>
          <p:cNvSpPr txBox="1"/>
          <p:nvPr/>
        </p:nvSpPr>
        <p:spPr>
          <a:xfrm>
            <a:off x="673100" y="3086100"/>
            <a:ext cx="304800" cy="304800"/>
          </a:xfrm>
          <a:prstGeom prst="rect">
            <a:avLst/>
          </a:prstGeom>
          <a:noFill/>
        </p:spPr>
        <p:txBody>
          <a:bodyPr vert="horz" wrap="square" lIns="0" tIns="0" rIns="0" bIns="0" rtlCol="0" anchor="t">
            <a:noAutofit/>
          </a:bodyPr>
          <a:lstStyle/>
          <a:p>
            <a:pPr algn="ctr"/>
            <a:r>
              <a:rPr lang="en-IN" sz="1500" b="1">
                <a:solidFill>
                  <a:srgbClr val="2D7257"/>
                </a:solidFill>
                <a:latin typeface="Calibri" panose="020F0502020204030204" pitchFamily="34" charset="0"/>
              </a:rPr>
              <a:t>2</a:t>
            </a:r>
          </a:p>
        </p:txBody>
      </p:sp>
      <p:sp>
        <p:nvSpPr>
          <p:cNvPr id="14" name="s3-object13-text">
            <a:extLst>
              <a:ext uri="{FF2B5EF4-FFF2-40B4-BE49-F238E27FC236}">
                <a16:creationId xmlns:a16="http://schemas.microsoft.com/office/drawing/2014/main" id="{20A565E6-4C02-0E55-3816-5A74F1160E77}"/>
              </a:ext>
            </a:extLst>
          </p:cNvPr>
          <p:cNvSpPr txBox="1"/>
          <p:nvPr/>
        </p:nvSpPr>
        <p:spPr>
          <a:xfrm>
            <a:off x="1231900" y="3048000"/>
            <a:ext cx="9652000" cy="342900"/>
          </a:xfrm>
          <a:prstGeom prst="rect">
            <a:avLst/>
          </a:prstGeom>
          <a:noFill/>
        </p:spPr>
        <p:txBody>
          <a:bodyPr vert="horz" wrap="square" lIns="0" tIns="0" rIns="0" bIns="0" rtlCol="0" anchor="t">
            <a:noAutofit/>
          </a:bodyPr>
          <a:lstStyle/>
          <a:p>
            <a:r>
              <a:rPr lang="en-IN" sz="2100" b="1">
                <a:solidFill>
                  <a:srgbClr val="193F35"/>
                </a:solidFill>
                <a:latin typeface="Calibri" panose="020F0502020204030204" pitchFamily="34" charset="0"/>
              </a:rPr>
              <a:t>Connect evidence across papers</a:t>
            </a:r>
          </a:p>
        </p:txBody>
      </p:sp>
      <p:sp>
        <p:nvSpPr>
          <p:cNvPr id="15" name="s3-object14-text">
            <a:extLst>
              <a:ext uri="{FF2B5EF4-FFF2-40B4-BE49-F238E27FC236}">
                <a16:creationId xmlns:a16="http://schemas.microsoft.com/office/drawing/2014/main" id="{437789E4-61E2-9252-4B71-5D19D4FB8B55}"/>
              </a:ext>
            </a:extLst>
          </p:cNvPr>
          <p:cNvSpPr txBox="1"/>
          <p:nvPr/>
        </p:nvSpPr>
        <p:spPr>
          <a:xfrm>
            <a:off x="1231900" y="3441700"/>
            <a:ext cx="9842500" cy="368300"/>
          </a:xfrm>
          <a:prstGeom prst="rect">
            <a:avLst/>
          </a:prstGeom>
          <a:noFill/>
        </p:spPr>
        <p:txBody>
          <a:bodyPr vert="horz" wrap="square" lIns="0" tIns="0" rIns="0" bIns="0" rtlCol="0" anchor="t">
            <a:noAutofit/>
          </a:bodyPr>
          <a:lstStyle/>
          <a:p>
            <a:r>
              <a:rPr lang="en-US" sz="1600">
                <a:solidFill>
                  <a:srgbClr val="62756A"/>
                </a:solidFill>
                <a:latin typeface="Calibri" panose="020F0502020204030204" pitchFamily="34" charset="0"/>
              </a:rPr>
              <a:t>Align shared entities and assemble candidate pathways.</a:t>
            </a:r>
            <a:endParaRPr lang="en-IN" sz="1600">
              <a:solidFill>
                <a:srgbClr val="62756A"/>
              </a:solidFill>
              <a:latin typeface="Calibri" panose="020F0502020204030204" pitchFamily="34" charset="0"/>
            </a:endParaRPr>
          </a:p>
        </p:txBody>
      </p:sp>
      <p:sp>
        <p:nvSpPr>
          <p:cNvPr id="16" name="s3-object15-ellipse">
            <a:extLst>
              <a:ext uri="{FF2B5EF4-FFF2-40B4-BE49-F238E27FC236}">
                <a16:creationId xmlns:a16="http://schemas.microsoft.com/office/drawing/2014/main" id="{09D7E34C-BAAC-DE82-6CCD-0CE49A1EE984}"/>
              </a:ext>
            </a:extLst>
          </p:cNvPr>
          <p:cNvSpPr/>
          <p:nvPr/>
        </p:nvSpPr>
        <p:spPr>
          <a:xfrm>
            <a:off x="635000" y="3962400"/>
            <a:ext cx="381000" cy="381000"/>
          </a:xfrm>
          <a:prstGeom prst="ellipse">
            <a:avLst/>
          </a:prstGeom>
          <a:solidFill>
            <a:srgbClr val="EDF4E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s3-object16-text">
            <a:extLst>
              <a:ext uri="{FF2B5EF4-FFF2-40B4-BE49-F238E27FC236}">
                <a16:creationId xmlns:a16="http://schemas.microsoft.com/office/drawing/2014/main" id="{0AFB0777-8482-304E-1240-58BC8CB2DC0C}"/>
              </a:ext>
            </a:extLst>
          </p:cNvPr>
          <p:cNvSpPr txBox="1"/>
          <p:nvPr/>
        </p:nvSpPr>
        <p:spPr>
          <a:xfrm>
            <a:off x="673100" y="4000500"/>
            <a:ext cx="304800" cy="304800"/>
          </a:xfrm>
          <a:prstGeom prst="rect">
            <a:avLst/>
          </a:prstGeom>
          <a:noFill/>
        </p:spPr>
        <p:txBody>
          <a:bodyPr vert="horz" wrap="square" lIns="0" tIns="0" rIns="0" bIns="0" rtlCol="0" anchor="t">
            <a:noAutofit/>
          </a:bodyPr>
          <a:lstStyle/>
          <a:p>
            <a:pPr algn="ctr"/>
            <a:r>
              <a:rPr lang="en-IN" sz="1500" b="1">
                <a:solidFill>
                  <a:srgbClr val="2D7257"/>
                </a:solidFill>
                <a:latin typeface="Calibri" panose="020F0502020204030204" pitchFamily="34" charset="0"/>
              </a:rPr>
              <a:t>3</a:t>
            </a:r>
          </a:p>
        </p:txBody>
      </p:sp>
      <p:sp>
        <p:nvSpPr>
          <p:cNvPr id="18" name="s3-object17-text">
            <a:extLst>
              <a:ext uri="{FF2B5EF4-FFF2-40B4-BE49-F238E27FC236}">
                <a16:creationId xmlns:a16="http://schemas.microsoft.com/office/drawing/2014/main" id="{4217C893-88BD-B6B8-CDE3-0392290B8E59}"/>
              </a:ext>
            </a:extLst>
          </p:cNvPr>
          <p:cNvSpPr txBox="1"/>
          <p:nvPr/>
        </p:nvSpPr>
        <p:spPr>
          <a:xfrm>
            <a:off x="1231900" y="3962400"/>
            <a:ext cx="9652000" cy="342900"/>
          </a:xfrm>
          <a:prstGeom prst="rect">
            <a:avLst/>
          </a:prstGeom>
          <a:noFill/>
        </p:spPr>
        <p:txBody>
          <a:bodyPr vert="horz" wrap="square" lIns="0" tIns="0" rIns="0" bIns="0" rtlCol="0" anchor="t">
            <a:noAutofit/>
          </a:bodyPr>
          <a:lstStyle/>
          <a:p>
            <a:r>
              <a:rPr lang="en-US" sz="2100" b="1">
                <a:solidFill>
                  <a:srgbClr val="193F35"/>
                </a:solidFill>
                <a:latin typeface="Calibri" panose="020F0502020204030204" pitchFamily="34" charset="0"/>
              </a:rPr>
              <a:t>Assess supporting and opposing findings</a:t>
            </a:r>
            <a:endParaRPr lang="en-IN" sz="2100" b="1">
              <a:solidFill>
                <a:srgbClr val="193F35"/>
              </a:solidFill>
              <a:latin typeface="Calibri" panose="020F0502020204030204" pitchFamily="34" charset="0"/>
            </a:endParaRPr>
          </a:p>
        </p:txBody>
      </p:sp>
      <p:sp>
        <p:nvSpPr>
          <p:cNvPr id="19" name="s3-object18-text">
            <a:extLst>
              <a:ext uri="{FF2B5EF4-FFF2-40B4-BE49-F238E27FC236}">
                <a16:creationId xmlns:a16="http://schemas.microsoft.com/office/drawing/2014/main" id="{C60B849B-067F-B93A-699B-40877AF383AB}"/>
              </a:ext>
            </a:extLst>
          </p:cNvPr>
          <p:cNvSpPr txBox="1"/>
          <p:nvPr/>
        </p:nvSpPr>
        <p:spPr>
          <a:xfrm>
            <a:off x="1231900" y="4356100"/>
            <a:ext cx="9842500" cy="368300"/>
          </a:xfrm>
          <a:prstGeom prst="rect">
            <a:avLst/>
          </a:prstGeom>
          <a:noFill/>
        </p:spPr>
        <p:txBody>
          <a:bodyPr vert="horz" wrap="square" lIns="0" tIns="0" rIns="0" bIns="0" rtlCol="0" anchor="t">
            <a:noAutofit/>
          </a:bodyPr>
          <a:lstStyle/>
          <a:p>
            <a:r>
              <a:rPr lang="en-US" sz="1600">
                <a:solidFill>
                  <a:srgbClr val="62756A"/>
                </a:solidFill>
                <a:latin typeface="Calibri" panose="020F0502020204030204" pitchFamily="34" charset="0"/>
              </a:rPr>
              <a:t>Record external evidence separately for every claim.</a:t>
            </a:r>
            <a:endParaRPr lang="en-IN" sz="1600">
              <a:solidFill>
                <a:srgbClr val="62756A"/>
              </a:solidFill>
              <a:latin typeface="Calibri" panose="020F0502020204030204" pitchFamily="34" charset="0"/>
            </a:endParaRPr>
          </a:p>
        </p:txBody>
      </p:sp>
      <p:sp>
        <p:nvSpPr>
          <p:cNvPr id="20" name="s3-object19-ellipse">
            <a:extLst>
              <a:ext uri="{FF2B5EF4-FFF2-40B4-BE49-F238E27FC236}">
                <a16:creationId xmlns:a16="http://schemas.microsoft.com/office/drawing/2014/main" id="{758C6E4D-D636-891B-F91E-485CAF3B771B}"/>
              </a:ext>
            </a:extLst>
          </p:cNvPr>
          <p:cNvSpPr/>
          <p:nvPr/>
        </p:nvSpPr>
        <p:spPr>
          <a:xfrm>
            <a:off x="635000" y="4876800"/>
            <a:ext cx="381000" cy="381000"/>
          </a:xfrm>
          <a:prstGeom prst="ellipse">
            <a:avLst/>
          </a:prstGeom>
          <a:solidFill>
            <a:srgbClr val="EDF4E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s3-object20-text">
            <a:extLst>
              <a:ext uri="{FF2B5EF4-FFF2-40B4-BE49-F238E27FC236}">
                <a16:creationId xmlns:a16="http://schemas.microsoft.com/office/drawing/2014/main" id="{602E537B-940B-A931-B635-D97E34186CCE}"/>
              </a:ext>
            </a:extLst>
          </p:cNvPr>
          <p:cNvSpPr txBox="1"/>
          <p:nvPr/>
        </p:nvSpPr>
        <p:spPr>
          <a:xfrm>
            <a:off x="673100" y="4914900"/>
            <a:ext cx="304800" cy="304800"/>
          </a:xfrm>
          <a:prstGeom prst="rect">
            <a:avLst/>
          </a:prstGeom>
          <a:noFill/>
        </p:spPr>
        <p:txBody>
          <a:bodyPr vert="horz" wrap="square" lIns="0" tIns="0" rIns="0" bIns="0" rtlCol="0" anchor="t">
            <a:noAutofit/>
          </a:bodyPr>
          <a:lstStyle/>
          <a:p>
            <a:pPr algn="ctr"/>
            <a:r>
              <a:rPr lang="en-IN" sz="1500" b="1">
                <a:solidFill>
                  <a:srgbClr val="2D7257"/>
                </a:solidFill>
                <a:latin typeface="Calibri" panose="020F0502020204030204" pitchFamily="34" charset="0"/>
              </a:rPr>
              <a:t>4</a:t>
            </a:r>
          </a:p>
        </p:txBody>
      </p:sp>
      <p:sp>
        <p:nvSpPr>
          <p:cNvPr id="22" name="s3-object21-text">
            <a:extLst>
              <a:ext uri="{FF2B5EF4-FFF2-40B4-BE49-F238E27FC236}">
                <a16:creationId xmlns:a16="http://schemas.microsoft.com/office/drawing/2014/main" id="{23CD2C19-16CC-A27A-2D22-64A93DCDEE40}"/>
              </a:ext>
            </a:extLst>
          </p:cNvPr>
          <p:cNvSpPr txBox="1"/>
          <p:nvPr/>
        </p:nvSpPr>
        <p:spPr>
          <a:xfrm>
            <a:off x="1231900" y="4876800"/>
            <a:ext cx="9652000" cy="342900"/>
          </a:xfrm>
          <a:prstGeom prst="rect">
            <a:avLst/>
          </a:prstGeom>
          <a:noFill/>
        </p:spPr>
        <p:txBody>
          <a:bodyPr vert="horz" wrap="square" lIns="0" tIns="0" rIns="0" bIns="0" rtlCol="0" anchor="t">
            <a:noAutofit/>
          </a:bodyPr>
          <a:lstStyle/>
          <a:p>
            <a:r>
              <a:rPr lang="en-IN" sz="2100" b="1">
                <a:solidFill>
                  <a:srgbClr val="193F35"/>
                </a:solidFill>
                <a:latin typeface="Calibri" panose="020F0502020204030204" pitchFamily="34" charset="0"/>
              </a:rPr>
              <a:t>Enable research inspection</a:t>
            </a:r>
          </a:p>
        </p:txBody>
      </p:sp>
      <p:sp>
        <p:nvSpPr>
          <p:cNvPr id="23" name="s3-object22-text">
            <a:extLst>
              <a:ext uri="{FF2B5EF4-FFF2-40B4-BE49-F238E27FC236}">
                <a16:creationId xmlns:a16="http://schemas.microsoft.com/office/drawing/2014/main" id="{77C51839-BDC0-BA91-BA5F-629A30903C41}"/>
              </a:ext>
            </a:extLst>
          </p:cNvPr>
          <p:cNvSpPr txBox="1"/>
          <p:nvPr/>
        </p:nvSpPr>
        <p:spPr>
          <a:xfrm>
            <a:off x="1231900" y="5270500"/>
            <a:ext cx="9842500" cy="368300"/>
          </a:xfrm>
          <a:prstGeom prst="rect">
            <a:avLst/>
          </a:prstGeom>
          <a:noFill/>
        </p:spPr>
        <p:txBody>
          <a:bodyPr vert="horz" wrap="square" lIns="0" tIns="0" rIns="0" bIns="0" rtlCol="0" anchor="t">
            <a:noAutofit/>
          </a:bodyPr>
          <a:lstStyle/>
          <a:p>
            <a:r>
              <a:rPr lang="en-US" sz="1600">
                <a:solidFill>
                  <a:srgbClr val="62756A"/>
                </a:solidFill>
                <a:latin typeface="Calibri" panose="020F0502020204030204" pitchFamily="34" charset="0"/>
              </a:rPr>
              <a:t>Explore the graph, original passages and evidence decisions together.</a:t>
            </a:r>
            <a:endParaRPr lang="en-IN" sz="1600">
              <a:solidFill>
                <a:srgbClr val="62756A"/>
              </a:solidFill>
              <a:latin typeface="Calibri" panose="020F0502020204030204" pitchFamily="34" charset="0"/>
            </a:endParaRPr>
          </a:p>
        </p:txBody>
      </p:sp>
    </p:spTree>
    <p:extLst>
      <p:ext uri="{BB962C8B-B14F-4D97-AF65-F5344CB8AC3E}">
        <p14:creationId xmlns:p14="http://schemas.microsoft.com/office/powerpoint/2010/main" val="3413192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DFB"/>
        </a:solidFill>
        <a:effectLst/>
      </p:bgPr>
    </p:bg>
    <p:spTree>
      <p:nvGrpSpPr>
        <p:cNvPr id="1" name=""/>
        <p:cNvGrpSpPr/>
        <p:nvPr/>
      </p:nvGrpSpPr>
      <p:grpSpPr>
        <a:xfrm>
          <a:off x="0" y="0"/>
          <a:ext cx="0" cy="0"/>
          <a:chOff x="0" y="0"/>
          <a:chExt cx="0" cy="0"/>
        </a:xfrm>
      </p:grpSpPr>
      <p:sp>
        <p:nvSpPr>
          <p:cNvPr id="2" name="s4-object1-text">
            <a:extLst>
              <a:ext uri="{FF2B5EF4-FFF2-40B4-BE49-F238E27FC236}">
                <a16:creationId xmlns:a16="http://schemas.microsoft.com/office/drawing/2014/main" id="{E7883803-156E-E26E-24ED-EFACA627B151}"/>
              </a:ext>
            </a:extLst>
          </p:cNvPr>
          <p:cNvSpPr txBox="1"/>
          <p:nvPr/>
        </p:nvSpPr>
        <p:spPr>
          <a:xfrm>
            <a:off x="609600" y="304800"/>
            <a:ext cx="10160000" cy="228600"/>
          </a:xfrm>
          <a:prstGeom prst="rect">
            <a:avLst/>
          </a:prstGeom>
          <a:noFill/>
        </p:spPr>
        <p:txBody>
          <a:bodyPr vert="horz" wrap="square" lIns="0" tIns="0" rIns="0" bIns="0" rtlCol="0" anchor="t">
            <a:noAutofit/>
          </a:bodyPr>
          <a:lstStyle/>
          <a:p>
            <a:r>
              <a:rPr lang="en-IN" sz="1000" b="1">
                <a:solidFill>
                  <a:srgbClr val="2D7257"/>
                </a:solidFill>
                <a:latin typeface="Calibri" panose="020F0502020204030204" pitchFamily="34" charset="0"/>
              </a:rPr>
              <a:t>KNOWLEDGE REPRESENTATION</a:t>
            </a:r>
          </a:p>
        </p:txBody>
      </p:sp>
      <p:sp>
        <p:nvSpPr>
          <p:cNvPr id="3" name="s4-object2-text">
            <a:extLst>
              <a:ext uri="{FF2B5EF4-FFF2-40B4-BE49-F238E27FC236}">
                <a16:creationId xmlns:a16="http://schemas.microsoft.com/office/drawing/2014/main" id="{1E25E925-004D-F229-5751-E9DB1A53D663}"/>
              </a:ext>
            </a:extLst>
          </p:cNvPr>
          <p:cNvSpPr txBox="1"/>
          <p:nvPr/>
        </p:nvSpPr>
        <p:spPr>
          <a:xfrm>
            <a:off x="609600" y="647700"/>
            <a:ext cx="10972800" cy="622300"/>
          </a:xfrm>
          <a:prstGeom prst="rect">
            <a:avLst/>
          </a:prstGeom>
          <a:noFill/>
        </p:spPr>
        <p:txBody>
          <a:bodyPr vert="horz" wrap="square" lIns="0" tIns="0" rIns="0" bIns="0" rtlCol="0" anchor="t">
            <a:noAutofit/>
          </a:bodyPr>
          <a:lstStyle/>
          <a:p>
            <a:r>
              <a:rPr lang="en-US" sz="3000" b="1">
                <a:solidFill>
                  <a:srgbClr val="193F35"/>
                </a:solidFill>
                <a:latin typeface="Calibri" panose="020F0502020204030204" pitchFamily="34" charset="0"/>
              </a:rPr>
              <a:t>Each graph edge retains its scientific context</a:t>
            </a:r>
            <a:endParaRPr lang="en-IN" sz="3000" b="1">
              <a:solidFill>
                <a:srgbClr val="193F35"/>
              </a:solidFill>
              <a:latin typeface="Calibri" panose="020F0502020204030204" pitchFamily="34" charset="0"/>
            </a:endParaRPr>
          </a:p>
        </p:txBody>
      </p:sp>
      <p:sp>
        <p:nvSpPr>
          <p:cNvPr id="4" name="s4-object3-text">
            <a:extLst>
              <a:ext uri="{FF2B5EF4-FFF2-40B4-BE49-F238E27FC236}">
                <a16:creationId xmlns:a16="http://schemas.microsoft.com/office/drawing/2014/main" id="{4EB03F98-F53C-8ACD-86CC-E1E5B199C005}"/>
              </a:ext>
            </a:extLst>
          </p:cNvPr>
          <p:cNvSpPr txBox="1"/>
          <p:nvPr/>
        </p:nvSpPr>
        <p:spPr>
          <a:xfrm>
            <a:off x="609600" y="1346200"/>
            <a:ext cx="10972800" cy="584200"/>
          </a:xfrm>
          <a:prstGeom prst="rect">
            <a:avLst/>
          </a:prstGeom>
          <a:noFill/>
        </p:spPr>
        <p:txBody>
          <a:bodyPr vert="horz" wrap="square" lIns="0" tIns="0" rIns="0" bIns="0" rtlCol="0" anchor="t">
            <a:noAutofit/>
          </a:bodyPr>
          <a:lstStyle/>
          <a:p>
            <a:r>
              <a:rPr lang="en-US" sz="1600">
                <a:solidFill>
                  <a:srgbClr val="62756A"/>
                </a:solidFill>
                <a:latin typeface="Calibri" panose="020F0502020204030204" pitchFamily="34" charset="0"/>
              </a:rPr>
              <a:t>A triplet identifies the relationship. Conditions and source evidence determine how to interpret it.</a:t>
            </a:r>
            <a:endParaRPr lang="en-IN" sz="1600">
              <a:solidFill>
                <a:srgbClr val="62756A"/>
              </a:solidFill>
              <a:latin typeface="Calibri" panose="020F0502020204030204" pitchFamily="34" charset="0"/>
            </a:endParaRPr>
          </a:p>
        </p:txBody>
      </p:sp>
      <p:cxnSp>
        <p:nvCxnSpPr>
          <p:cNvPr id="5" name="s4-object4-line">
            <a:extLst>
              <a:ext uri="{FF2B5EF4-FFF2-40B4-BE49-F238E27FC236}">
                <a16:creationId xmlns:a16="http://schemas.microsoft.com/office/drawing/2014/main" id="{4A66023E-A591-6A60-1254-AEE0134974F9}"/>
              </a:ext>
            </a:extLst>
          </p:cNvPr>
          <p:cNvCxnSpPr/>
          <p:nvPr/>
        </p:nvCxnSpPr>
        <p:spPr>
          <a:xfrm>
            <a:off x="609600" y="6477000"/>
            <a:ext cx="10972800" cy="0"/>
          </a:xfrm>
          <a:prstGeom prst="line">
            <a:avLst/>
          </a:prstGeom>
          <a:ln w="15240">
            <a:solidFill>
              <a:srgbClr val="D7E3DA"/>
            </a:solidFill>
          </a:ln>
        </p:spPr>
        <p:style>
          <a:lnRef idx="2">
            <a:schemeClr val="accent1"/>
          </a:lnRef>
          <a:fillRef idx="0">
            <a:schemeClr val="accent1"/>
          </a:fillRef>
          <a:effectRef idx="1">
            <a:schemeClr val="accent1"/>
          </a:effectRef>
          <a:fontRef idx="minor">
            <a:schemeClr val="tx1"/>
          </a:fontRef>
        </p:style>
      </p:cxnSp>
      <p:sp>
        <p:nvSpPr>
          <p:cNvPr id="6" name="s4-object5-text">
            <a:extLst>
              <a:ext uri="{FF2B5EF4-FFF2-40B4-BE49-F238E27FC236}">
                <a16:creationId xmlns:a16="http://schemas.microsoft.com/office/drawing/2014/main" id="{5559B600-D273-73B0-370C-036265565706}"/>
              </a:ext>
            </a:extLst>
          </p:cNvPr>
          <p:cNvSpPr txBox="1"/>
          <p:nvPr/>
        </p:nvSpPr>
        <p:spPr>
          <a:xfrm>
            <a:off x="609600" y="6553200"/>
            <a:ext cx="8255000" cy="190500"/>
          </a:xfrm>
          <a:prstGeom prst="rect">
            <a:avLst/>
          </a:prstGeom>
          <a:noFill/>
        </p:spPr>
        <p:txBody>
          <a:bodyPr vert="horz" wrap="square" lIns="0" tIns="0" rIns="0" bIns="0" rtlCol="0" anchor="t">
            <a:noAutofit/>
          </a:bodyPr>
          <a:lstStyle/>
          <a:p>
            <a:r>
              <a:rPr lang="en-US" sz="900">
                <a:solidFill>
                  <a:srgbClr val="62756A"/>
                </a:solidFill>
                <a:latin typeface="Calibri" panose="020F0502020204030204" pitchFamily="34" charset="0"/>
              </a:rPr>
              <a:t>Reasoning with Food Knowledge Graphs</a:t>
            </a:r>
            <a:endParaRPr lang="en-IN" sz="900">
              <a:solidFill>
                <a:srgbClr val="62756A"/>
              </a:solidFill>
              <a:latin typeface="Calibri" panose="020F0502020204030204" pitchFamily="34" charset="0"/>
            </a:endParaRPr>
          </a:p>
        </p:txBody>
      </p:sp>
      <p:sp>
        <p:nvSpPr>
          <p:cNvPr id="7" name="s4-object6-text">
            <a:extLst>
              <a:ext uri="{FF2B5EF4-FFF2-40B4-BE49-F238E27FC236}">
                <a16:creationId xmlns:a16="http://schemas.microsoft.com/office/drawing/2014/main" id="{0B256F55-91AD-A1B6-DFCC-0A6556D12153}"/>
              </a:ext>
            </a:extLst>
          </p:cNvPr>
          <p:cNvSpPr txBox="1"/>
          <p:nvPr/>
        </p:nvSpPr>
        <p:spPr>
          <a:xfrm>
            <a:off x="11049000" y="6553200"/>
            <a:ext cx="533400" cy="190500"/>
          </a:xfrm>
          <a:prstGeom prst="rect">
            <a:avLst/>
          </a:prstGeom>
          <a:noFill/>
        </p:spPr>
        <p:txBody>
          <a:bodyPr vert="horz" wrap="square" lIns="0" tIns="0" rIns="0" bIns="0" rtlCol="0" anchor="t">
            <a:noAutofit/>
          </a:bodyPr>
          <a:lstStyle/>
          <a:p>
            <a:pPr algn="r"/>
            <a:r>
              <a:rPr lang="en-IN" sz="900">
                <a:solidFill>
                  <a:srgbClr val="62756A"/>
                </a:solidFill>
                <a:latin typeface="Calibri" panose="020F0502020204030204" pitchFamily="34" charset="0"/>
              </a:rPr>
              <a:t>4</a:t>
            </a:r>
          </a:p>
        </p:txBody>
      </p:sp>
      <p:sp>
        <p:nvSpPr>
          <p:cNvPr id="8" name="s4-object7-rect">
            <a:extLst>
              <a:ext uri="{FF2B5EF4-FFF2-40B4-BE49-F238E27FC236}">
                <a16:creationId xmlns:a16="http://schemas.microsoft.com/office/drawing/2014/main" id="{34810FAB-7F2C-2B81-D380-F58CB9FCA9B8}"/>
              </a:ext>
            </a:extLst>
          </p:cNvPr>
          <p:cNvSpPr/>
          <p:nvPr/>
        </p:nvSpPr>
        <p:spPr>
          <a:xfrm>
            <a:off x="609600" y="2235200"/>
            <a:ext cx="10972800" cy="1193800"/>
          </a:xfrm>
          <a:prstGeom prst="rect">
            <a:avLst/>
          </a:prstGeom>
          <a:solidFill>
            <a:srgbClr val="EDF4E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s4-object8-text">
            <a:extLst>
              <a:ext uri="{FF2B5EF4-FFF2-40B4-BE49-F238E27FC236}">
                <a16:creationId xmlns:a16="http://schemas.microsoft.com/office/drawing/2014/main" id="{E514DD06-6727-9DD1-419D-4036584A6CCB}"/>
              </a:ext>
            </a:extLst>
          </p:cNvPr>
          <p:cNvSpPr txBox="1"/>
          <p:nvPr/>
        </p:nvSpPr>
        <p:spPr>
          <a:xfrm>
            <a:off x="825500" y="2527300"/>
            <a:ext cx="3302000" cy="508000"/>
          </a:xfrm>
          <a:prstGeom prst="rect">
            <a:avLst/>
          </a:prstGeom>
          <a:noFill/>
        </p:spPr>
        <p:txBody>
          <a:bodyPr vert="horz" wrap="square" lIns="0" tIns="0" rIns="0" bIns="0" rtlCol="0" anchor="t">
            <a:noAutofit/>
          </a:bodyPr>
          <a:lstStyle/>
          <a:p>
            <a:pPr algn="ctr"/>
            <a:r>
              <a:rPr lang="en-IN" sz="2400" b="1">
                <a:solidFill>
                  <a:srgbClr val="193F35"/>
                </a:solidFill>
                <a:latin typeface="Calibri" panose="020F0502020204030204" pitchFamily="34" charset="0"/>
              </a:rPr>
              <a:t>Infected wheat grains</a:t>
            </a:r>
          </a:p>
        </p:txBody>
      </p:sp>
      <p:sp>
        <p:nvSpPr>
          <p:cNvPr id="10" name="s4-object9-text">
            <a:extLst>
              <a:ext uri="{FF2B5EF4-FFF2-40B4-BE49-F238E27FC236}">
                <a16:creationId xmlns:a16="http://schemas.microsoft.com/office/drawing/2014/main" id="{ADA9950B-8EA7-4E11-47E8-8313A2D4C375}"/>
              </a:ext>
            </a:extLst>
          </p:cNvPr>
          <p:cNvSpPr txBox="1"/>
          <p:nvPr/>
        </p:nvSpPr>
        <p:spPr>
          <a:xfrm>
            <a:off x="4699000" y="2578100"/>
            <a:ext cx="2222500" cy="444500"/>
          </a:xfrm>
          <a:prstGeom prst="rect">
            <a:avLst/>
          </a:prstGeom>
          <a:noFill/>
        </p:spPr>
        <p:txBody>
          <a:bodyPr vert="horz" wrap="square" lIns="0" tIns="0" rIns="0" bIns="0" rtlCol="0" anchor="t">
            <a:noAutofit/>
          </a:bodyPr>
          <a:lstStyle/>
          <a:p>
            <a:pPr algn="ctr"/>
            <a:r>
              <a:rPr lang="en-IN" sz="1900" b="1">
                <a:solidFill>
                  <a:srgbClr val="2D7257"/>
                </a:solidFill>
                <a:latin typeface="Calibri" panose="020F0502020204030204" pitchFamily="34" charset="0"/>
              </a:rPr>
              <a:t>may contain</a:t>
            </a:r>
          </a:p>
        </p:txBody>
      </p:sp>
      <p:sp>
        <p:nvSpPr>
          <p:cNvPr id="11" name="s4-object10-text">
            <a:extLst>
              <a:ext uri="{FF2B5EF4-FFF2-40B4-BE49-F238E27FC236}">
                <a16:creationId xmlns:a16="http://schemas.microsoft.com/office/drawing/2014/main" id="{407B99B2-33A5-EFCB-EC72-15BDC279E0A4}"/>
              </a:ext>
            </a:extLst>
          </p:cNvPr>
          <p:cNvSpPr txBox="1"/>
          <p:nvPr/>
        </p:nvSpPr>
        <p:spPr>
          <a:xfrm>
            <a:off x="7721600" y="2527300"/>
            <a:ext cx="3556000" cy="508000"/>
          </a:xfrm>
          <a:prstGeom prst="rect">
            <a:avLst/>
          </a:prstGeom>
          <a:noFill/>
        </p:spPr>
        <p:txBody>
          <a:bodyPr vert="horz" wrap="square" lIns="0" tIns="0" rIns="0" bIns="0" rtlCol="0" anchor="t">
            <a:noAutofit/>
          </a:bodyPr>
          <a:lstStyle/>
          <a:p>
            <a:pPr algn="ctr"/>
            <a:r>
              <a:rPr lang="en-IN" sz="2400" b="1">
                <a:solidFill>
                  <a:srgbClr val="193F35"/>
                </a:solidFill>
                <a:latin typeface="Calibri" panose="020F0502020204030204" pitchFamily="34" charset="0"/>
              </a:rPr>
              <a:t>Mycotoxins</a:t>
            </a:r>
          </a:p>
        </p:txBody>
      </p:sp>
      <p:cxnSp>
        <p:nvCxnSpPr>
          <p:cNvPr id="12" name="s4-object11-line">
            <a:extLst>
              <a:ext uri="{FF2B5EF4-FFF2-40B4-BE49-F238E27FC236}">
                <a16:creationId xmlns:a16="http://schemas.microsoft.com/office/drawing/2014/main" id="{C0BF298A-FDB2-8F11-DCDF-3E28DFE83023}"/>
              </a:ext>
            </a:extLst>
          </p:cNvPr>
          <p:cNvCxnSpPr/>
          <p:nvPr/>
        </p:nvCxnSpPr>
        <p:spPr>
          <a:xfrm>
            <a:off x="4203700" y="2819400"/>
            <a:ext cx="368300" cy="0"/>
          </a:xfrm>
          <a:prstGeom prst="line">
            <a:avLst/>
          </a:prstGeom>
          <a:ln w="19050">
            <a:solidFill>
              <a:srgbClr val="2D7257"/>
            </a:solidFill>
            <a:tailEnd type="arrow"/>
          </a:ln>
        </p:spPr>
        <p:style>
          <a:lnRef idx="2">
            <a:schemeClr val="accent1"/>
          </a:lnRef>
          <a:fillRef idx="0">
            <a:schemeClr val="accent1"/>
          </a:fillRef>
          <a:effectRef idx="1">
            <a:schemeClr val="accent1"/>
          </a:effectRef>
          <a:fontRef idx="minor">
            <a:schemeClr val="tx1"/>
          </a:fontRef>
        </p:style>
      </p:cxnSp>
      <p:cxnSp>
        <p:nvCxnSpPr>
          <p:cNvPr id="13" name="s4-object12-line">
            <a:extLst>
              <a:ext uri="{FF2B5EF4-FFF2-40B4-BE49-F238E27FC236}">
                <a16:creationId xmlns:a16="http://schemas.microsoft.com/office/drawing/2014/main" id="{12101D13-12BF-31A1-76F6-E53A04E99A36}"/>
              </a:ext>
            </a:extLst>
          </p:cNvPr>
          <p:cNvCxnSpPr/>
          <p:nvPr/>
        </p:nvCxnSpPr>
        <p:spPr>
          <a:xfrm>
            <a:off x="6997700" y="2819400"/>
            <a:ext cx="647700" cy="0"/>
          </a:xfrm>
          <a:prstGeom prst="line">
            <a:avLst/>
          </a:prstGeom>
          <a:ln w="19050">
            <a:solidFill>
              <a:srgbClr val="2D7257"/>
            </a:solidFill>
            <a:tailEnd type="arrow"/>
          </a:ln>
        </p:spPr>
        <p:style>
          <a:lnRef idx="2">
            <a:schemeClr val="accent1"/>
          </a:lnRef>
          <a:fillRef idx="0">
            <a:schemeClr val="accent1"/>
          </a:fillRef>
          <a:effectRef idx="1">
            <a:schemeClr val="accent1"/>
          </a:effectRef>
          <a:fontRef idx="minor">
            <a:schemeClr val="tx1"/>
          </a:fontRef>
        </p:style>
      </p:cxnSp>
      <p:sp>
        <p:nvSpPr>
          <p:cNvPr id="14" name="s4-object13-text">
            <a:extLst>
              <a:ext uri="{FF2B5EF4-FFF2-40B4-BE49-F238E27FC236}">
                <a16:creationId xmlns:a16="http://schemas.microsoft.com/office/drawing/2014/main" id="{A56A2FCD-CF12-52F4-9EB0-9766D79DB162}"/>
              </a:ext>
            </a:extLst>
          </p:cNvPr>
          <p:cNvSpPr txBox="1"/>
          <p:nvPr/>
        </p:nvSpPr>
        <p:spPr>
          <a:xfrm>
            <a:off x="736600" y="3987800"/>
            <a:ext cx="4508500" cy="254000"/>
          </a:xfrm>
          <a:prstGeom prst="rect">
            <a:avLst/>
          </a:prstGeom>
          <a:noFill/>
        </p:spPr>
        <p:txBody>
          <a:bodyPr vert="horz" wrap="square" lIns="0" tIns="0" rIns="0" bIns="0" rtlCol="0" anchor="t">
            <a:noAutofit/>
          </a:bodyPr>
          <a:lstStyle/>
          <a:p>
            <a:r>
              <a:rPr lang="en-IN" sz="1200" b="1">
                <a:solidFill>
                  <a:srgbClr val="62756A"/>
                </a:solidFill>
                <a:latin typeface="Calibri" panose="020F0502020204030204" pitchFamily="34" charset="0"/>
              </a:rPr>
              <a:t>ENTITY ROLES</a:t>
            </a:r>
          </a:p>
        </p:txBody>
      </p:sp>
      <p:sp>
        <p:nvSpPr>
          <p:cNvPr id="15" name="s4-object14-text">
            <a:extLst>
              <a:ext uri="{FF2B5EF4-FFF2-40B4-BE49-F238E27FC236}">
                <a16:creationId xmlns:a16="http://schemas.microsoft.com/office/drawing/2014/main" id="{5F45A064-A003-A673-11DC-C35F24A4821A}"/>
              </a:ext>
            </a:extLst>
          </p:cNvPr>
          <p:cNvSpPr txBox="1"/>
          <p:nvPr/>
        </p:nvSpPr>
        <p:spPr>
          <a:xfrm>
            <a:off x="736600" y="4292600"/>
            <a:ext cx="4508500" cy="762000"/>
          </a:xfrm>
          <a:prstGeom prst="rect">
            <a:avLst/>
          </a:prstGeom>
          <a:noFill/>
        </p:spPr>
        <p:txBody>
          <a:bodyPr vert="horz" wrap="square" lIns="0" tIns="0" rIns="0" bIns="0" rtlCol="0" anchor="t">
            <a:noAutofit/>
          </a:bodyPr>
          <a:lstStyle/>
          <a:p>
            <a:r>
              <a:rPr lang="en-IN" sz="1900">
                <a:solidFill>
                  <a:srgbClr val="193F35"/>
                </a:solidFill>
                <a:latin typeface="Calibri" panose="020F0502020204030204" pitchFamily="34" charset="0"/>
              </a:rPr>
              <a:t>Crop material / contaminant</a:t>
            </a:r>
          </a:p>
        </p:txBody>
      </p:sp>
      <p:sp>
        <p:nvSpPr>
          <p:cNvPr id="16" name="s4-object15-text">
            <a:extLst>
              <a:ext uri="{FF2B5EF4-FFF2-40B4-BE49-F238E27FC236}">
                <a16:creationId xmlns:a16="http://schemas.microsoft.com/office/drawing/2014/main" id="{358380A0-549B-0725-B7AD-23984E09675E}"/>
              </a:ext>
            </a:extLst>
          </p:cNvPr>
          <p:cNvSpPr txBox="1"/>
          <p:nvPr/>
        </p:nvSpPr>
        <p:spPr>
          <a:xfrm>
            <a:off x="6477000" y="3987800"/>
            <a:ext cx="4826000" cy="254000"/>
          </a:xfrm>
          <a:prstGeom prst="rect">
            <a:avLst/>
          </a:prstGeom>
          <a:noFill/>
        </p:spPr>
        <p:txBody>
          <a:bodyPr vert="horz" wrap="square" lIns="0" tIns="0" rIns="0" bIns="0" rtlCol="0" anchor="t">
            <a:noAutofit/>
          </a:bodyPr>
          <a:lstStyle/>
          <a:p>
            <a:r>
              <a:rPr lang="en-IN" sz="1200" b="1">
                <a:solidFill>
                  <a:srgbClr val="62756A"/>
                </a:solidFill>
                <a:latin typeface="Calibri" panose="020F0502020204030204" pitchFamily="34" charset="0"/>
              </a:rPr>
              <a:t>BIOLOGICAL CONTEXT</a:t>
            </a:r>
          </a:p>
        </p:txBody>
      </p:sp>
      <p:sp>
        <p:nvSpPr>
          <p:cNvPr id="17" name="s4-object16-text">
            <a:extLst>
              <a:ext uri="{FF2B5EF4-FFF2-40B4-BE49-F238E27FC236}">
                <a16:creationId xmlns:a16="http://schemas.microsoft.com/office/drawing/2014/main" id="{9082922D-5949-CEF0-DC76-46D430D57C8E}"/>
              </a:ext>
            </a:extLst>
          </p:cNvPr>
          <p:cNvSpPr txBox="1"/>
          <p:nvPr/>
        </p:nvSpPr>
        <p:spPr>
          <a:xfrm>
            <a:off x="6477000" y="4292600"/>
            <a:ext cx="4826000" cy="762000"/>
          </a:xfrm>
          <a:prstGeom prst="rect">
            <a:avLst/>
          </a:prstGeom>
          <a:noFill/>
        </p:spPr>
        <p:txBody>
          <a:bodyPr vert="horz" wrap="square" lIns="0" tIns="0" rIns="0" bIns="0" rtlCol="0" anchor="t">
            <a:noAutofit/>
          </a:bodyPr>
          <a:lstStyle/>
          <a:p>
            <a:r>
              <a:rPr lang="en-IN" sz="1900">
                <a:solidFill>
                  <a:srgbClr val="193F35"/>
                </a:solidFill>
                <a:latin typeface="Calibri" panose="020F0502020204030204" pitchFamily="34" charset="0"/>
              </a:rPr>
              <a:t>Fusarium head blight infection</a:t>
            </a:r>
          </a:p>
        </p:txBody>
      </p:sp>
      <p:sp>
        <p:nvSpPr>
          <p:cNvPr id="18" name="s4-object17-text">
            <a:extLst>
              <a:ext uri="{FF2B5EF4-FFF2-40B4-BE49-F238E27FC236}">
                <a16:creationId xmlns:a16="http://schemas.microsoft.com/office/drawing/2014/main" id="{45315000-B3A3-4452-7FF8-0E6B698BFC2B}"/>
              </a:ext>
            </a:extLst>
          </p:cNvPr>
          <p:cNvSpPr txBox="1"/>
          <p:nvPr/>
        </p:nvSpPr>
        <p:spPr>
          <a:xfrm>
            <a:off x="736600" y="5181600"/>
            <a:ext cx="4508500" cy="254000"/>
          </a:xfrm>
          <a:prstGeom prst="rect">
            <a:avLst/>
          </a:prstGeom>
          <a:noFill/>
        </p:spPr>
        <p:txBody>
          <a:bodyPr vert="horz" wrap="square" lIns="0" tIns="0" rIns="0" bIns="0" rtlCol="0" anchor="t">
            <a:noAutofit/>
          </a:bodyPr>
          <a:lstStyle/>
          <a:p>
            <a:r>
              <a:rPr lang="en-IN" sz="1200" b="1">
                <a:solidFill>
                  <a:srgbClr val="62756A"/>
                </a:solidFill>
                <a:latin typeface="Calibri" panose="020F0502020204030204" pitchFamily="34" charset="0"/>
              </a:rPr>
              <a:t>CERTAINTY</a:t>
            </a:r>
          </a:p>
        </p:txBody>
      </p:sp>
      <p:sp>
        <p:nvSpPr>
          <p:cNvPr id="19" name="s4-object18-text">
            <a:extLst>
              <a:ext uri="{FF2B5EF4-FFF2-40B4-BE49-F238E27FC236}">
                <a16:creationId xmlns:a16="http://schemas.microsoft.com/office/drawing/2014/main" id="{C0A8B576-856E-F873-2C6D-A111A3914638}"/>
              </a:ext>
            </a:extLst>
          </p:cNvPr>
          <p:cNvSpPr txBox="1"/>
          <p:nvPr/>
        </p:nvSpPr>
        <p:spPr>
          <a:xfrm>
            <a:off x="736600" y="5486400"/>
            <a:ext cx="4508500" cy="762000"/>
          </a:xfrm>
          <a:prstGeom prst="rect">
            <a:avLst/>
          </a:prstGeom>
          <a:noFill/>
        </p:spPr>
        <p:txBody>
          <a:bodyPr vert="horz" wrap="square" lIns="0" tIns="0" rIns="0" bIns="0" rtlCol="0" anchor="t">
            <a:noAutofit/>
          </a:bodyPr>
          <a:lstStyle/>
          <a:p>
            <a:r>
              <a:rPr lang="en-IN" sz="1900">
                <a:solidFill>
                  <a:srgbClr val="193F35"/>
                </a:solidFill>
                <a:latin typeface="Calibri" panose="020F0502020204030204" pitchFamily="34" charset="0"/>
              </a:rPr>
              <a:t>Conditional: “may”</a:t>
            </a:r>
          </a:p>
        </p:txBody>
      </p:sp>
      <p:sp>
        <p:nvSpPr>
          <p:cNvPr id="20" name="s4-object19-text">
            <a:extLst>
              <a:ext uri="{FF2B5EF4-FFF2-40B4-BE49-F238E27FC236}">
                <a16:creationId xmlns:a16="http://schemas.microsoft.com/office/drawing/2014/main" id="{DED2C63F-66F4-80D2-E91F-91D42577AA66}"/>
              </a:ext>
            </a:extLst>
          </p:cNvPr>
          <p:cNvSpPr txBox="1"/>
          <p:nvPr/>
        </p:nvSpPr>
        <p:spPr>
          <a:xfrm>
            <a:off x="6477000" y="5181600"/>
            <a:ext cx="4826000" cy="254000"/>
          </a:xfrm>
          <a:prstGeom prst="rect">
            <a:avLst/>
          </a:prstGeom>
          <a:noFill/>
        </p:spPr>
        <p:txBody>
          <a:bodyPr vert="horz" wrap="square" lIns="0" tIns="0" rIns="0" bIns="0" rtlCol="0" anchor="t">
            <a:noAutofit/>
          </a:bodyPr>
          <a:lstStyle/>
          <a:p>
            <a:r>
              <a:rPr lang="en-IN" sz="1200" b="1">
                <a:solidFill>
                  <a:srgbClr val="62756A"/>
                </a:solidFill>
                <a:latin typeface="Calibri" panose="020F0502020204030204" pitchFamily="34" charset="0"/>
              </a:rPr>
              <a:t>PROVENANCE</a:t>
            </a:r>
          </a:p>
        </p:txBody>
      </p:sp>
      <p:sp>
        <p:nvSpPr>
          <p:cNvPr id="21" name="s4-object20-text">
            <a:extLst>
              <a:ext uri="{FF2B5EF4-FFF2-40B4-BE49-F238E27FC236}">
                <a16:creationId xmlns:a16="http://schemas.microsoft.com/office/drawing/2014/main" id="{97B97BA3-E8E0-F0E6-7796-DF19C575E236}"/>
              </a:ext>
            </a:extLst>
          </p:cNvPr>
          <p:cNvSpPr txBox="1"/>
          <p:nvPr/>
        </p:nvSpPr>
        <p:spPr>
          <a:xfrm>
            <a:off x="6477000" y="5486400"/>
            <a:ext cx="4826000" cy="762000"/>
          </a:xfrm>
          <a:prstGeom prst="rect">
            <a:avLst/>
          </a:prstGeom>
          <a:noFill/>
        </p:spPr>
        <p:txBody>
          <a:bodyPr vert="horz" wrap="square" lIns="0" tIns="0" rIns="0" bIns="0" rtlCol="0" anchor="t">
            <a:noAutofit/>
          </a:bodyPr>
          <a:lstStyle/>
          <a:p>
            <a:r>
              <a:rPr lang="en-IN" sz="1900">
                <a:solidFill>
                  <a:srgbClr val="193F35"/>
                </a:solidFill>
                <a:latin typeface="Calibri" panose="020F0502020204030204" pitchFamily="34" charset="0"/>
              </a:rPr>
              <a:t>Paper, page, sentences and citations</a:t>
            </a:r>
          </a:p>
        </p:txBody>
      </p:sp>
    </p:spTree>
    <p:extLst>
      <p:ext uri="{BB962C8B-B14F-4D97-AF65-F5344CB8AC3E}">
        <p14:creationId xmlns:p14="http://schemas.microsoft.com/office/powerpoint/2010/main" val="336152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DFB"/>
        </a:solidFill>
        <a:effectLst/>
      </p:bgPr>
    </p:bg>
    <p:spTree>
      <p:nvGrpSpPr>
        <p:cNvPr id="1" name=""/>
        <p:cNvGrpSpPr/>
        <p:nvPr/>
      </p:nvGrpSpPr>
      <p:grpSpPr>
        <a:xfrm>
          <a:off x="0" y="0"/>
          <a:ext cx="0" cy="0"/>
          <a:chOff x="0" y="0"/>
          <a:chExt cx="0" cy="0"/>
        </a:xfrm>
      </p:grpSpPr>
      <p:sp>
        <p:nvSpPr>
          <p:cNvPr id="2" name="s5-object1-text">
            <a:extLst>
              <a:ext uri="{FF2B5EF4-FFF2-40B4-BE49-F238E27FC236}">
                <a16:creationId xmlns:a16="http://schemas.microsoft.com/office/drawing/2014/main" id="{93C28DFD-0D96-5E6F-80D8-4E7A2C5CCC1E}"/>
              </a:ext>
            </a:extLst>
          </p:cNvPr>
          <p:cNvSpPr txBox="1"/>
          <p:nvPr/>
        </p:nvSpPr>
        <p:spPr>
          <a:xfrm>
            <a:off x="609600" y="304800"/>
            <a:ext cx="10160000" cy="228600"/>
          </a:xfrm>
          <a:prstGeom prst="rect">
            <a:avLst/>
          </a:prstGeom>
          <a:noFill/>
        </p:spPr>
        <p:txBody>
          <a:bodyPr vert="horz" wrap="square" lIns="0" tIns="0" rIns="0" bIns="0" rtlCol="0" anchor="t">
            <a:noAutofit/>
          </a:bodyPr>
          <a:lstStyle/>
          <a:p>
            <a:r>
              <a:rPr lang="en-IN" sz="1000" b="1">
                <a:solidFill>
                  <a:srgbClr val="2D7257"/>
                </a:solidFill>
                <a:latin typeface="Calibri" panose="020F0502020204030204" pitchFamily="34" charset="0"/>
              </a:rPr>
              <a:t>SYSTEM DESIGN</a:t>
            </a:r>
          </a:p>
        </p:txBody>
      </p:sp>
      <p:sp>
        <p:nvSpPr>
          <p:cNvPr id="3" name="s5-object2-text">
            <a:extLst>
              <a:ext uri="{FF2B5EF4-FFF2-40B4-BE49-F238E27FC236}">
                <a16:creationId xmlns:a16="http://schemas.microsoft.com/office/drawing/2014/main" id="{F5655988-2319-D67C-B105-CDDD70FF3F35}"/>
              </a:ext>
            </a:extLst>
          </p:cNvPr>
          <p:cNvSpPr txBox="1"/>
          <p:nvPr/>
        </p:nvSpPr>
        <p:spPr>
          <a:xfrm>
            <a:off x="609600" y="647700"/>
            <a:ext cx="10972800" cy="622300"/>
          </a:xfrm>
          <a:prstGeom prst="rect">
            <a:avLst/>
          </a:prstGeom>
          <a:noFill/>
        </p:spPr>
        <p:txBody>
          <a:bodyPr vert="horz" wrap="square" lIns="0" tIns="0" rIns="0" bIns="0" rtlCol="0" anchor="t">
            <a:noAutofit/>
          </a:bodyPr>
          <a:lstStyle/>
          <a:p>
            <a:r>
              <a:rPr lang="en-IN" sz="3000" b="1">
                <a:solidFill>
                  <a:srgbClr val="193F35"/>
                </a:solidFill>
                <a:latin typeface="Calibri" panose="020F0502020204030204" pitchFamily="34" charset="0"/>
              </a:rPr>
              <a:t>System architecture</a:t>
            </a:r>
          </a:p>
        </p:txBody>
      </p:sp>
      <p:sp>
        <p:nvSpPr>
          <p:cNvPr id="4" name="s5-object3-text">
            <a:extLst>
              <a:ext uri="{FF2B5EF4-FFF2-40B4-BE49-F238E27FC236}">
                <a16:creationId xmlns:a16="http://schemas.microsoft.com/office/drawing/2014/main" id="{34C47A91-DD02-26F1-A728-B27E2A78C3B4}"/>
              </a:ext>
            </a:extLst>
          </p:cNvPr>
          <p:cNvSpPr txBox="1"/>
          <p:nvPr/>
        </p:nvSpPr>
        <p:spPr>
          <a:xfrm>
            <a:off x="609600" y="1346200"/>
            <a:ext cx="10972800" cy="584200"/>
          </a:xfrm>
          <a:prstGeom prst="rect">
            <a:avLst/>
          </a:prstGeom>
          <a:noFill/>
        </p:spPr>
        <p:txBody>
          <a:bodyPr vert="horz" wrap="square" lIns="0" tIns="0" rIns="0" bIns="0" rtlCol="0" anchor="t">
            <a:noAutofit/>
          </a:bodyPr>
          <a:lstStyle/>
          <a:p>
            <a:r>
              <a:rPr lang="en-US" sz="1600">
                <a:solidFill>
                  <a:srgbClr val="62756A"/>
                </a:solidFill>
                <a:latin typeface="Calibri" panose="020F0502020204030204" pitchFamily="34" charset="0"/>
              </a:rPr>
              <a:t>The workbench links scientific documents, evidence assessment and an inspectable knowledge graph.</a:t>
            </a:r>
            <a:endParaRPr lang="en-IN" sz="1600">
              <a:solidFill>
                <a:srgbClr val="62756A"/>
              </a:solidFill>
              <a:latin typeface="Calibri" panose="020F0502020204030204" pitchFamily="34" charset="0"/>
            </a:endParaRPr>
          </a:p>
        </p:txBody>
      </p:sp>
      <p:cxnSp>
        <p:nvCxnSpPr>
          <p:cNvPr id="5" name="s5-object4-line">
            <a:extLst>
              <a:ext uri="{FF2B5EF4-FFF2-40B4-BE49-F238E27FC236}">
                <a16:creationId xmlns:a16="http://schemas.microsoft.com/office/drawing/2014/main" id="{F0218CA4-887F-4DEA-D07C-E1C505BDC67C}"/>
              </a:ext>
            </a:extLst>
          </p:cNvPr>
          <p:cNvCxnSpPr/>
          <p:nvPr/>
        </p:nvCxnSpPr>
        <p:spPr>
          <a:xfrm>
            <a:off x="609600" y="6477000"/>
            <a:ext cx="10972800" cy="0"/>
          </a:xfrm>
          <a:prstGeom prst="line">
            <a:avLst/>
          </a:prstGeom>
          <a:ln w="15240">
            <a:solidFill>
              <a:srgbClr val="D7E3DA"/>
            </a:solidFill>
          </a:ln>
        </p:spPr>
        <p:style>
          <a:lnRef idx="2">
            <a:schemeClr val="accent1"/>
          </a:lnRef>
          <a:fillRef idx="0">
            <a:schemeClr val="accent1"/>
          </a:fillRef>
          <a:effectRef idx="1">
            <a:schemeClr val="accent1"/>
          </a:effectRef>
          <a:fontRef idx="minor">
            <a:schemeClr val="tx1"/>
          </a:fontRef>
        </p:style>
      </p:cxnSp>
      <p:sp>
        <p:nvSpPr>
          <p:cNvPr id="6" name="s5-object5-text">
            <a:extLst>
              <a:ext uri="{FF2B5EF4-FFF2-40B4-BE49-F238E27FC236}">
                <a16:creationId xmlns:a16="http://schemas.microsoft.com/office/drawing/2014/main" id="{86D46AFE-7AC8-A095-35AB-FB14F8BD68F2}"/>
              </a:ext>
            </a:extLst>
          </p:cNvPr>
          <p:cNvSpPr txBox="1"/>
          <p:nvPr/>
        </p:nvSpPr>
        <p:spPr>
          <a:xfrm>
            <a:off x="609600" y="6553200"/>
            <a:ext cx="8255000" cy="190500"/>
          </a:xfrm>
          <a:prstGeom prst="rect">
            <a:avLst/>
          </a:prstGeom>
          <a:noFill/>
        </p:spPr>
        <p:txBody>
          <a:bodyPr vert="horz" wrap="square" lIns="0" tIns="0" rIns="0" bIns="0" rtlCol="0" anchor="t">
            <a:noAutofit/>
          </a:bodyPr>
          <a:lstStyle/>
          <a:p>
            <a:r>
              <a:rPr lang="en-US" sz="900">
                <a:solidFill>
                  <a:srgbClr val="62756A"/>
                </a:solidFill>
                <a:latin typeface="Calibri" panose="020F0502020204030204" pitchFamily="34" charset="0"/>
              </a:rPr>
              <a:t>Reasoning with Food Knowledge Graphs</a:t>
            </a:r>
            <a:endParaRPr lang="en-IN" sz="900">
              <a:solidFill>
                <a:srgbClr val="62756A"/>
              </a:solidFill>
              <a:latin typeface="Calibri" panose="020F0502020204030204" pitchFamily="34" charset="0"/>
            </a:endParaRPr>
          </a:p>
        </p:txBody>
      </p:sp>
      <p:sp>
        <p:nvSpPr>
          <p:cNvPr id="7" name="s5-object6-text">
            <a:extLst>
              <a:ext uri="{FF2B5EF4-FFF2-40B4-BE49-F238E27FC236}">
                <a16:creationId xmlns:a16="http://schemas.microsoft.com/office/drawing/2014/main" id="{E5E427D3-62F3-109C-785D-B8BB5E3666BA}"/>
              </a:ext>
            </a:extLst>
          </p:cNvPr>
          <p:cNvSpPr txBox="1"/>
          <p:nvPr/>
        </p:nvSpPr>
        <p:spPr>
          <a:xfrm>
            <a:off x="11049000" y="6553200"/>
            <a:ext cx="533400" cy="190500"/>
          </a:xfrm>
          <a:prstGeom prst="rect">
            <a:avLst/>
          </a:prstGeom>
          <a:noFill/>
        </p:spPr>
        <p:txBody>
          <a:bodyPr vert="horz" wrap="square" lIns="0" tIns="0" rIns="0" bIns="0" rtlCol="0" anchor="t">
            <a:noAutofit/>
          </a:bodyPr>
          <a:lstStyle/>
          <a:p>
            <a:pPr algn="r"/>
            <a:r>
              <a:rPr lang="en-IN" sz="900">
                <a:solidFill>
                  <a:srgbClr val="62756A"/>
                </a:solidFill>
                <a:latin typeface="Calibri" panose="020F0502020204030204" pitchFamily="34" charset="0"/>
              </a:rPr>
              <a:t>5</a:t>
            </a:r>
          </a:p>
        </p:txBody>
      </p:sp>
      <p:sp>
        <p:nvSpPr>
          <p:cNvPr id="8" name="s5-object7-rect">
            <a:extLst>
              <a:ext uri="{FF2B5EF4-FFF2-40B4-BE49-F238E27FC236}">
                <a16:creationId xmlns:a16="http://schemas.microsoft.com/office/drawing/2014/main" id="{FF3BB16A-56C0-BFFB-42BD-969E78B9F4E4}"/>
              </a:ext>
            </a:extLst>
          </p:cNvPr>
          <p:cNvSpPr/>
          <p:nvPr/>
        </p:nvSpPr>
        <p:spPr>
          <a:xfrm>
            <a:off x="2857500" y="2120900"/>
            <a:ext cx="5816600" cy="3556000"/>
          </a:xfrm>
          <a:prstGeom prst="rect">
            <a:avLst/>
          </a:prstGeom>
          <a:solidFill>
            <a:srgbClr val="EDF4E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s5-object8-text">
            <a:extLst>
              <a:ext uri="{FF2B5EF4-FFF2-40B4-BE49-F238E27FC236}">
                <a16:creationId xmlns:a16="http://schemas.microsoft.com/office/drawing/2014/main" id="{B39D1C68-3EE7-2BFE-0126-A9468ACC4830}"/>
              </a:ext>
            </a:extLst>
          </p:cNvPr>
          <p:cNvSpPr txBox="1"/>
          <p:nvPr/>
        </p:nvSpPr>
        <p:spPr>
          <a:xfrm>
            <a:off x="3111500" y="2286000"/>
            <a:ext cx="5207000" cy="279400"/>
          </a:xfrm>
          <a:prstGeom prst="rect">
            <a:avLst/>
          </a:prstGeom>
          <a:noFill/>
        </p:spPr>
        <p:txBody>
          <a:bodyPr vert="horz" wrap="square" lIns="0" tIns="0" rIns="0" bIns="0" rtlCol="0" anchor="t">
            <a:noAutofit/>
          </a:bodyPr>
          <a:lstStyle/>
          <a:p>
            <a:r>
              <a:rPr lang="en-IN" sz="1300" b="1">
                <a:solidFill>
                  <a:srgbClr val="2D7257"/>
                </a:solidFill>
                <a:latin typeface="Calibri" panose="020F0502020204030204" pitchFamily="34" charset="0"/>
              </a:rPr>
              <a:t>RESEARCH WORKBENCH</a:t>
            </a:r>
          </a:p>
        </p:txBody>
      </p:sp>
      <p:sp>
        <p:nvSpPr>
          <p:cNvPr id="10" name="s5-object9-roundRect">
            <a:extLst>
              <a:ext uri="{FF2B5EF4-FFF2-40B4-BE49-F238E27FC236}">
                <a16:creationId xmlns:a16="http://schemas.microsoft.com/office/drawing/2014/main" id="{91D30FBA-324B-4CCC-7290-67FC862D94DA}"/>
              </a:ext>
            </a:extLst>
          </p:cNvPr>
          <p:cNvSpPr/>
          <p:nvPr/>
        </p:nvSpPr>
        <p:spPr>
          <a:xfrm>
            <a:off x="609600" y="2921000"/>
            <a:ext cx="1968500" cy="1841500"/>
          </a:xfrm>
          <a:prstGeom prst="roundRect">
            <a:avLst/>
          </a:prstGeom>
          <a:solidFill>
            <a:srgbClr val="FFFFFF"/>
          </a:solidFill>
          <a:ln w="10160">
            <a:solidFill>
              <a:srgbClr val="D7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 name="s5-object10-line">
            <a:extLst>
              <a:ext uri="{FF2B5EF4-FFF2-40B4-BE49-F238E27FC236}">
                <a16:creationId xmlns:a16="http://schemas.microsoft.com/office/drawing/2014/main" id="{35AF500E-7416-EA24-02E0-4807260EAF29}"/>
              </a:ext>
            </a:extLst>
          </p:cNvPr>
          <p:cNvCxnSpPr/>
          <p:nvPr/>
        </p:nvCxnSpPr>
        <p:spPr>
          <a:xfrm>
            <a:off x="929640" y="3190875"/>
            <a:ext cx="0" cy="2159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2" name="s5-object11-line">
            <a:extLst>
              <a:ext uri="{FF2B5EF4-FFF2-40B4-BE49-F238E27FC236}">
                <a16:creationId xmlns:a16="http://schemas.microsoft.com/office/drawing/2014/main" id="{84B4DABB-6F12-942E-84B2-2010E7B112CE}"/>
              </a:ext>
            </a:extLst>
          </p:cNvPr>
          <p:cNvCxnSpPr/>
          <p:nvPr/>
        </p:nvCxnSpPr>
        <p:spPr>
          <a:xfrm>
            <a:off x="810895" y="3169285"/>
            <a:ext cx="0" cy="2159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3" name="s5-object12-line">
            <a:extLst>
              <a:ext uri="{FF2B5EF4-FFF2-40B4-BE49-F238E27FC236}">
                <a16:creationId xmlns:a16="http://schemas.microsoft.com/office/drawing/2014/main" id="{F13D17B7-C4F7-45FB-FF81-940CECD65C09}"/>
              </a:ext>
            </a:extLst>
          </p:cNvPr>
          <p:cNvCxnSpPr/>
          <p:nvPr/>
        </p:nvCxnSpPr>
        <p:spPr>
          <a:xfrm>
            <a:off x="1048385" y="3169285"/>
            <a:ext cx="0" cy="2159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4" name="s5-object13-line">
            <a:extLst>
              <a:ext uri="{FF2B5EF4-FFF2-40B4-BE49-F238E27FC236}">
                <a16:creationId xmlns:a16="http://schemas.microsoft.com/office/drawing/2014/main" id="{E666C540-82F6-3684-2BF9-8D1CCB17D4EC}"/>
              </a:ext>
            </a:extLst>
          </p:cNvPr>
          <p:cNvCxnSpPr/>
          <p:nvPr/>
        </p:nvCxnSpPr>
        <p:spPr>
          <a:xfrm>
            <a:off x="810895" y="3169285"/>
            <a:ext cx="75565"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5" name="s5-object14-line">
            <a:extLst>
              <a:ext uri="{FF2B5EF4-FFF2-40B4-BE49-F238E27FC236}">
                <a16:creationId xmlns:a16="http://schemas.microsoft.com/office/drawing/2014/main" id="{20AC969C-DFBE-C301-C0A0-711667D86BED}"/>
              </a:ext>
            </a:extLst>
          </p:cNvPr>
          <p:cNvCxnSpPr/>
          <p:nvPr/>
        </p:nvCxnSpPr>
        <p:spPr>
          <a:xfrm>
            <a:off x="886460" y="3169285"/>
            <a:ext cx="43180" cy="32385"/>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6" name="s5-object15-line">
            <a:extLst>
              <a:ext uri="{FF2B5EF4-FFF2-40B4-BE49-F238E27FC236}">
                <a16:creationId xmlns:a16="http://schemas.microsoft.com/office/drawing/2014/main" id="{B9E40684-0BF6-7052-E114-7CF4EC9F3B04}"/>
              </a:ext>
            </a:extLst>
          </p:cNvPr>
          <p:cNvCxnSpPr/>
          <p:nvPr/>
        </p:nvCxnSpPr>
        <p:spPr>
          <a:xfrm flipV="1">
            <a:off x="929640" y="3169285"/>
            <a:ext cx="43180" cy="32385"/>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7" name="s5-object16-line">
            <a:extLst>
              <a:ext uri="{FF2B5EF4-FFF2-40B4-BE49-F238E27FC236}">
                <a16:creationId xmlns:a16="http://schemas.microsoft.com/office/drawing/2014/main" id="{948DAC87-19A5-0C16-70E3-D86118FC6724}"/>
              </a:ext>
            </a:extLst>
          </p:cNvPr>
          <p:cNvCxnSpPr/>
          <p:nvPr/>
        </p:nvCxnSpPr>
        <p:spPr>
          <a:xfrm>
            <a:off x="972820" y="3169285"/>
            <a:ext cx="75565"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8" name="s5-object17-line">
            <a:extLst>
              <a:ext uri="{FF2B5EF4-FFF2-40B4-BE49-F238E27FC236}">
                <a16:creationId xmlns:a16="http://schemas.microsoft.com/office/drawing/2014/main" id="{65577BE8-6B98-7CFA-C3C9-66FA14AE474C}"/>
              </a:ext>
            </a:extLst>
          </p:cNvPr>
          <p:cNvCxnSpPr/>
          <p:nvPr/>
        </p:nvCxnSpPr>
        <p:spPr>
          <a:xfrm>
            <a:off x="810895" y="3385185"/>
            <a:ext cx="75565"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9" name="s5-object18-line">
            <a:extLst>
              <a:ext uri="{FF2B5EF4-FFF2-40B4-BE49-F238E27FC236}">
                <a16:creationId xmlns:a16="http://schemas.microsoft.com/office/drawing/2014/main" id="{3990EEF0-C19E-5691-72C1-4CD23E9B9D4F}"/>
              </a:ext>
            </a:extLst>
          </p:cNvPr>
          <p:cNvCxnSpPr/>
          <p:nvPr/>
        </p:nvCxnSpPr>
        <p:spPr>
          <a:xfrm>
            <a:off x="886460" y="3385185"/>
            <a:ext cx="43180" cy="2159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0" name="s5-object19-line">
            <a:extLst>
              <a:ext uri="{FF2B5EF4-FFF2-40B4-BE49-F238E27FC236}">
                <a16:creationId xmlns:a16="http://schemas.microsoft.com/office/drawing/2014/main" id="{6919EDB5-A426-167E-AD1D-36AE4F34FE28}"/>
              </a:ext>
            </a:extLst>
          </p:cNvPr>
          <p:cNvCxnSpPr/>
          <p:nvPr/>
        </p:nvCxnSpPr>
        <p:spPr>
          <a:xfrm flipV="1">
            <a:off x="929640" y="3385185"/>
            <a:ext cx="43180" cy="2159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1" name="s5-object20-line">
            <a:extLst>
              <a:ext uri="{FF2B5EF4-FFF2-40B4-BE49-F238E27FC236}">
                <a16:creationId xmlns:a16="http://schemas.microsoft.com/office/drawing/2014/main" id="{6483AF6F-464B-609F-7D4E-6F6FECA6EBA8}"/>
              </a:ext>
            </a:extLst>
          </p:cNvPr>
          <p:cNvCxnSpPr/>
          <p:nvPr/>
        </p:nvCxnSpPr>
        <p:spPr>
          <a:xfrm>
            <a:off x="972820" y="3385185"/>
            <a:ext cx="75565"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22" name="s5-object21-text">
            <a:extLst>
              <a:ext uri="{FF2B5EF4-FFF2-40B4-BE49-F238E27FC236}">
                <a16:creationId xmlns:a16="http://schemas.microsoft.com/office/drawing/2014/main" id="{0F4F29FD-D1C1-33DA-97A9-4124728E5441}"/>
              </a:ext>
            </a:extLst>
          </p:cNvPr>
          <p:cNvSpPr txBox="1"/>
          <p:nvPr/>
        </p:nvSpPr>
        <p:spPr>
          <a:xfrm>
            <a:off x="1206500" y="3086100"/>
            <a:ext cx="1270000" cy="558800"/>
          </a:xfrm>
          <a:prstGeom prst="rect">
            <a:avLst/>
          </a:prstGeom>
          <a:noFill/>
        </p:spPr>
        <p:txBody>
          <a:bodyPr vert="horz" wrap="square" lIns="0" tIns="0" rIns="0" bIns="0" rtlCol="0" anchor="t">
            <a:noAutofit/>
          </a:bodyPr>
          <a:lstStyle/>
          <a:p>
            <a:r>
              <a:rPr lang="en-IN" sz="1700" b="1">
                <a:solidFill>
                  <a:srgbClr val="193F35"/>
                </a:solidFill>
                <a:latin typeface="Calibri" panose="020F0502020204030204" pitchFamily="34" charset="0"/>
              </a:rPr>
              <a:t>Scientific PDFs</a:t>
            </a:r>
          </a:p>
        </p:txBody>
      </p:sp>
      <p:sp>
        <p:nvSpPr>
          <p:cNvPr id="23" name="s5-object22-text">
            <a:extLst>
              <a:ext uri="{FF2B5EF4-FFF2-40B4-BE49-F238E27FC236}">
                <a16:creationId xmlns:a16="http://schemas.microsoft.com/office/drawing/2014/main" id="{B7E39FE5-22CC-06D7-8F6E-39214872D809}"/>
              </a:ext>
            </a:extLst>
          </p:cNvPr>
          <p:cNvSpPr txBox="1"/>
          <p:nvPr/>
        </p:nvSpPr>
        <p:spPr>
          <a:xfrm>
            <a:off x="800100" y="3746500"/>
            <a:ext cx="1600200" cy="444500"/>
          </a:xfrm>
          <a:prstGeom prst="rect">
            <a:avLst/>
          </a:prstGeom>
          <a:noFill/>
        </p:spPr>
        <p:txBody>
          <a:bodyPr vert="horz" wrap="square" lIns="0" tIns="0" rIns="0" bIns="0" rtlCol="0" anchor="t">
            <a:noAutofit/>
          </a:bodyPr>
          <a:lstStyle/>
          <a:p>
            <a:r>
              <a:rPr lang="en-IN" sz="1300">
                <a:solidFill>
                  <a:srgbClr val="62756A"/>
                </a:solidFill>
                <a:latin typeface="Calibri" panose="020F0502020204030204" pitchFamily="34" charset="0"/>
              </a:rPr>
              <a:t>Source text + bibliography</a:t>
            </a:r>
          </a:p>
        </p:txBody>
      </p:sp>
      <p:sp>
        <p:nvSpPr>
          <p:cNvPr id="24" name="s5-object23-roundRect">
            <a:extLst>
              <a:ext uri="{FF2B5EF4-FFF2-40B4-BE49-F238E27FC236}">
                <a16:creationId xmlns:a16="http://schemas.microsoft.com/office/drawing/2014/main" id="{E37071B3-AD99-4AB4-DDB9-B8C410DDF242}"/>
              </a:ext>
            </a:extLst>
          </p:cNvPr>
          <p:cNvSpPr/>
          <p:nvPr/>
        </p:nvSpPr>
        <p:spPr>
          <a:xfrm>
            <a:off x="3124200" y="2794000"/>
            <a:ext cx="5283200" cy="762000"/>
          </a:xfrm>
          <a:prstGeom prst="roundRect">
            <a:avLst/>
          </a:prstGeom>
          <a:solidFill>
            <a:srgbClr val="FFFFFF"/>
          </a:solidFill>
          <a:ln w="10160">
            <a:solidFill>
              <a:srgbClr val="D7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s5-object24-rect">
            <a:extLst>
              <a:ext uri="{FF2B5EF4-FFF2-40B4-BE49-F238E27FC236}">
                <a16:creationId xmlns:a16="http://schemas.microsoft.com/office/drawing/2014/main" id="{A173217F-3251-4D90-A56A-0DC4E5B68A58}"/>
              </a:ext>
            </a:extLst>
          </p:cNvPr>
          <p:cNvSpPr/>
          <p:nvPr/>
        </p:nvSpPr>
        <p:spPr>
          <a:xfrm>
            <a:off x="3327400" y="2984500"/>
            <a:ext cx="297180" cy="205740"/>
          </a:xfrm>
          <a:prstGeom prst="rect">
            <a:avLst/>
          </a:prstGeom>
          <a:noFill/>
          <a:ln w="10160" cap="flat" cmpd="sng" algn="ctr">
            <a:solidFill>
              <a:srgbClr val="2D7257"/>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6" name="s5-object25-line">
            <a:extLst>
              <a:ext uri="{FF2B5EF4-FFF2-40B4-BE49-F238E27FC236}">
                <a16:creationId xmlns:a16="http://schemas.microsoft.com/office/drawing/2014/main" id="{33C8CCAD-00C7-6444-BBA5-42440DABCFDD}"/>
              </a:ext>
            </a:extLst>
          </p:cNvPr>
          <p:cNvCxnSpPr/>
          <p:nvPr/>
        </p:nvCxnSpPr>
        <p:spPr>
          <a:xfrm>
            <a:off x="3475990" y="3190240"/>
            <a:ext cx="0" cy="8001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7" name="s5-object26-line">
            <a:extLst>
              <a:ext uri="{FF2B5EF4-FFF2-40B4-BE49-F238E27FC236}">
                <a16:creationId xmlns:a16="http://schemas.microsoft.com/office/drawing/2014/main" id="{41047207-668E-D3D1-813B-1FEF0007BACD}"/>
              </a:ext>
            </a:extLst>
          </p:cNvPr>
          <p:cNvCxnSpPr/>
          <p:nvPr/>
        </p:nvCxnSpPr>
        <p:spPr>
          <a:xfrm>
            <a:off x="3395980" y="3270250"/>
            <a:ext cx="16002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28" name="s5-object27-text">
            <a:extLst>
              <a:ext uri="{FF2B5EF4-FFF2-40B4-BE49-F238E27FC236}">
                <a16:creationId xmlns:a16="http://schemas.microsoft.com/office/drawing/2014/main" id="{A38F2D02-E81F-1619-4237-E021E81338D9}"/>
              </a:ext>
            </a:extLst>
          </p:cNvPr>
          <p:cNvSpPr txBox="1"/>
          <p:nvPr/>
        </p:nvSpPr>
        <p:spPr>
          <a:xfrm>
            <a:off x="3860800" y="2921000"/>
            <a:ext cx="4254500" cy="304800"/>
          </a:xfrm>
          <a:prstGeom prst="rect">
            <a:avLst/>
          </a:prstGeom>
          <a:noFill/>
        </p:spPr>
        <p:txBody>
          <a:bodyPr vert="horz" wrap="square" lIns="0" tIns="0" rIns="0" bIns="0" rtlCol="0" anchor="t">
            <a:noAutofit/>
          </a:bodyPr>
          <a:lstStyle/>
          <a:p>
            <a:r>
              <a:rPr lang="en-IN" sz="1900" b="1">
                <a:solidFill>
                  <a:srgbClr val="193F35"/>
                </a:solidFill>
                <a:latin typeface="Calibri" panose="020F0502020204030204" pitchFamily="34" charset="0"/>
              </a:rPr>
              <a:t>Research interface</a:t>
            </a:r>
          </a:p>
        </p:txBody>
      </p:sp>
      <p:sp>
        <p:nvSpPr>
          <p:cNvPr id="29" name="s5-object28-text">
            <a:extLst>
              <a:ext uri="{FF2B5EF4-FFF2-40B4-BE49-F238E27FC236}">
                <a16:creationId xmlns:a16="http://schemas.microsoft.com/office/drawing/2014/main" id="{0875F339-80E6-3FD7-5D1B-EE032B45097C}"/>
              </a:ext>
            </a:extLst>
          </p:cNvPr>
          <p:cNvSpPr txBox="1"/>
          <p:nvPr/>
        </p:nvSpPr>
        <p:spPr>
          <a:xfrm>
            <a:off x="3860800" y="3251200"/>
            <a:ext cx="4254500" cy="254000"/>
          </a:xfrm>
          <a:prstGeom prst="rect">
            <a:avLst/>
          </a:prstGeom>
          <a:noFill/>
        </p:spPr>
        <p:txBody>
          <a:bodyPr vert="horz" wrap="square" lIns="0" tIns="0" rIns="0" bIns="0" rtlCol="0" anchor="t">
            <a:noAutofit/>
          </a:bodyPr>
          <a:lstStyle/>
          <a:p>
            <a:r>
              <a:rPr lang="en-US" sz="1300">
                <a:solidFill>
                  <a:srgbClr val="62756A"/>
                </a:solidFill>
                <a:latin typeface="Calibri" panose="020F0502020204030204" pitchFamily="34" charset="0"/>
              </a:rPr>
              <a:t>Claims, evidence and pathway exploration</a:t>
            </a:r>
            <a:endParaRPr lang="en-IN" sz="1300">
              <a:solidFill>
                <a:srgbClr val="62756A"/>
              </a:solidFill>
              <a:latin typeface="Calibri" panose="020F0502020204030204" pitchFamily="34" charset="0"/>
            </a:endParaRPr>
          </a:p>
        </p:txBody>
      </p:sp>
      <p:sp>
        <p:nvSpPr>
          <p:cNvPr id="30" name="s5-object29-roundRect">
            <a:extLst>
              <a:ext uri="{FF2B5EF4-FFF2-40B4-BE49-F238E27FC236}">
                <a16:creationId xmlns:a16="http://schemas.microsoft.com/office/drawing/2014/main" id="{42696C37-F4DD-B322-B95C-5C67A11ED5B6}"/>
              </a:ext>
            </a:extLst>
          </p:cNvPr>
          <p:cNvSpPr/>
          <p:nvPr/>
        </p:nvSpPr>
        <p:spPr>
          <a:xfrm>
            <a:off x="3124200" y="3937000"/>
            <a:ext cx="2692400" cy="1409700"/>
          </a:xfrm>
          <a:prstGeom prst="roundRect">
            <a:avLst/>
          </a:prstGeom>
          <a:solidFill>
            <a:srgbClr val="FFFFFF"/>
          </a:solidFill>
          <a:ln w="10160">
            <a:solidFill>
              <a:srgbClr val="D7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s5-object30-ellipse">
            <a:extLst>
              <a:ext uri="{FF2B5EF4-FFF2-40B4-BE49-F238E27FC236}">
                <a16:creationId xmlns:a16="http://schemas.microsoft.com/office/drawing/2014/main" id="{8D9B7FD0-CC89-7075-EDAE-8E13406A1D24}"/>
              </a:ext>
            </a:extLst>
          </p:cNvPr>
          <p:cNvSpPr/>
          <p:nvPr/>
        </p:nvSpPr>
        <p:spPr>
          <a:xfrm>
            <a:off x="3338830" y="4188460"/>
            <a:ext cx="68580" cy="68580"/>
          </a:xfrm>
          <a:prstGeom prst="ellipse">
            <a:avLst/>
          </a:prstGeom>
          <a:solidFill>
            <a:srgbClr val="FFFFFF"/>
          </a:solidFill>
          <a:ln w="10160">
            <a:solidFill>
              <a:srgbClr val="2D725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s5-object31-ellipse">
            <a:extLst>
              <a:ext uri="{FF2B5EF4-FFF2-40B4-BE49-F238E27FC236}">
                <a16:creationId xmlns:a16="http://schemas.microsoft.com/office/drawing/2014/main" id="{A840E716-8ABE-AC8F-A20E-760615A88060}"/>
              </a:ext>
            </a:extLst>
          </p:cNvPr>
          <p:cNvSpPr/>
          <p:nvPr/>
        </p:nvSpPr>
        <p:spPr>
          <a:xfrm>
            <a:off x="3533140" y="4188460"/>
            <a:ext cx="68580" cy="68580"/>
          </a:xfrm>
          <a:prstGeom prst="ellipse">
            <a:avLst/>
          </a:prstGeom>
          <a:solidFill>
            <a:srgbClr val="FFFFFF"/>
          </a:solidFill>
          <a:ln w="10160">
            <a:solidFill>
              <a:srgbClr val="2D725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s5-object32-ellipse">
            <a:extLst>
              <a:ext uri="{FF2B5EF4-FFF2-40B4-BE49-F238E27FC236}">
                <a16:creationId xmlns:a16="http://schemas.microsoft.com/office/drawing/2014/main" id="{329CDB31-EF6D-1EE0-1640-2D673F228C6D}"/>
              </a:ext>
            </a:extLst>
          </p:cNvPr>
          <p:cNvSpPr/>
          <p:nvPr/>
        </p:nvSpPr>
        <p:spPr>
          <a:xfrm>
            <a:off x="3430270" y="4394200"/>
            <a:ext cx="68580" cy="68580"/>
          </a:xfrm>
          <a:prstGeom prst="ellipse">
            <a:avLst/>
          </a:prstGeom>
          <a:solidFill>
            <a:srgbClr val="FFFFFF"/>
          </a:solidFill>
          <a:ln w="10160">
            <a:solidFill>
              <a:srgbClr val="2D725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4" name="s5-object33-line">
            <a:extLst>
              <a:ext uri="{FF2B5EF4-FFF2-40B4-BE49-F238E27FC236}">
                <a16:creationId xmlns:a16="http://schemas.microsoft.com/office/drawing/2014/main" id="{0155BFF6-70C8-6D7F-96BA-05695755FE0B}"/>
              </a:ext>
            </a:extLst>
          </p:cNvPr>
          <p:cNvCxnSpPr/>
          <p:nvPr/>
        </p:nvCxnSpPr>
        <p:spPr>
          <a:xfrm>
            <a:off x="3407410" y="4222750"/>
            <a:ext cx="12573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5" name="s5-object34-line">
            <a:extLst>
              <a:ext uri="{FF2B5EF4-FFF2-40B4-BE49-F238E27FC236}">
                <a16:creationId xmlns:a16="http://schemas.microsoft.com/office/drawing/2014/main" id="{0D9DC85F-0561-3D92-7D16-DEAA158C316F}"/>
              </a:ext>
            </a:extLst>
          </p:cNvPr>
          <p:cNvCxnSpPr/>
          <p:nvPr/>
        </p:nvCxnSpPr>
        <p:spPr>
          <a:xfrm>
            <a:off x="3384550" y="4257040"/>
            <a:ext cx="57150" cy="13716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6" name="s5-object35-line">
            <a:extLst>
              <a:ext uri="{FF2B5EF4-FFF2-40B4-BE49-F238E27FC236}">
                <a16:creationId xmlns:a16="http://schemas.microsoft.com/office/drawing/2014/main" id="{66D57D3A-2A23-4789-90E5-716D1CF09ADE}"/>
              </a:ext>
            </a:extLst>
          </p:cNvPr>
          <p:cNvCxnSpPr/>
          <p:nvPr/>
        </p:nvCxnSpPr>
        <p:spPr>
          <a:xfrm flipH="1">
            <a:off x="3487420" y="4257040"/>
            <a:ext cx="57150" cy="13716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37" name="s5-object36-text">
            <a:extLst>
              <a:ext uri="{FF2B5EF4-FFF2-40B4-BE49-F238E27FC236}">
                <a16:creationId xmlns:a16="http://schemas.microsoft.com/office/drawing/2014/main" id="{45727487-44D7-796F-4508-B196ADBAF8BF}"/>
              </a:ext>
            </a:extLst>
          </p:cNvPr>
          <p:cNvSpPr txBox="1"/>
          <p:nvPr/>
        </p:nvSpPr>
        <p:spPr>
          <a:xfrm>
            <a:off x="3810000" y="4140200"/>
            <a:ext cx="1841500" cy="558800"/>
          </a:xfrm>
          <a:prstGeom prst="rect">
            <a:avLst/>
          </a:prstGeom>
          <a:noFill/>
        </p:spPr>
        <p:txBody>
          <a:bodyPr vert="horz" wrap="square" lIns="0" tIns="0" rIns="0" bIns="0" rtlCol="0" anchor="t">
            <a:noAutofit/>
          </a:bodyPr>
          <a:lstStyle/>
          <a:p>
            <a:r>
              <a:rPr lang="en-IN" sz="1900" b="1">
                <a:solidFill>
                  <a:srgbClr val="193F35"/>
                </a:solidFill>
                <a:latin typeface="Calibri" panose="020F0502020204030204" pitchFamily="34" charset="0"/>
              </a:rPr>
              <a:t>Pipeline backend</a:t>
            </a:r>
          </a:p>
        </p:txBody>
      </p:sp>
      <p:sp>
        <p:nvSpPr>
          <p:cNvPr id="38" name="s5-object37-text">
            <a:extLst>
              <a:ext uri="{FF2B5EF4-FFF2-40B4-BE49-F238E27FC236}">
                <a16:creationId xmlns:a16="http://schemas.microsoft.com/office/drawing/2014/main" id="{8EB637EE-4405-C345-2169-10CCF1AD2C8C}"/>
              </a:ext>
            </a:extLst>
          </p:cNvPr>
          <p:cNvSpPr txBox="1"/>
          <p:nvPr/>
        </p:nvSpPr>
        <p:spPr>
          <a:xfrm>
            <a:off x="3314700" y="4851400"/>
            <a:ext cx="2324100" cy="317500"/>
          </a:xfrm>
          <a:prstGeom prst="rect">
            <a:avLst/>
          </a:prstGeom>
          <a:noFill/>
        </p:spPr>
        <p:txBody>
          <a:bodyPr vert="horz" wrap="square" lIns="0" tIns="0" rIns="0" bIns="0" rtlCol="0" anchor="t">
            <a:noAutofit/>
          </a:bodyPr>
          <a:lstStyle/>
          <a:p>
            <a:r>
              <a:rPr lang="en-IN" sz="1400">
                <a:solidFill>
                  <a:srgbClr val="62756A"/>
                </a:solidFill>
                <a:latin typeface="Calibri" panose="020F0502020204030204" pitchFamily="34" charset="0"/>
              </a:rPr>
              <a:t>Extract, assemble, assess</a:t>
            </a:r>
          </a:p>
        </p:txBody>
      </p:sp>
      <p:sp>
        <p:nvSpPr>
          <p:cNvPr id="39" name="s5-object38-roundRect">
            <a:extLst>
              <a:ext uri="{FF2B5EF4-FFF2-40B4-BE49-F238E27FC236}">
                <a16:creationId xmlns:a16="http://schemas.microsoft.com/office/drawing/2014/main" id="{31601EED-9605-7830-EA69-462F18E382D9}"/>
              </a:ext>
            </a:extLst>
          </p:cNvPr>
          <p:cNvSpPr/>
          <p:nvPr/>
        </p:nvSpPr>
        <p:spPr>
          <a:xfrm>
            <a:off x="6146800" y="3937000"/>
            <a:ext cx="2260600" cy="1409700"/>
          </a:xfrm>
          <a:prstGeom prst="roundRect">
            <a:avLst/>
          </a:prstGeom>
          <a:solidFill>
            <a:srgbClr val="FFFFFF"/>
          </a:solidFill>
          <a:ln w="10160">
            <a:solidFill>
              <a:srgbClr val="D7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s5-object39-ellipse">
            <a:extLst>
              <a:ext uri="{FF2B5EF4-FFF2-40B4-BE49-F238E27FC236}">
                <a16:creationId xmlns:a16="http://schemas.microsoft.com/office/drawing/2014/main" id="{BCB1207F-1DAE-8AD1-A841-58FBD85D2177}"/>
              </a:ext>
            </a:extLst>
          </p:cNvPr>
          <p:cNvSpPr/>
          <p:nvPr/>
        </p:nvSpPr>
        <p:spPr>
          <a:xfrm>
            <a:off x="6337300" y="4208780"/>
            <a:ext cx="254000" cy="60960"/>
          </a:xfrm>
          <a:prstGeom prst="ellipse">
            <a:avLst/>
          </a:prstGeom>
          <a:noFill/>
          <a:ln w="10160" cap="flat" cmpd="sng" algn="ctr">
            <a:solidFill>
              <a:srgbClr val="2D7257"/>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s5-object40-ellipse">
            <a:extLst>
              <a:ext uri="{FF2B5EF4-FFF2-40B4-BE49-F238E27FC236}">
                <a16:creationId xmlns:a16="http://schemas.microsoft.com/office/drawing/2014/main" id="{3736E330-1E78-4396-C3AE-DEC4255D3F06}"/>
              </a:ext>
            </a:extLst>
          </p:cNvPr>
          <p:cNvSpPr/>
          <p:nvPr/>
        </p:nvSpPr>
        <p:spPr>
          <a:xfrm>
            <a:off x="6337300" y="4300220"/>
            <a:ext cx="254000" cy="60960"/>
          </a:xfrm>
          <a:prstGeom prst="ellipse">
            <a:avLst/>
          </a:prstGeom>
          <a:noFill/>
          <a:ln w="10160" cap="flat" cmpd="sng" algn="ctr">
            <a:solidFill>
              <a:srgbClr val="2D7257"/>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s5-object41-ellipse">
            <a:extLst>
              <a:ext uri="{FF2B5EF4-FFF2-40B4-BE49-F238E27FC236}">
                <a16:creationId xmlns:a16="http://schemas.microsoft.com/office/drawing/2014/main" id="{E8272854-B7D3-15D3-C7E6-D6CEE050571D}"/>
              </a:ext>
            </a:extLst>
          </p:cNvPr>
          <p:cNvSpPr/>
          <p:nvPr/>
        </p:nvSpPr>
        <p:spPr>
          <a:xfrm>
            <a:off x="6337300" y="4391660"/>
            <a:ext cx="254000" cy="60960"/>
          </a:xfrm>
          <a:prstGeom prst="ellipse">
            <a:avLst/>
          </a:prstGeom>
          <a:noFill/>
          <a:ln w="10160" cap="flat" cmpd="sng" algn="ctr">
            <a:solidFill>
              <a:srgbClr val="2D7257"/>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3" name="s5-object42-line">
            <a:extLst>
              <a:ext uri="{FF2B5EF4-FFF2-40B4-BE49-F238E27FC236}">
                <a16:creationId xmlns:a16="http://schemas.microsoft.com/office/drawing/2014/main" id="{E5E9E6AF-8E18-219E-4B9B-3FC72B7F2ECE}"/>
              </a:ext>
            </a:extLst>
          </p:cNvPr>
          <p:cNvCxnSpPr/>
          <p:nvPr/>
        </p:nvCxnSpPr>
        <p:spPr>
          <a:xfrm>
            <a:off x="6337300" y="4239260"/>
            <a:ext cx="0" cy="18288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44" name="s5-object43-line">
            <a:extLst>
              <a:ext uri="{FF2B5EF4-FFF2-40B4-BE49-F238E27FC236}">
                <a16:creationId xmlns:a16="http://schemas.microsoft.com/office/drawing/2014/main" id="{9C2088B2-E498-F4BF-DC32-5E94CF7BE90C}"/>
              </a:ext>
            </a:extLst>
          </p:cNvPr>
          <p:cNvCxnSpPr/>
          <p:nvPr/>
        </p:nvCxnSpPr>
        <p:spPr>
          <a:xfrm>
            <a:off x="6591300" y="4239260"/>
            <a:ext cx="0" cy="18288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45" name="s5-object44-text">
            <a:extLst>
              <a:ext uri="{FF2B5EF4-FFF2-40B4-BE49-F238E27FC236}">
                <a16:creationId xmlns:a16="http://schemas.microsoft.com/office/drawing/2014/main" id="{3B8BE98B-1AD5-EAFD-A008-A705122781B9}"/>
              </a:ext>
            </a:extLst>
          </p:cNvPr>
          <p:cNvSpPr txBox="1"/>
          <p:nvPr/>
        </p:nvSpPr>
        <p:spPr>
          <a:xfrm>
            <a:off x="6781800" y="4140200"/>
            <a:ext cx="1435100" cy="609600"/>
          </a:xfrm>
          <a:prstGeom prst="rect">
            <a:avLst/>
          </a:prstGeom>
          <a:noFill/>
        </p:spPr>
        <p:txBody>
          <a:bodyPr vert="horz" wrap="square" lIns="0" tIns="0" rIns="0" bIns="0" rtlCol="0" anchor="t">
            <a:noAutofit/>
          </a:bodyPr>
          <a:lstStyle/>
          <a:p>
            <a:r>
              <a:rPr lang="en-IN" sz="1700" b="1">
                <a:solidFill>
                  <a:srgbClr val="193F35"/>
                </a:solidFill>
                <a:latin typeface="Calibri" panose="020F0502020204030204" pitchFamily="34" charset="0"/>
              </a:rPr>
              <a:t>Evidence + graphs</a:t>
            </a:r>
          </a:p>
        </p:txBody>
      </p:sp>
      <p:sp>
        <p:nvSpPr>
          <p:cNvPr id="46" name="s5-object45-text">
            <a:extLst>
              <a:ext uri="{FF2B5EF4-FFF2-40B4-BE49-F238E27FC236}">
                <a16:creationId xmlns:a16="http://schemas.microsoft.com/office/drawing/2014/main" id="{1055E86D-77D0-5CBF-8D9E-11AB97304C5C}"/>
              </a:ext>
            </a:extLst>
          </p:cNvPr>
          <p:cNvSpPr txBox="1"/>
          <p:nvPr/>
        </p:nvSpPr>
        <p:spPr>
          <a:xfrm>
            <a:off x="6337300" y="4851400"/>
            <a:ext cx="1917700" cy="317500"/>
          </a:xfrm>
          <a:prstGeom prst="rect">
            <a:avLst/>
          </a:prstGeom>
          <a:noFill/>
        </p:spPr>
        <p:txBody>
          <a:bodyPr vert="horz" wrap="square" lIns="0" tIns="0" rIns="0" bIns="0" rtlCol="0" anchor="t">
            <a:noAutofit/>
          </a:bodyPr>
          <a:lstStyle/>
          <a:p>
            <a:r>
              <a:rPr lang="en-IN" sz="1300">
                <a:solidFill>
                  <a:srgbClr val="62756A"/>
                </a:solidFill>
                <a:latin typeface="Calibri" panose="020F0502020204030204" pitchFamily="34" charset="0"/>
              </a:rPr>
              <a:t>Claims and citations</a:t>
            </a:r>
          </a:p>
        </p:txBody>
      </p:sp>
      <p:sp>
        <p:nvSpPr>
          <p:cNvPr id="47" name="s5-object46-roundRect">
            <a:extLst>
              <a:ext uri="{FF2B5EF4-FFF2-40B4-BE49-F238E27FC236}">
                <a16:creationId xmlns:a16="http://schemas.microsoft.com/office/drawing/2014/main" id="{91135F52-6869-29D5-5BDE-801408581600}"/>
              </a:ext>
            </a:extLst>
          </p:cNvPr>
          <p:cNvSpPr/>
          <p:nvPr/>
        </p:nvSpPr>
        <p:spPr>
          <a:xfrm>
            <a:off x="9207500" y="2222500"/>
            <a:ext cx="2374900" cy="1511300"/>
          </a:xfrm>
          <a:prstGeom prst="roundRect">
            <a:avLst/>
          </a:prstGeom>
          <a:solidFill>
            <a:srgbClr val="FFFFFF"/>
          </a:solidFill>
          <a:ln w="10160">
            <a:solidFill>
              <a:srgbClr val="D7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s5-object47-ellipse">
            <a:extLst>
              <a:ext uri="{FF2B5EF4-FFF2-40B4-BE49-F238E27FC236}">
                <a16:creationId xmlns:a16="http://schemas.microsoft.com/office/drawing/2014/main" id="{4CA544B7-90F5-4A92-DCB7-800A01610190}"/>
              </a:ext>
            </a:extLst>
          </p:cNvPr>
          <p:cNvSpPr/>
          <p:nvPr/>
        </p:nvSpPr>
        <p:spPr>
          <a:xfrm>
            <a:off x="9419590" y="2459990"/>
            <a:ext cx="172720" cy="172720"/>
          </a:xfrm>
          <a:prstGeom prst="ellipse">
            <a:avLst/>
          </a:prstGeom>
          <a:solidFill>
            <a:srgbClr val="FFFFFF"/>
          </a:solidFill>
          <a:ln w="10160">
            <a:solidFill>
              <a:srgbClr val="2D725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9" name="s5-object48-line">
            <a:extLst>
              <a:ext uri="{FF2B5EF4-FFF2-40B4-BE49-F238E27FC236}">
                <a16:creationId xmlns:a16="http://schemas.microsoft.com/office/drawing/2014/main" id="{09295C83-F53B-36AA-0C34-27A0956C498B}"/>
              </a:ext>
            </a:extLst>
          </p:cNvPr>
          <p:cNvCxnSpPr/>
          <p:nvPr/>
        </p:nvCxnSpPr>
        <p:spPr>
          <a:xfrm>
            <a:off x="9570720" y="2611120"/>
            <a:ext cx="97155" cy="97155"/>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50" name="s5-object49-text">
            <a:extLst>
              <a:ext uri="{FF2B5EF4-FFF2-40B4-BE49-F238E27FC236}">
                <a16:creationId xmlns:a16="http://schemas.microsoft.com/office/drawing/2014/main" id="{39646760-3EC2-49AD-5D5E-FDDA788122D3}"/>
              </a:ext>
            </a:extLst>
          </p:cNvPr>
          <p:cNvSpPr txBox="1"/>
          <p:nvPr/>
        </p:nvSpPr>
        <p:spPr>
          <a:xfrm>
            <a:off x="9804400" y="2387600"/>
            <a:ext cx="1676400" cy="558800"/>
          </a:xfrm>
          <a:prstGeom prst="rect">
            <a:avLst/>
          </a:prstGeom>
          <a:noFill/>
        </p:spPr>
        <p:txBody>
          <a:bodyPr vert="horz" wrap="square" lIns="0" tIns="0" rIns="0" bIns="0" rtlCol="0" anchor="t">
            <a:noAutofit/>
          </a:bodyPr>
          <a:lstStyle/>
          <a:p>
            <a:r>
              <a:rPr lang="en-IN" sz="1700" b="1">
                <a:solidFill>
                  <a:srgbClr val="193F35"/>
                </a:solidFill>
                <a:latin typeface="Calibri" panose="020F0502020204030204" pitchFamily="34" charset="0"/>
              </a:rPr>
              <a:t>Scholarly sources</a:t>
            </a:r>
          </a:p>
        </p:txBody>
      </p:sp>
      <p:sp>
        <p:nvSpPr>
          <p:cNvPr id="51" name="s5-object50-text">
            <a:extLst>
              <a:ext uri="{FF2B5EF4-FFF2-40B4-BE49-F238E27FC236}">
                <a16:creationId xmlns:a16="http://schemas.microsoft.com/office/drawing/2014/main" id="{65933AAC-DD54-6AB2-0F3B-8089A8B8E2DA}"/>
              </a:ext>
            </a:extLst>
          </p:cNvPr>
          <p:cNvSpPr txBox="1"/>
          <p:nvPr/>
        </p:nvSpPr>
        <p:spPr>
          <a:xfrm>
            <a:off x="9398000" y="3048000"/>
            <a:ext cx="2006600" cy="444500"/>
          </a:xfrm>
          <a:prstGeom prst="rect">
            <a:avLst/>
          </a:prstGeom>
          <a:noFill/>
        </p:spPr>
        <p:txBody>
          <a:bodyPr vert="horz" wrap="square" lIns="0" tIns="0" rIns="0" bIns="0" rtlCol="0" anchor="t">
            <a:noAutofit/>
          </a:bodyPr>
          <a:lstStyle/>
          <a:p>
            <a:r>
              <a:rPr lang="en-IN" sz="1300">
                <a:solidFill>
                  <a:srgbClr val="62756A"/>
                </a:solidFill>
                <a:latin typeface="Calibri" panose="020F0502020204030204" pitchFamily="34" charset="0"/>
              </a:rPr>
              <a:t>Europe PMC, OpenAlex, Crossref</a:t>
            </a:r>
          </a:p>
        </p:txBody>
      </p:sp>
      <p:sp>
        <p:nvSpPr>
          <p:cNvPr id="52" name="s5-object51-roundRect">
            <a:extLst>
              <a:ext uri="{FF2B5EF4-FFF2-40B4-BE49-F238E27FC236}">
                <a16:creationId xmlns:a16="http://schemas.microsoft.com/office/drawing/2014/main" id="{ECD47014-5A03-702C-4416-2784F0F18614}"/>
              </a:ext>
            </a:extLst>
          </p:cNvPr>
          <p:cNvSpPr/>
          <p:nvPr/>
        </p:nvSpPr>
        <p:spPr>
          <a:xfrm>
            <a:off x="9207500" y="4165600"/>
            <a:ext cx="2374900" cy="1511300"/>
          </a:xfrm>
          <a:prstGeom prst="roundRect">
            <a:avLst/>
          </a:prstGeom>
          <a:solidFill>
            <a:srgbClr val="FFFFFF"/>
          </a:solidFill>
          <a:ln w="10160">
            <a:solidFill>
              <a:srgbClr val="D7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3" name="s5-object52-line">
            <a:extLst>
              <a:ext uri="{FF2B5EF4-FFF2-40B4-BE49-F238E27FC236}">
                <a16:creationId xmlns:a16="http://schemas.microsoft.com/office/drawing/2014/main" id="{29016F72-B16D-BA8D-5966-DCF4D0534E60}"/>
              </a:ext>
            </a:extLst>
          </p:cNvPr>
          <p:cNvCxnSpPr/>
          <p:nvPr/>
        </p:nvCxnSpPr>
        <p:spPr>
          <a:xfrm>
            <a:off x="9428480" y="4485640"/>
            <a:ext cx="60960" cy="6096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54" name="s5-object53-line">
            <a:extLst>
              <a:ext uri="{FF2B5EF4-FFF2-40B4-BE49-F238E27FC236}">
                <a16:creationId xmlns:a16="http://schemas.microsoft.com/office/drawing/2014/main" id="{45402199-C35A-7933-0633-6EA70DA5FE1C}"/>
              </a:ext>
            </a:extLst>
          </p:cNvPr>
          <p:cNvCxnSpPr/>
          <p:nvPr/>
        </p:nvCxnSpPr>
        <p:spPr>
          <a:xfrm flipV="1">
            <a:off x="9489440" y="4384040"/>
            <a:ext cx="142240" cy="16256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55" name="s5-object54-text">
            <a:extLst>
              <a:ext uri="{FF2B5EF4-FFF2-40B4-BE49-F238E27FC236}">
                <a16:creationId xmlns:a16="http://schemas.microsoft.com/office/drawing/2014/main" id="{21814488-B24F-1120-6CC8-A5B20B2C8A06}"/>
              </a:ext>
            </a:extLst>
          </p:cNvPr>
          <p:cNvSpPr txBox="1"/>
          <p:nvPr/>
        </p:nvSpPr>
        <p:spPr>
          <a:xfrm>
            <a:off x="9817100" y="4318000"/>
            <a:ext cx="1587500" cy="533400"/>
          </a:xfrm>
          <a:prstGeom prst="rect">
            <a:avLst/>
          </a:prstGeom>
          <a:noFill/>
        </p:spPr>
        <p:txBody>
          <a:bodyPr vert="horz" wrap="square" lIns="0" tIns="0" rIns="0" bIns="0" rtlCol="0" anchor="t">
            <a:noAutofit/>
          </a:bodyPr>
          <a:lstStyle/>
          <a:p>
            <a:r>
              <a:rPr lang="en-IN" sz="1700" b="1">
                <a:solidFill>
                  <a:srgbClr val="193F35"/>
                </a:solidFill>
                <a:latin typeface="Calibri" panose="020F0502020204030204" pitchFamily="34" charset="0"/>
              </a:rPr>
              <a:t>Model assessment</a:t>
            </a:r>
          </a:p>
        </p:txBody>
      </p:sp>
      <p:sp>
        <p:nvSpPr>
          <p:cNvPr id="56" name="s5-object55-text">
            <a:extLst>
              <a:ext uri="{FF2B5EF4-FFF2-40B4-BE49-F238E27FC236}">
                <a16:creationId xmlns:a16="http://schemas.microsoft.com/office/drawing/2014/main" id="{50F3E012-2DAE-ECAD-BA7F-CA32F574A755}"/>
              </a:ext>
            </a:extLst>
          </p:cNvPr>
          <p:cNvSpPr txBox="1"/>
          <p:nvPr/>
        </p:nvSpPr>
        <p:spPr>
          <a:xfrm>
            <a:off x="9398000" y="4902200"/>
            <a:ext cx="2006600" cy="609600"/>
          </a:xfrm>
          <a:prstGeom prst="rect">
            <a:avLst/>
          </a:prstGeom>
          <a:noFill/>
        </p:spPr>
        <p:txBody>
          <a:bodyPr vert="horz" wrap="square" lIns="0" tIns="0" rIns="0" bIns="0" rtlCol="0" anchor="t">
            <a:noAutofit/>
          </a:bodyPr>
          <a:lstStyle/>
          <a:p>
            <a:r>
              <a:rPr lang="en-US" sz="1400">
                <a:solidFill>
                  <a:srgbClr val="62756A"/>
                </a:solidFill>
                <a:latin typeface="Calibri" panose="020F0502020204030204" pitchFamily="34" charset="0"/>
              </a:rPr>
              <a:t>DeepSeek Flash
MiMo Pro + MiMo Flash</a:t>
            </a:r>
            <a:endParaRPr lang="en-IN" sz="1400">
              <a:solidFill>
                <a:srgbClr val="62756A"/>
              </a:solidFill>
              <a:latin typeface="Calibri" panose="020F0502020204030204" pitchFamily="34" charset="0"/>
            </a:endParaRPr>
          </a:p>
        </p:txBody>
      </p:sp>
      <p:cxnSp>
        <p:nvCxnSpPr>
          <p:cNvPr id="57" name="s5-object56-line">
            <a:extLst>
              <a:ext uri="{FF2B5EF4-FFF2-40B4-BE49-F238E27FC236}">
                <a16:creationId xmlns:a16="http://schemas.microsoft.com/office/drawing/2014/main" id="{7F1E8F2E-B975-9987-3962-EFCFA8C97FE1}"/>
              </a:ext>
            </a:extLst>
          </p:cNvPr>
          <p:cNvCxnSpPr/>
          <p:nvPr/>
        </p:nvCxnSpPr>
        <p:spPr>
          <a:xfrm>
            <a:off x="2578100" y="4191000"/>
            <a:ext cx="546100" cy="0"/>
          </a:xfrm>
          <a:prstGeom prst="line">
            <a:avLst/>
          </a:prstGeom>
          <a:ln w="21590">
            <a:solidFill>
              <a:srgbClr val="2D7257"/>
            </a:solidFill>
            <a:tailEnd type="arrow"/>
          </a:ln>
        </p:spPr>
        <p:style>
          <a:lnRef idx="2">
            <a:schemeClr val="accent1"/>
          </a:lnRef>
          <a:fillRef idx="0">
            <a:schemeClr val="accent1"/>
          </a:fillRef>
          <a:effectRef idx="1">
            <a:schemeClr val="accent1"/>
          </a:effectRef>
          <a:fontRef idx="minor">
            <a:schemeClr val="tx1"/>
          </a:fontRef>
        </p:style>
      </p:cxnSp>
      <p:cxnSp>
        <p:nvCxnSpPr>
          <p:cNvPr id="58" name="s5-object57-line">
            <a:extLst>
              <a:ext uri="{FF2B5EF4-FFF2-40B4-BE49-F238E27FC236}">
                <a16:creationId xmlns:a16="http://schemas.microsoft.com/office/drawing/2014/main" id="{3FA91D4D-DBE3-6745-41DE-ADD4EE36CED1}"/>
              </a:ext>
            </a:extLst>
          </p:cNvPr>
          <p:cNvCxnSpPr/>
          <p:nvPr/>
        </p:nvCxnSpPr>
        <p:spPr>
          <a:xfrm>
            <a:off x="5816600" y="4686300"/>
            <a:ext cx="317500" cy="0"/>
          </a:xfrm>
          <a:prstGeom prst="line">
            <a:avLst/>
          </a:prstGeom>
          <a:ln w="20320">
            <a:solidFill>
              <a:srgbClr val="2D7257"/>
            </a:solidFill>
            <a:tailEnd type="arrow"/>
          </a:ln>
        </p:spPr>
        <p:style>
          <a:lnRef idx="2">
            <a:schemeClr val="accent1"/>
          </a:lnRef>
          <a:fillRef idx="0">
            <a:schemeClr val="accent1"/>
          </a:fillRef>
          <a:effectRef idx="1">
            <a:schemeClr val="accent1"/>
          </a:effectRef>
          <a:fontRef idx="minor">
            <a:schemeClr val="tx1"/>
          </a:fontRef>
        </p:style>
      </p:cxnSp>
      <p:cxnSp>
        <p:nvCxnSpPr>
          <p:cNvPr id="59" name="s5-object58-line">
            <a:extLst>
              <a:ext uri="{FF2B5EF4-FFF2-40B4-BE49-F238E27FC236}">
                <a16:creationId xmlns:a16="http://schemas.microsoft.com/office/drawing/2014/main" id="{FA2A07B7-3AC1-1010-D13B-1523662E2489}"/>
              </a:ext>
            </a:extLst>
          </p:cNvPr>
          <p:cNvCxnSpPr/>
          <p:nvPr/>
        </p:nvCxnSpPr>
        <p:spPr>
          <a:xfrm>
            <a:off x="4470400" y="3556000"/>
            <a:ext cx="0" cy="381000"/>
          </a:xfrm>
          <a:prstGeom prst="line">
            <a:avLst/>
          </a:prstGeom>
          <a:ln w="19050">
            <a:solidFill>
              <a:srgbClr val="2D7257"/>
            </a:solidFill>
            <a:tailEnd type="arrow"/>
          </a:ln>
        </p:spPr>
        <p:style>
          <a:lnRef idx="2">
            <a:schemeClr val="accent1"/>
          </a:lnRef>
          <a:fillRef idx="0">
            <a:schemeClr val="accent1"/>
          </a:fillRef>
          <a:effectRef idx="1">
            <a:schemeClr val="accent1"/>
          </a:effectRef>
          <a:fontRef idx="minor">
            <a:schemeClr val="tx1"/>
          </a:fontRef>
        </p:style>
      </p:cxnSp>
      <p:cxnSp>
        <p:nvCxnSpPr>
          <p:cNvPr id="60" name="s5-object59-line">
            <a:extLst>
              <a:ext uri="{FF2B5EF4-FFF2-40B4-BE49-F238E27FC236}">
                <a16:creationId xmlns:a16="http://schemas.microsoft.com/office/drawing/2014/main" id="{6F2CFCEA-8C02-CCE4-0FBD-925C38E4FC9F}"/>
              </a:ext>
            </a:extLst>
          </p:cNvPr>
          <p:cNvCxnSpPr/>
          <p:nvPr/>
        </p:nvCxnSpPr>
        <p:spPr>
          <a:xfrm>
            <a:off x="8674100" y="2984500"/>
            <a:ext cx="533400" cy="0"/>
          </a:xfrm>
          <a:prstGeom prst="line">
            <a:avLst/>
          </a:prstGeom>
          <a:ln w="19050">
            <a:solidFill>
              <a:srgbClr val="2D7257"/>
            </a:solidFill>
            <a:tailEnd type="arrow"/>
          </a:ln>
        </p:spPr>
        <p:style>
          <a:lnRef idx="2">
            <a:schemeClr val="accent1"/>
          </a:lnRef>
          <a:fillRef idx="0">
            <a:schemeClr val="accent1"/>
          </a:fillRef>
          <a:effectRef idx="1">
            <a:schemeClr val="accent1"/>
          </a:effectRef>
          <a:fontRef idx="minor">
            <a:schemeClr val="tx1"/>
          </a:fontRef>
        </p:style>
      </p:cxnSp>
      <p:cxnSp>
        <p:nvCxnSpPr>
          <p:cNvPr id="61" name="s5-object60-line">
            <a:extLst>
              <a:ext uri="{FF2B5EF4-FFF2-40B4-BE49-F238E27FC236}">
                <a16:creationId xmlns:a16="http://schemas.microsoft.com/office/drawing/2014/main" id="{DE84DCB6-F08E-CB0A-67D5-8DD9C81EAA82}"/>
              </a:ext>
            </a:extLst>
          </p:cNvPr>
          <p:cNvCxnSpPr/>
          <p:nvPr/>
        </p:nvCxnSpPr>
        <p:spPr>
          <a:xfrm>
            <a:off x="8674100" y="4889500"/>
            <a:ext cx="533400" cy="0"/>
          </a:xfrm>
          <a:prstGeom prst="line">
            <a:avLst/>
          </a:prstGeom>
          <a:ln w="19050">
            <a:solidFill>
              <a:srgbClr val="2D7257"/>
            </a:solidFill>
            <a:tailEnd type="arrow"/>
          </a:ln>
        </p:spPr>
        <p:style>
          <a:lnRef idx="2">
            <a:schemeClr val="accent1"/>
          </a:lnRef>
          <a:fillRef idx="0">
            <a:schemeClr val="accent1"/>
          </a:fillRef>
          <a:effectRef idx="1">
            <a:schemeClr val="accent1"/>
          </a:effectRef>
          <a:fontRef idx="minor">
            <a:schemeClr val="tx1"/>
          </a:fontRef>
        </p:style>
      </p:cxnSp>
      <p:sp>
        <p:nvSpPr>
          <p:cNvPr id="62" name="s5-object61-text">
            <a:extLst>
              <a:ext uri="{FF2B5EF4-FFF2-40B4-BE49-F238E27FC236}">
                <a16:creationId xmlns:a16="http://schemas.microsoft.com/office/drawing/2014/main" id="{ABFD1CDF-B5F6-9046-3839-29B370135017}"/>
              </a:ext>
            </a:extLst>
          </p:cNvPr>
          <p:cNvSpPr txBox="1"/>
          <p:nvPr/>
        </p:nvSpPr>
        <p:spPr>
          <a:xfrm>
            <a:off x="609600" y="5956300"/>
            <a:ext cx="10972800" cy="330200"/>
          </a:xfrm>
          <a:prstGeom prst="rect">
            <a:avLst/>
          </a:prstGeom>
          <a:noFill/>
        </p:spPr>
        <p:txBody>
          <a:bodyPr vert="horz" wrap="square" lIns="0" tIns="0" rIns="0" bIns="0" rtlCol="0" anchor="t">
            <a:noAutofit/>
          </a:bodyPr>
          <a:lstStyle/>
          <a:p>
            <a:r>
              <a:rPr lang="en-US" sz="1600">
                <a:solidFill>
                  <a:srgbClr val="62756A"/>
                </a:solidFill>
                <a:latin typeface="Calibri" panose="020F0502020204030204" pitchFamily="34" charset="0"/>
              </a:rPr>
              <a:t>Source documents and external evidence remain traceable throughout the workflow.</a:t>
            </a:r>
            <a:endParaRPr lang="en-IN" sz="1600">
              <a:solidFill>
                <a:srgbClr val="62756A"/>
              </a:solidFill>
              <a:latin typeface="Calibri" panose="020F0502020204030204" pitchFamily="34" charset="0"/>
            </a:endParaRPr>
          </a:p>
        </p:txBody>
      </p:sp>
    </p:spTree>
    <p:extLst>
      <p:ext uri="{BB962C8B-B14F-4D97-AF65-F5344CB8AC3E}">
        <p14:creationId xmlns:p14="http://schemas.microsoft.com/office/powerpoint/2010/main" val="1199200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EFEFC"/>
        </a:solidFill>
        <a:effectLst/>
      </p:bgPr>
    </p:bg>
    <p:spTree>
      <p:nvGrpSpPr>
        <p:cNvPr id="1" name=""/>
        <p:cNvGrpSpPr/>
        <p:nvPr/>
      </p:nvGrpSpPr>
      <p:grpSpPr>
        <a:xfrm>
          <a:off x="0" y="0"/>
          <a:ext cx="0" cy="0"/>
          <a:chOff x="0" y="0"/>
          <a:chExt cx="0" cy="0"/>
        </a:xfrm>
      </p:grpSpPr>
      <p:pic>
        <p:nvPicPr>
          <p:cNvPr id="3" name="s6-object1-svg" descr="Full pathway-first research pipeline, followed by eleven concise stage explanations.">
            <a:extLst>
              <a:ext uri="{FF2B5EF4-FFF2-40B4-BE49-F238E27FC236}">
                <a16:creationId xmlns:a16="http://schemas.microsoft.com/office/drawing/2014/main" id="{FCBCB59F-D3C7-315F-8874-68A9907B3582}"/>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1238250" y="0"/>
            <a:ext cx="9715500" cy="6858000"/>
          </a:xfrm>
          <a:prstGeom prst="rect">
            <a:avLst/>
          </a:prstGeom>
        </p:spPr>
      </p:pic>
    </p:spTree>
    <p:extLst>
      <p:ext uri="{BB962C8B-B14F-4D97-AF65-F5344CB8AC3E}">
        <p14:creationId xmlns:p14="http://schemas.microsoft.com/office/powerpoint/2010/main" val="588300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DFB"/>
        </a:solidFill>
        <a:effectLst/>
      </p:bgPr>
    </p:bg>
    <p:spTree>
      <p:nvGrpSpPr>
        <p:cNvPr id="1" name=""/>
        <p:cNvGrpSpPr/>
        <p:nvPr/>
      </p:nvGrpSpPr>
      <p:grpSpPr>
        <a:xfrm>
          <a:off x="0" y="0"/>
          <a:ext cx="0" cy="0"/>
          <a:chOff x="0" y="0"/>
          <a:chExt cx="0" cy="0"/>
        </a:xfrm>
      </p:grpSpPr>
      <p:sp>
        <p:nvSpPr>
          <p:cNvPr id="2" name="s7-object1-text">
            <a:extLst>
              <a:ext uri="{FF2B5EF4-FFF2-40B4-BE49-F238E27FC236}">
                <a16:creationId xmlns:a16="http://schemas.microsoft.com/office/drawing/2014/main" id="{E332E6B1-C213-050C-B092-7DF2C969E084}"/>
              </a:ext>
            </a:extLst>
          </p:cNvPr>
          <p:cNvSpPr txBox="1"/>
          <p:nvPr/>
        </p:nvSpPr>
        <p:spPr>
          <a:xfrm>
            <a:off x="609600" y="304800"/>
            <a:ext cx="10972800" cy="228600"/>
          </a:xfrm>
          <a:prstGeom prst="rect">
            <a:avLst/>
          </a:prstGeom>
          <a:noFill/>
        </p:spPr>
        <p:txBody>
          <a:bodyPr vert="horz" wrap="square" lIns="0" tIns="0" rIns="0" bIns="0" rtlCol="0" anchor="t">
            <a:noAutofit/>
          </a:bodyPr>
          <a:lstStyle/>
          <a:p>
            <a:r>
              <a:rPr lang="en-IN" sz="1000" b="1">
                <a:solidFill>
                  <a:srgbClr val="2D7257"/>
                </a:solidFill>
                <a:latin typeface="Calibri" panose="020F0502020204030204" pitchFamily="34" charset="0"/>
              </a:rPr>
              <a:t>STAGE 1  /  PDF PREPARATION</a:t>
            </a:r>
          </a:p>
        </p:txBody>
      </p:sp>
      <p:sp>
        <p:nvSpPr>
          <p:cNvPr id="3" name="s7-object2-text">
            <a:extLst>
              <a:ext uri="{FF2B5EF4-FFF2-40B4-BE49-F238E27FC236}">
                <a16:creationId xmlns:a16="http://schemas.microsoft.com/office/drawing/2014/main" id="{C2DE9D77-A59B-D5A4-BF4B-9E5071B15359}"/>
              </a:ext>
            </a:extLst>
          </p:cNvPr>
          <p:cNvSpPr txBox="1"/>
          <p:nvPr/>
        </p:nvSpPr>
        <p:spPr>
          <a:xfrm>
            <a:off x="609600" y="647700"/>
            <a:ext cx="10972800" cy="622300"/>
          </a:xfrm>
          <a:prstGeom prst="rect">
            <a:avLst/>
          </a:prstGeom>
          <a:noFill/>
        </p:spPr>
        <p:txBody>
          <a:bodyPr vert="horz" wrap="square" lIns="0" tIns="0" rIns="0" bIns="0" rtlCol="0" anchor="t">
            <a:noAutofit/>
          </a:bodyPr>
          <a:lstStyle/>
          <a:p>
            <a:r>
              <a:rPr lang="en-US" sz="3000" b="1">
                <a:solidFill>
                  <a:srgbClr val="193F35"/>
                </a:solidFill>
                <a:latin typeface="Calibri" panose="020F0502020204030204" pitchFamily="34" charset="0"/>
              </a:rPr>
              <a:t>PDF preparation and sentence references</a:t>
            </a:r>
            <a:endParaRPr lang="en-IN" sz="3000" b="1">
              <a:solidFill>
                <a:srgbClr val="193F35"/>
              </a:solidFill>
              <a:latin typeface="Calibri" panose="020F0502020204030204" pitchFamily="34" charset="0"/>
            </a:endParaRPr>
          </a:p>
        </p:txBody>
      </p:sp>
      <p:sp>
        <p:nvSpPr>
          <p:cNvPr id="4" name="s7-object3-text">
            <a:extLst>
              <a:ext uri="{FF2B5EF4-FFF2-40B4-BE49-F238E27FC236}">
                <a16:creationId xmlns:a16="http://schemas.microsoft.com/office/drawing/2014/main" id="{4EC5C59D-20EF-F00D-61D3-C2CB68367A94}"/>
              </a:ext>
            </a:extLst>
          </p:cNvPr>
          <p:cNvSpPr txBox="1"/>
          <p:nvPr/>
        </p:nvSpPr>
        <p:spPr>
          <a:xfrm>
            <a:off x="609600" y="1346200"/>
            <a:ext cx="10972800" cy="609600"/>
          </a:xfrm>
          <a:prstGeom prst="rect">
            <a:avLst/>
          </a:prstGeom>
          <a:noFill/>
        </p:spPr>
        <p:txBody>
          <a:bodyPr vert="horz" wrap="square" lIns="0" tIns="0" rIns="0" bIns="0" rtlCol="0" anchor="t">
            <a:noAutofit/>
          </a:bodyPr>
          <a:lstStyle/>
          <a:p>
            <a:r>
              <a:rPr lang="en-US" sz="1700">
                <a:solidFill>
                  <a:srgbClr val="2D7257"/>
                </a:solidFill>
                <a:latin typeface="Calibri" panose="020F0502020204030204" pitchFamily="34" charset="0"/>
              </a:rPr>
              <a:t>Purpose: Make the paper readable and keep later claims tied to their original evidence.</a:t>
            </a:r>
            <a:endParaRPr lang="en-IN" sz="1700">
              <a:solidFill>
                <a:srgbClr val="2D7257"/>
              </a:solidFill>
              <a:latin typeface="Calibri" panose="020F0502020204030204" pitchFamily="34" charset="0"/>
            </a:endParaRPr>
          </a:p>
        </p:txBody>
      </p:sp>
      <p:cxnSp>
        <p:nvCxnSpPr>
          <p:cNvPr id="5" name="s7-object4-line">
            <a:extLst>
              <a:ext uri="{FF2B5EF4-FFF2-40B4-BE49-F238E27FC236}">
                <a16:creationId xmlns:a16="http://schemas.microsoft.com/office/drawing/2014/main" id="{856CBE56-DE2D-7C28-3FEA-F7E16A9094CD}"/>
              </a:ext>
            </a:extLst>
          </p:cNvPr>
          <p:cNvCxnSpPr/>
          <p:nvPr/>
        </p:nvCxnSpPr>
        <p:spPr>
          <a:xfrm>
            <a:off x="609600" y="6477000"/>
            <a:ext cx="10972800" cy="0"/>
          </a:xfrm>
          <a:prstGeom prst="line">
            <a:avLst/>
          </a:prstGeom>
          <a:ln w="16510">
            <a:solidFill>
              <a:srgbClr val="D7E3DA"/>
            </a:solidFill>
          </a:ln>
        </p:spPr>
        <p:style>
          <a:lnRef idx="2">
            <a:schemeClr val="accent1"/>
          </a:lnRef>
          <a:fillRef idx="0">
            <a:schemeClr val="accent1"/>
          </a:fillRef>
          <a:effectRef idx="1">
            <a:schemeClr val="accent1"/>
          </a:effectRef>
          <a:fontRef idx="minor">
            <a:schemeClr val="tx1"/>
          </a:fontRef>
        </p:style>
      </p:cxnSp>
      <p:sp>
        <p:nvSpPr>
          <p:cNvPr id="6" name="s7-object5-text">
            <a:extLst>
              <a:ext uri="{FF2B5EF4-FFF2-40B4-BE49-F238E27FC236}">
                <a16:creationId xmlns:a16="http://schemas.microsoft.com/office/drawing/2014/main" id="{80917AA1-711C-D702-DEB6-1A6B31025418}"/>
              </a:ext>
            </a:extLst>
          </p:cNvPr>
          <p:cNvSpPr txBox="1"/>
          <p:nvPr/>
        </p:nvSpPr>
        <p:spPr>
          <a:xfrm>
            <a:off x="609600" y="6553200"/>
            <a:ext cx="8255000" cy="190500"/>
          </a:xfrm>
          <a:prstGeom prst="rect">
            <a:avLst/>
          </a:prstGeom>
          <a:noFill/>
        </p:spPr>
        <p:txBody>
          <a:bodyPr vert="horz" wrap="square" lIns="0" tIns="0" rIns="0" bIns="0" rtlCol="0" anchor="t">
            <a:noAutofit/>
          </a:bodyPr>
          <a:lstStyle/>
          <a:p>
            <a:r>
              <a:rPr lang="en-US" sz="900">
                <a:solidFill>
                  <a:srgbClr val="62756A"/>
                </a:solidFill>
                <a:latin typeface="Calibri" panose="020F0502020204030204" pitchFamily="34" charset="0"/>
              </a:rPr>
              <a:t>Reasoning with Food Knowledge Graphs</a:t>
            </a:r>
            <a:endParaRPr lang="en-IN" sz="900">
              <a:solidFill>
                <a:srgbClr val="62756A"/>
              </a:solidFill>
              <a:latin typeface="Calibri" panose="020F0502020204030204" pitchFamily="34" charset="0"/>
            </a:endParaRPr>
          </a:p>
        </p:txBody>
      </p:sp>
      <p:sp>
        <p:nvSpPr>
          <p:cNvPr id="7" name="s7-object6-text">
            <a:extLst>
              <a:ext uri="{FF2B5EF4-FFF2-40B4-BE49-F238E27FC236}">
                <a16:creationId xmlns:a16="http://schemas.microsoft.com/office/drawing/2014/main" id="{FC5CE204-3681-09B5-DA91-C447754D44D9}"/>
              </a:ext>
            </a:extLst>
          </p:cNvPr>
          <p:cNvSpPr txBox="1"/>
          <p:nvPr/>
        </p:nvSpPr>
        <p:spPr>
          <a:xfrm>
            <a:off x="11049000" y="6553200"/>
            <a:ext cx="533400" cy="190500"/>
          </a:xfrm>
          <a:prstGeom prst="rect">
            <a:avLst/>
          </a:prstGeom>
          <a:noFill/>
        </p:spPr>
        <p:txBody>
          <a:bodyPr vert="horz" wrap="square" lIns="0" tIns="0" rIns="0" bIns="0" rtlCol="0" anchor="t">
            <a:noAutofit/>
          </a:bodyPr>
          <a:lstStyle/>
          <a:p>
            <a:pPr algn="r"/>
            <a:r>
              <a:rPr lang="en-IN" sz="900">
                <a:solidFill>
                  <a:srgbClr val="62756A"/>
                </a:solidFill>
                <a:latin typeface="Calibri" panose="020F0502020204030204" pitchFamily="34" charset="0"/>
              </a:rPr>
              <a:t>7</a:t>
            </a:r>
          </a:p>
        </p:txBody>
      </p:sp>
      <p:sp>
        <p:nvSpPr>
          <p:cNvPr id="8" name="s7-object7-text">
            <a:extLst>
              <a:ext uri="{FF2B5EF4-FFF2-40B4-BE49-F238E27FC236}">
                <a16:creationId xmlns:a16="http://schemas.microsoft.com/office/drawing/2014/main" id="{E921C17D-2FDB-55CA-5F98-A54C6E97EA84}"/>
              </a:ext>
            </a:extLst>
          </p:cNvPr>
          <p:cNvSpPr txBox="1"/>
          <p:nvPr/>
        </p:nvSpPr>
        <p:spPr>
          <a:xfrm>
            <a:off x="609600" y="2260600"/>
            <a:ext cx="4889500" cy="254000"/>
          </a:xfrm>
          <a:prstGeom prst="rect">
            <a:avLst/>
          </a:prstGeom>
          <a:noFill/>
        </p:spPr>
        <p:txBody>
          <a:bodyPr vert="horz" wrap="square" lIns="0" tIns="0" rIns="0" bIns="0" rtlCol="0" anchor="t">
            <a:noAutofit/>
          </a:bodyPr>
          <a:lstStyle/>
          <a:p>
            <a:r>
              <a:rPr lang="en-IN" sz="1200" b="1">
                <a:solidFill>
                  <a:srgbClr val="2D7257"/>
                </a:solidFill>
                <a:latin typeface="Calibri" panose="020F0502020204030204" pitchFamily="34" charset="0"/>
              </a:rPr>
              <a:t>WHAT HAPPENS</a:t>
            </a:r>
          </a:p>
        </p:txBody>
      </p:sp>
      <p:sp>
        <p:nvSpPr>
          <p:cNvPr id="9" name="s7-object8-text">
            <a:extLst>
              <a:ext uri="{FF2B5EF4-FFF2-40B4-BE49-F238E27FC236}">
                <a16:creationId xmlns:a16="http://schemas.microsoft.com/office/drawing/2014/main" id="{D9355C95-1FD8-E90A-BA9D-46E48C78D893}"/>
              </a:ext>
            </a:extLst>
          </p:cNvPr>
          <p:cNvSpPr txBox="1"/>
          <p:nvPr/>
        </p:nvSpPr>
        <p:spPr>
          <a:xfrm>
            <a:off x="609600" y="2628900"/>
            <a:ext cx="4889500" cy="1092200"/>
          </a:xfrm>
          <a:prstGeom prst="rect">
            <a:avLst/>
          </a:prstGeom>
          <a:noFill/>
        </p:spPr>
        <p:txBody>
          <a:bodyPr vert="horz" wrap="square" lIns="0" tIns="0" rIns="0" bIns="0" rtlCol="0" anchor="t">
            <a:noAutofit/>
          </a:bodyPr>
          <a:lstStyle/>
          <a:p>
            <a:r>
              <a:rPr lang="en-US">
                <a:solidFill>
                  <a:srgbClr val="193F35"/>
                </a:solidFill>
                <a:latin typeface="Calibri" panose="020F0502020204030204" pitchFamily="34" charset="0"/>
              </a:rPr>
              <a:t>Read pages, sections, bibliography entries and citation markers from the PDF.</a:t>
            </a:r>
            <a:endParaRPr lang="en-IN">
              <a:solidFill>
                <a:srgbClr val="193F35"/>
              </a:solidFill>
              <a:latin typeface="Calibri" panose="020F0502020204030204" pitchFamily="34" charset="0"/>
            </a:endParaRPr>
          </a:p>
        </p:txBody>
      </p:sp>
      <p:sp>
        <p:nvSpPr>
          <p:cNvPr id="10" name="s7-object9-text">
            <a:extLst>
              <a:ext uri="{FF2B5EF4-FFF2-40B4-BE49-F238E27FC236}">
                <a16:creationId xmlns:a16="http://schemas.microsoft.com/office/drawing/2014/main" id="{36030715-F9B9-B0AF-E503-D9EE80AA9362}"/>
              </a:ext>
            </a:extLst>
          </p:cNvPr>
          <p:cNvSpPr txBox="1"/>
          <p:nvPr/>
        </p:nvSpPr>
        <p:spPr>
          <a:xfrm>
            <a:off x="609600" y="3924300"/>
            <a:ext cx="4889500" cy="1079500"/>
          </a:xfrm>
          <a:prstGeom prst="rect">
            <a:avLst/>
          </a:prstGeom>
          <a:noFill/>
        </p:spPr>
        <p:txBody>
          <a:bodyPr vert="horz" wrap="square" lIns="0" tIns="0" rIns="0" bIns="0" rtlCol="0" anchor="t">
            <a:noAutofit/>
          </a:bodyPr>
          <a:lstStyle/>
          <a:p>
            <a:r>
              <a:rPr lang="en-US">
                <a:solidFill>
                  <a:srgbClr val="193F35"/>
                </a:solidFill>
                <a:latin typeface="Calibri" panose="020F0502020204030204" pitchFamily="34" charset="0"/>
              </a:rPr>
              <a:t>Number the source sentences and retain neighbouring text for references such as “these grains”.</a:t>
            </a:r>
            <a:endParaRPr lang="en-IN">
              <a:solidFill>
                <a:srgbClr val="193F35"/>
              </a:solidFill>
              <a:latin typeface="Calibri" panose="020F0502020204030204" pitchFamily="34" charset="0"/>
            </a:endParaRPr>
          </a:p>
        </p:txBody>
      </p:sp>
      <p:sp>
        <p:nvSpPr>
          <p:cNvPr id="11" name="s7-object10-text">
            <a:extLst>
              <a:ext uri="{FF2B5EF4-FFF2-40B4-BE49-F238E27FC236}">
                <a16:creationId xmlns:a16="http://schemas.microsoft.com/office/drawing/2014/main" id="{1164EF6F-5078-B355-38D1-54C22141B02E}"/>
              </a:ext>
            </a:extLst>
          </p:cNvPr>
          <p:cNvSpPr txBox="1"/>
          <p:nvPr/>
        </p:nvSpPr>
        <p:spPr>
          <a:xfrm>
            <a:off x="609600" y="5194300"/>
            <a:ext cx="4889500" cy="254000"/>
          </a:xfrm>
          <a:prstGeom prst="rect">
            <a:avLst/>
          </a:prstGeom>
          <a:noFill/>
        </p:spPr>
        <p:txBody>
          <a:bodyPr vert="horz" wrap="square" lIns="0" tIns="0" rIns="0" bIns="0" rtlCol="0" anchor="t">
            <a:noAutofit/>
          </a:bodyPr>
          <a:lstStyle/>
          <a:p>
            <a:r>
              <a:rPr lang="en-IN" sz="1200" b="1">
                <a:solidFill>
                  <a:srgbClr val="2D7257"/>
                </a:solidFill>
                <a:latin typeface="Calibri" panose="020F0502020204030204" pitchFamily="34" charset="0"/>
              </a:rPr>
              <a:t>OUTPUT</a:t>
            </a:r>
          </a:p>
        </p:txBody>
      </p:sp>
      <p:sp>
        <p:nvSpPr>
          <p:cNvPr id="12" name="s7-object11-text">
            <a:extLst>
              <a:ext uri="{FF2B5EF4-FFF2-40B4-BE49-F238E27FC236}">
                <a16:creationId xmlns:a16="http://schemas.microsoft.com/office/drawing/2014/main" id="{43BF758E-F7AA-E554-CCE9-CBE8A444C8A9}"/>
              </a:ext>
            </a:extLst>
          </p:cNvPr>
          <p:cNvSpPr txBox="1"/>
          <p:nvPr/>
        </p:nvSpPr>
        <p:spPr>
          <a:xfrm>
            <a:off x="609600" y="5549900"/>
            <a:ext cx="4889500" cy="787400"/>
          </a:xfrm>
          <a:prstGeom prst="rect">
            <a:avLst/>
          </a:prstGeom>
          <a:noFill/>
        </p:spPr>
        <p:txBody>
          <a:bodyPr vert="horz" wrap="square" lIns="0" tIns="0" rIns="0" bIns="0" rtlCol="0" anchor="t">
            <a:noAutofit/>
          </a:bodyPr>
          <a:lstStyle/>
          <a:p>
            <a:r>
              <a:rPr lang="en-IN" sz="1700">
                <a:solidFill>
                  <a:srgbClr val="62756A"/>
                </a:solidFill>
                <a:latin typeface="Calibri" panose="020F0502020204030204" pitchFamily="34" charset="0"/>
              </a:rPr>
              <a:t>Source passages, sentence references and linked bibliography entries.</a:t>
            </a:r>
          </a:p>
        </p:txBody>
      </p:sp>
      <p:sp>
        <p:nvSpPr>
          <p:cNvPr id="13" name="s7-object12-text">
            <a:extLst>
              <a:ext uri="{FF2B5EF4-FFF2-40B4-BE49-F238E27FC236}">
                <a16:creationId xmlns:a16="http://schemas.microsoft.com/office/drawing/2014/main" id="{2F4E6DB2-6ECC-5FA4-8565-6827E2905059}"/>
              </a:ext>
            </a:extLst>
          </p:cNvPr>
          <p:cNvSpPr txBox="1"/>
          <p:nvPr/>
        </p:nvSpPr>
        <p:spPr>
          <a:xfrm>
            <a:off x="6146800" y="2260600"/>
            <a:ext cx="5435600" cy="254000"/>
          </a:xfrm>
          <a:prstGeom prst="rect">
            <a:avLst/>
          </a:prstGeom>
          <a:noFill/>
        </p:spPr>
        <p:txBody>
          <a:bodyPr vert="horz" wrap="square" lIns="0" tIns="0" rIns="0" bIns="0" rtlCol="0" anchor="t">
            <a:noAutofit/>
          </a:bodyPr>
          <a:lstStyle/>
          <a:p>
            <a:r>
              <a:rPr lang="en-IN" sz="1200" b="1">
                <a:solidFill>
                  <a:srgbClr val="2D7257"/>
                </a:solidFill>
                <a:latin typeface="Calibri" panose="020F0502020204030204" pitchFamily="34" charset="0"/>
              </a:rPr>
              <a:t>ILLUSTRATIVE SENTENCE NUMBERING</a:t>
            </a:r>
          </a:p>
        </p:txBody>
      </p:sp>
      <p:sp>
        <p:nvSpPr>
          <p:cNvPr id="14" name="s7-object13-rect">
            <a:extLst>
              <a:ext uri="{FF2B5EF4-FFF2-40B4-BE49-F238E27FC236}">
                <a16:creationId xmlns:a16="http://schemas.microsoft.com/office/drawing/2014/main" id="{9DEB4E6E-EDD0-E0BC-7EB6-195434C270D9}"/>
              </a:ext>
            </a:extLst>
          </p:cNvPr>
          <p:cNvSpPr/>
          <p:nvPr/>
        </p:nvSpPr>
        <p:spPr>
          <a:xfrm>
            <a:off x="6146800" y="2755900"/>
            <a:ext cx="5435600" cy="1409700"/>
          </a:xfrm>
          <a:prstGeom prst="rect">
            <a:avLst/>
          </a:prstGeom>
          <a:solidFill>
            <a:srgbClr val="EDF4E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s7-object14-text">
            <a:extLst>
              <a:ext uri="{FF2B5EF4-FFF2-40B4-BE49-F238E27FC236}">
                <a16:creationId xmlns:a16="http://schemas.microsoft.com/office/drawing/2014/main" id="{59F0ECB8-C453-C49B-5FB6-A630362A0CEB}"/>
              </a:ext>
            </a:extLst>
          </p:cNvPr>
          <p:cNvSpPr txBox="1"/>
          <p:nvPr/>
        </p:nvSpPr>
        <p:spPr>
          <a:xfrm>
            <a:off x="6362700" y="2933700"/>
            <a:ext cx="698500" cy="317500"/>
          </a:xfrm>
          <a:prstGeom prst="rect">
            <a:avLst/>
          </a:prstGeom>
          <a:noFill/>
        </p:spPr>
        <p:txBody>
          <a:bodyPr vert="horz" wrap="square" lIns="0" tIns="0" rIns="0" bIns="0" rtlCol="0" anchor="t">
            <a:noAutofit/>
          </a:bodyPr>
          <a:lstStyle/>
          <a:p>
            <a:r>
              <a:rPr lang="en-IN" sz="1700" b="1">
                <a:solidFill>
                  <a:srgbClr val="2D7257"/>
                </a:solidFill>
                <a:latin typeface="Calibri" panose="020F0502020204030204" pitchFamily="34" charset="0"/>
              </a:rPr>
              <a:t>S12</a:t>
            </a:r>
          </a:p>
        </p:txBody>
      </p:sp>
      <p:sp>
        <p:nvSpPr>
          <p:cNvPr id="16" name="s7-object15-text">
            <a:extLst>
              <a:ext uri="{FF2B5EF4-FFF2-40B4-BE49-F238E27FC236}">
                <a16:creationId xmlns:a16="http://schemas.microsoft.com/office/drawing/2014/main" id="{3F76FAC3-66F2-BECE-1602-3C46E079C803}"/>
              </a:ext>
            </a:extLst>
          </p:cNvPr>
          <p:cNvSpPr txBox="1"/>
          <p:nvPr/>
        </p:nvSpPr>
        <p:spPr>
          <a:xfrm>
            <a:off x="7162800" y="2946400"/>
            <a:ext cx="4152900" cy="965200"/>
          </a:xfrm>
          <a:prstGeom prst="rect">
            <a:avLst/>
          </a:prstGeom>
          <a:noFill/>
        </p:spPr>
        <p:txBody>
          <a:bodyPr vert="horz" wrap="square" lIns="0" tIns="0" rIns="0" bIns="0" rtlCol="0" anchor="t">
            <a:noAutofit/>
          </a:bodyPr>
          <a:lstStyle/>
          <a:p>
            <a:r>
              <a:rPr lang="en-US" sz="2100">
                <a:solidFill>
                  <a:srgbClr val="193F35"/>
                </a:solidFill>
                <a:latin typeface="Calibri" panose="020F0502020204030204" pitchFamily="34" charset="0"/>
              </a:rPr>
              <a:t>Fusarium head blight affects wheat grains.</a:t>
            </a:r>
            <a:endParaRPr lang="en-IN" sz="2100">
              <a:solidFill>
                <a:srgbClr val="193F35"/>
              </a:solidFill>
              <a:latin typeface="Calibri" panose="020F0502020204030204" pitchFamily="34" charset="0"/>
            </a:endParaRPr>
          </a:p>
        </p:txBody>
      </p:sp>
      <p:sp>
        <p:nvSpPr>
          <p:cNvPr id="17" name="s7-object16-rect">
            <a:extLst>
              <a:ext uri="{FF2B5EF4-FFF2-40B4-BE49-F238E27FC236}">
                <a16:creationId xmlns:a16="http://schemas.microsoft.com/office/drawing/2014/main" id="{F703A87D-2084-F0A0-407D-CAC9431ADA7D}"/>
              </a:ext>
            </a:extLst>
          </p:cNvPr>
          <p:cNvSpPr/>
          <p:nvPr/>
        </p:nvSpPr>
        <p:spPr>
          <a:xfrm>
            <a:off x="6146800" y="4368800"/>
            <a:ext cx="5435600" cy="1409700"/>
          </a:xfrm>
          <a:prstGeom prst="rect">
            <a:avLst/>
          </a:prstGeom>
          <a:solidFill>
            <a:srgbClr val="F7F1E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s7-object17-text">
            <a:extLst>
              <a:ext uri="{FF2B5EF4-FFF2-40B4-BE49-F238E27FC236}">
                <a16:creationId xmlns:a16="http://schemas.microsoft.com/office/drawing/2014/main" id="{849626BF-1249-6744-CA46-34BE704D6CD3}"/>
              </a:ext>
            </a:extLst>
          </p:cNvPr>
          <p:cNvSpPr txBox="1"/>
          <p:nvPr/>
        </p:nvSpPr>
        <p:spPr>
          <a:xfrm>
            <a:off x="6362700" y="4546600"/>
            <a:ext cx="698500" cy="317500"/>
          </a:xfrm>
          <a:prstGeom prst="rect">
            <a:avLst/>
          </a:prstGeom>
          <a:noFill/>
        </p:spPr>
        <p:txBody>
          <a:bodyPr vert="horz" wrap="square" lIns="0" tIns="0" rIns="0" bIns="0" rtlCol="0" anchor="t">
            <a:noAutofit/>
          </a:bodyPr>
          <a:lstStyle/>
          <a:p>
            <a:r>
              <a:rPr lang="en-IN" sz="1700" b="1">
                <a:solidFill>
                  <a:srgbClr val="B28A4F"/>
                </a:solidFill>
                <a:latin typeface="Calibri" panose="020F0502020204030204" pitchFamily="34" charset="0"/>
              </a:rPr>
              <a:t>S13</a:t>
            </a:r>
          </a:p>
        </p:txBody>
      </p:sp>
      <p:sp>
        <p:nvSpPr>
          <p:cNvPr id="19" name="s7-object18-text">
            <a:extLst>
              <a:ext uri="{FF2B5EF4-FFF2-40B4-BE49-F238E27FC236}">
                <a16:creationId xmlns:a16="http://schemas.microsoft.com/office/drawing/2014/main" id="{3A07FC61-16F2-0EA6-C4B2-9032BD149112}"/>
              </a:ext>
            </a:extLst>
          </p:cNvPr>
          <p:cNvSpPr txBox="1"/>
          <p:nvPr/>
        </p:nvSpPr>
        <p:spPr>
          <a:xfrm>
            <a:off x="7162800" y="4559300"/>
            <a:ext cx="4152900" cy="965200"/>
          </a:xfrm>
          <a:prstGeom prst="rect">
            <a:avLst/>
          </a:prstGeom>
          <a:noFill/>
        </p:spPr>
        <p:txBody>
          <a:bodyPr vert="horz" wrap="square" lIns="0" tIns="0" rIns="0" bIns="0" rtlCol="0" anchor="t">
            <a:noAutofit/>
          </a:bodyPr>
          <a:lstStyle/>
          <a:p>
            <a:r>
              <a:rPr lang="en-US" sz="2100">
                <a:solidFill>
                  <a:srgbClr val="193F35"/>
                </a:solidFill>
                <a:latin typeface="Calibri" panose="020F0502020204030204" pitchFamily="34" charset="0"/>
              </a:rPr>
              <a:t>These infected grains may contain mycotoxins.</a:t>
            </a:r>
            <a:endParaRPr lang="en-IN" sz="2100">
              <a:solidFill>
                <a:srgbClr val="193F35"/>
              </a:solidFill>
              <a:latin typeface="Calibri" panose="020F0502020204030204" pitchFamily="34" charset="0"/>
            </a:endParaRPr>
          </a:p>
        </p:txBody>
      </p:sp>
      <p:sp>
        <p:nvSpPr>
          <p:cNvPr id="20" name="s7-object19-text">
            <a:extLst>
              <a:ext uri="{FF2B5EF4-FFF2-40B4-BE49-F238E27FC236}">
                <a16:creationId xmlns:a16="http://schemas.microsoft.com/office/drawing/2014/main" id="{3CAA530C-0573-5060-7E0D-2DF3B4617A69}"/>
              </a:ext>
            </a:extLst>
          </p:cNvPr>
          <p:cNvSpPr txBox="1"/>
          <p:nvPr/>
        </p:nvSpPr>
        <p:spPr>
          <a:xfrm>
            <a:off x="6146800" y="5969000"/>
            <a:ext cx="5435600" cy="381000"/>
          </a:xfrm>
          <a:prstGeom prst="rect">
            <a:avLst/>
          </a:prstGeom>
          <a:noFill/>
        </p:spPr>
        <p:txBody>
          <a:bodyPr vert="horz" wrap="square" lIns="0" tIns="0" rIns="0" bIns="0" rtlCol="0" anchor="t">
            <a:noAutofit/>
          </a:bodyPr>
          <a:lstStyle/>
          <a:p>
            <a:r>
              <a:rPr lang="en-US" sz="1600">
                <a:solidFill>
                  <a:srgbClr val="62756A"/>
                </a:solidFill>
                <a:latin typeface="Calibri" panose="020F0502020204030204" pitchFamily="34" charset="0"/>
              </a:rPr>
              <a:t>S12 identifies the grains referred to in S13.</a:t>
            </a:r>
            <a:endParaRPr lang="en-IN" sz="1600">
              <a:solidFill>
                <a:srgbClr val="62756A"/>
              </a:solidFill>
              <a:latin typeface="Calibri" panose="020F0502020204030204" pitchFamily="34" charset="0"/>
            </a:endParaRPr>
          </a:p>
        </p:txBody>
      </p:sp>
    </p:spTree>
    <p:extLst>
      <p:ext uri="{BB962C8B-B14F-4D97-AF65-F5344CB8AC3E}">
        <p14:creationId xmlns:p14="http://schemas.microsoft.com/office/powerpoint/2010/main" val="2888548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DFB"/>
        </a:solidFill>
        <a:effectLst/>
      </p:bgPr>
    </p:bg>
    <p:spTree>
      <p:nvGrpSpPr>
        <p:cNvPr id="1" name=""/>
        <p:cNvGrpSpPr/>
        <p:nvPr/>
      </p:nvGrpSpPr>
      <p:grpSpPr>
        <a:xfrm>
          <a:off x="0" y="0"/>
          <a:ext cx="0" cy="0"/>
          <a:chOff x="0" y="0"/>
          <a:chExt cx="0" cy="0"/>
        </a:xfrm>
      </p:grpSpPr>
      <p:sp>
        <p:nvSpPr>
          <p:cNvPr id="2" name="s8-object1-text">
            <a:extLst>
              <a:ext uri="{FF2B5EF4-FFF2-40B4-BE49-F238E27FC236}">
                <a16:creationId xmlns:a16="http://schemas.microsoft.com/office/drawing/2014/main" id="{08792D9A-9736-CE43-801E-A4EE36C5A19B}"/>
              </a:ext>
            </a:extLst>
          </p:cNvPr>
          <p:cNvSpPr txBox="1"/>
          <p:nvPr/>
        </p:nvSpPr>
        <p:spPr>
          <a:xfrm>
            <a:off x="609600" y="304800"/>
            <a:ext cx="10160000" cy="228600"/>
          </a:xfrm>
          <a:prstGeom prst="rect">
            <a:avLst/>
          </a:prstGeom>
          <a:noFill/>
        </p:spPr>
        <p:txBody>
          <a:bodyPr vert="horz" wrap="square" lIns="0" tIns="0" rIns="0" bIns="0" rtlCol="0" anchor="t">
            <a:noAutofit/>
          </a:bodyPr>
          <a:lstStyle/>
          <a:p>
            <a:r>
              <a:rPr lang="en-US" sz="1000" b="1">
                <a:solidFill>
                  <a:srgbClr val="2D7257"/>
                </a:solidFill>
                <a:latin typeface="Calibri" panose="020F0502020204030204" pitchFamily="34" charset="0"/>
              </a:rPr>
              <a:t>STAGE 2  /  CLAIM EXTRACTION · DEEPSEEK FLASH</a:t>
            </a:r>
            <a:endParaRPr lang="en-IN" sz="1000" b="1">
              <a:solidFill>
                <a:srgbClr val="2D7257"/>
              </a:solidFill>
              <a:latin typeface="Calibri" panose="020F0502020204030204" pitchFamily="34" charset="0"/>
            </a:endParaRPr>
          </a:p>
        </p:txBody>
      </p:sp>
      <p:sp>
        <p:nvSpPr>
          <p:cNvPr id="3" name="s8-object2-text">
            <a:extLst>
              <a:ext uri="{FF2B5EF4-FFF2-40B4-BE49-F238E27FC236}">
                <a16:creationId xmlns:a16="http://schemas.microsoft.com/office/drawing/2014/main" id="{2C57A3FB-B29C-6A49-C057-0778054CEB8B}"/>
              </a:ext>
            </a:extLst>
          </p:cNvPr>
          <p:cNvSpPr txBox="1"/>
          <p:nvPr/>
        </p:nvSpPr>
        <p:spPr>
          <a:xfrm>
            <a:off x="609600" y="647700"/>
            <a:ext cx="10972800" cy="622300"/>
          </a:xfrm>
          <a:prstGeom prst="rect">
            <a:avLst/>
          </a:prstGeom>
          <a:noFill/>
        </p:spPr>
        <p:txBody>
          <a:bodyPr vert="horz" wrap="square" lIns="0" tIns="0" rIns="0" bIns="0" rtlCol="0" anchor="t">
            <a:noAutofit/>
          </a:bodyPr>
          <a:lstStyle/>
          <a:p>
            <a:r>
              <a:rPr lang="en-US" sz="3000" b="1">
                <a:solidFill>
                  <a:srgbClr val="193F35"/>
                </a:solidFill>
                <a:latin typeface="Calibri" panose="020F0502020204030204" pitchFamily="34" charset="0"/>
              </a:rPr>
              <a:t>Atomic claims with their source evidence</a:t>
            </a:r>
            <a:endParaRPr lang="en-IN" sz="3000" b="1">
              <a:solidFill>
                <a:srgbClr val="193F35"/>
              </a:solidFill>
              <a:latin typeface="Calibri" panose="020F0502020204030204" pitchFamily="34" charset="0"/>
            </a:endParaRPr>
          </a:p>
        </p:txBody>
      </p:sp>
      <p:sp>
        <p:nvSpPr>
          <p:cNvPr id="4" name="s8-object3-text">
            <a:extLst>
              <a:ext uri="{FF2B5EF4-FFF2-40B4-BE49-F238E27FC236}">
                <a16:creationId xmlns:a16="http://schemas.microsoft.com/office/drawing/2014/main" id="{A967C12D-FD48-EBE7-8662-4D8A847438F1}"/>
              </a:ext>
            </a:extLst>
          </p:cNvPr>
          <p:cNvSpPr txBox="1"/>
          <p:nvPr/>
        </p:nvSpPr>
        <p:spPr>
          <a:xfrm>
            <a:off x="609600" y="1346200"/>
            <a:ext cx="10972800" cy="584200"/>
          </a:xfrm>
          <a:prstGeom prst="rect">
            <a:avLst/>
          </a:prstGeom>
          <a:noFill/>
        </p:spPr>
        <p:txBody>
          <a:bodyPr vert="horz" wrap="square" lIns="0" tIns="0" rIns="0" bIns="0" rtlCol="0" anchor="t">
            <a:noAutofit/>
          </a:bodyPr>
          <a:lstStyle/>
          <a:p>
            <a:r>
              <a:rPr lang="en-US" sz="1700">
                <a:solidFill>
                  <a:srgbClr val="2D7257"/>
                </a:solidFill>
                <a:latin typeface="Calibri" panose="020F0502020204030204" pitchFamily="34" charset="0"/>
              </a:rPr>
              <a:t>Purpose: Turn source statements into triplets while preserving conditions and certainty.</a:t>
            </a:r>
            <a:endParaRPr lang="en-IN" sz="1700">
              <a:solidFill>
                <a:srgbClr val="2D7257"/>
              </a:solidFill>
              <a:latin typeface="Calibri" panose="020F0502020204030204" pitchFamily="34" charset="0"/>
            </a:endParaRPr>
          </a:p>
        </p:txBody>
      </p:sp>
      <p:cxnSp>
        <p:nvCxnSpPr>
          <p:cNvPr id="5" name="s8-object4-line">
            <a:extLst>
              <a:ext uri="{FF2B5EF4-FFF2-40B4-BE49-F238E27FC236}">
                <a16:creationId xmlns:a16="http://schemas.microsoft.com/office/drawing/2014/main" id="{00752BB1-AE35-DC94-562A-DFA2D81E55F9}"/>
              </a:ext>
            </a:extLst>
          </p:cNvPr>
          <p:cNvCxnSpPr/>
          <p:nvPr/>
        </p:nvCxnSpPr>
        <p:spPr>
          <a:xfrm>
            <a:off x="609600" y="6477000"/>
            <a:ext cx="10972800" cy="0"/>
          </a:xfrm>
          <a:prstGeom prst="line">
            <a:avLst/>
          </a:prstGeom>
          <a:ln w="15240">
            <a:solidFill>
              <a:srgbClr val="D7E3DA"/>
            </a:solidFill>
          </a:ln>
        </p:spPr>
        <p:style>
          <a:lnRef idx="2">
            <a:schemeClr val="accent1"/>
          </a:lnRef>
          <a:fillRef idx="0">
            <a:schemeClr val="accent1"/>
          </a:fillRef>
          <a:effectRef idx="1">
            <a:schemeClr val="accent1"/>
          </a:effectRef>
          <a:fontRef idx="minor">
            <a:schemeClr val="tx1"/>
          </a:fontRef>
        </p:style>
      </p:cxnSp>
      <p:sp>
        <p:nvSpPr>
          <p:cNvPr id="6" name="s8-object5-text">
            <a:extLst>
              <a:ext uri="{FF2B5EF4-FFF2-40B4-BE49-F238E27FC236}">
                <a16:creationId xmlns:a16="http://schemas.microsoft.com/office/drawing/2014/main" id="{954DD4C9-82C8-EFC5-FF78-F543AA6DF202}"/>
              </a:ext>
            </a:extLst>
          </p:cNvPr>
          <p:cNvSpPr txBox="1"/>
          <p:nvPr/>
        </p:nvSpPr>
        <p:spPr>
          <a:xfrm>
            <a:off x="609600" y="6553200"/>
            <a:ext cx="8255000" cy="190500"/>
          </a:xfrm>
          <a:prstGeom prst="rect">
            <a:avLst/>
          </a:prstGeom>
          <a:noFill/>
        </p:spPr>
        <p:txBody>
          <a:bodyPr vert="horz" wrap="square" lIns="0" tIns="0" rIns="0" bIns="0" rtlCol="0" anchor="t">
            <a:noAutofit/>
          </a:bodyPr>
          <a:lstStyle/>
          <a:p>
            <a:r>
              <a:rPr lang="en-US" sz="900">
                <a:solidFill>
                  <a:srgbClr val="62756A"/>
                </a:solidFill>
                <a:latin typeface="Calibri" panose="020F0502020204030204" pitchFamily="34" charset="0"/>
              </a:rPr>
              <a:t>Reasoning with Food Knowledge Graphs</a:t>
            </a:r>
            <a:endParaRPr lang="en-IN" sz="900">
              <a:solidFill>
                <a:srgbClr val="62756A"/>
              </a:solidFill>
              <a:latin typeface="Calibri" panose="020F0502020204030204" pitchFamily="34" charset="0"/>
            </a:endParaRPr>
          </a:p>
        </p:txBody>
      </p:sp>
      <p:sp>
        <p:nvSpPr>
          <p:cNvPr id="7" name="s8-object6-text">
            <a:extLst>
              <a:ext uri="{FF2B5EF4-FFF2-40B4-BE49-F238E27FC236}">
                <a16:creationId xmlns:a16="http://schemas.microsoft.com/office/drawing/2014/main" id="{0FA7CC74-2028-B419-A7C5-3ED309539335}"/>
              </a:ext>
            </a:extLst>
          </p:cNvPr>
          <p:cNvSpPr txBox="1"/>
          <p:nvPr/>
        </p:nvSpPr>
        <p:spPr>
          <a:xfrm>
            <a:off x="11049000" y="6553200"/>
            <a:ext cx="533400" cy="190500"/>
          </a:xfrm>
          <a:prstGeom prst="rect">
            <a:avLst/>
          </a:prstGeom>
          <a:noFill/>
        </p:spPr>
        <p:txBody>
          <a:bodyPr vert="horz" wrap="square" lIns="0" tIns="0" rIns="0" bIns="0" rtlCol="0" anchor="t">
            <a:noAutofit/>
          </a:bodyPr>
          <a:lstStyle/>
          <a:p>
            <a:pPr algn="r"/>
            <a:r>
              <a:rPr lang="en-IN" sz="900">
                <a:solidFill>
                  <a:srgbClr val="62756A"/>
                </a:solidFill>
                <a:latin typeface="Calibri" panose="020F0502020204030204" pitchFamily="34" charset="0"/>
              </a:rPr>
              <a:t>8</a:t>
            </a:r>
          </a:p>
        </p:txBody>
      </p:sp>
      <p:sp>
        <p:nvSpPr>
          <p:cNvPr id="8" name="s8-object7-text">
            <a:extLst>
              <a:ext uri="{FF2B5EF4-FFF2-40B4-BE49-F238E27FC236}">
                <a16:creationId xmlns:a16="http://schemas.microsoft.com/office/drawing/2014/main" id="{2948B7B0-5747-BF70-9647-386FE79CB5E9}"/>
              </a:ext>
            </a:extLst>
          </p:cNvPr>
          <p:cNvSpPr txBox="1"/>
          <p:nvPr/>
        </p:nvSpPr>
        <p:spPr>
          <a:xfrm>
            <a:off x="609600" y="2133600"/>
            <a:ext cx="5334000" cy="279400"/>
          </a:xfrm>
          <a:prstGeom prst="rect">
            <a:avLst/>
          </a:prstGeom>
          <a:noFill/>
        </p:spPr>
        <p:txBody>
          <a:bodyPr vert="horz" wrap="square" lIns="0" tIns="0" rIns="0" bIns="0" rtlCol="0" anchor="t">
            <a:noAutofit/>
          </a:bodyPr>
          <a:lstStyle/>
          <a:p>
            <a:r>
              <a:rPr lang="en-IN" sz="1200" b="1">
                <a:solidFill>
                  <a:srgbClr val="2D7257"/>
                </a:solidFill>
                <a:latin typeface="Calibri" panose="020F0502020204030204" pitchFamily="34" charset="0"/>
              </a:rPr>
              <a:t>SOURCE PAPER</a:t>
            </a:r>
          </a:p>
        </p:txBody>
      </p:sp>
      <p:sp>
        <p:nvSpPr>
          <p:cNvPr id="9" name="s8-object8-rect">
            <a:extLst>
              <a:ext uri="{FF2B5EF4-FFF2-40B4-BE49-F238E27FC236}">
                <a16:creationId xmlns:a16="http://schemas.microsoft.com/office/drawing/2014/main" id="{F096415D-56A0-B6E8-E398-21C01D69C865}"/>
              </a:ext>
            </a:extLst>
          </p:cNvPr>
          <p:cNvSpPr/>
          <p:nvPr/>
        </p:nvSpPr>
        <p:spPr>
          <a:xfrm>
            <a:off x="609600" y="2565400"/>
            <a:ext cx="5435600" cy="2413000"/>
          </a:xfrm>
          <a:prstGeom prst="rect">
            <a:avLst/>
          </a:prstGeom>
          <a:solidFill>
            <a:srgbClr val="EDF4E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s8-object9-text">
            <a:extLst>
              <a:ext uri="{FF2B5EF4-FFF2-40B4-BE49-F238E27FC236}">
                <a16:creationId xmlns:a16="http://schemas.microsoft.com/office/drawing/2014/main" id="{A3E11B11-C8D6-3168-7044-6360EBE7F51A}"/>
              </a:ext>
            </a:extLst>
          </p:cNvPr>
          <p:cNvSpPr txBox="1"/>
          <p:nvPr/>
        </p:nvSpPr>
        <p:spPr>
          <a:xfrm>
            <a:off x="876300" y="2819400"/>
            <a:ext cx="4889500" cy="1968500"/>
          </a:xfrm>
          <a:prstGeom prst="rect">
            <a:avLst/>
          </a:prstGeom>
          <a:noFill/>
        </p:spPr>
        <p:txBody>
          <a:bodyPr vert="horz" wrap="square" lIns="0" tIns="0" rIns="0" bIns="0" rtlCol="0" anchor="t">
            <a:noAutofit/>
          </a:bodyPr>
          <a:lstStyle/>
          <a:p>
            <a:r>
              <a:rPr lang="en-US" sz="1900">
                <a:solidFill>
                  <a:srgbClr val="193F35"/>
                </a:solidFill>
                <a:latin typeface="Calibri" panose="020F0502020204030204" pitchFamily="34" charset="0"/>
              </a:rPr>
              <a:t>“FHB does cause important yield reductions, but the disease has become a primary concern because of the mycotoxins that may be produced in infected grains”</a:t>
            </a:r>
            <a:endParaRPr lang="en-IN" sz="1900">
              <a:solidFill>
                <a:srgbClr val="193F35"/>
              </a:solidFill>
              <a:latin typeface="Calibri" panose="020F0502020204030204" pitchFamily="34" charset="0"/>
            </a:endParaRPr>
          </a:p>
        </p:txBody>
      </p:sp>
      <p:sp>
        <p:nvSpPr>
          <p:cNvPr id="11" name="s8-object10-text">
            <a:extLst>
              <a:ext uri="{FF2B5EF4-FFF2-40B4-BE49-F238E27FC236}">
                <a16:creationId xmlns:a16="http://schemas.microsoft.com/office/drawing/2014/main" id="{4612A19D-4218-C514-1144-2CAF0EFD1E41}"/>
              </a:ext>
            </a:extLst>
          </p:cNvPr>
          <p:cNvSpPr txBox="1"/>
          <p:nvPr/>
        </p:nvSpPr>
        <p:spPr>
          <a:xfrm>
            <a:off x="635000" y="5207000"/>
            <a:ext cx="5397500" cy="698500"/>
          </a:xfrm>
          <a:prstGeom prst="rect">
            <a:avLst/>
          </a:prstGeom>
          <a:noFill/>
        </p:spPr>
        <p:txBody>
          <a:bodyPr vert="horz" wrap="square" lIns="0" tIns="0" rIns="0" bIns="0" rtlCol="0" anchor="t">
            <a:noAutofit/>
          </a:bodyPr>
          <a:lstStyle/>
          <a:p>
            <a:r>
              <a:rPr lang="en-US" sz="1300">
                <a:solidFill>
                  <a:srgbClr val="62756A"/>
                </a:solidFill>
                <a:latin typeface="Calibri" panose="020F0502020204030204" pitchFamily="34" charset="0"/>
              </a:rPr>
              <a:t>Crop health and its global impacts on the
components of food security, PDF page 6</a:t>
            </a:r>
            <a:endParaRPr lang="en-IN" sz="1300">
              <a:solidFill>
                <a:srgbClr val="62756A"/>
              </a:solidFill>
              <a:latin typeface="Calibri" panose="020F0502020204030204" pitchFamily="34" charset="0"/>
            </a:endParaRPr>
          </a:p>
        </p:txBody>
      </p:sp>
      <p:cxnSp>
        <p:nvCxnSpPr>
          <p:cNvPr id="12" name="s8-object11-line">
            <a:extLst>
              <a:ext uri="{FF2B5EF4-FFF2-40B4-BE49-F238E27FC236}">
                <a16:creationId xmlns:a16="http://schemas.microsoft.com/office/drawing/2014/main" id="{4FDE2C68-9B08-D177-4B8E-87995BA11D88}"/>
              </a:ext>
            </a:extLst>
          </p:cNvPr>
          <p:cNvCxnSpPr/>
          <p:nvPr/>
        </p:nvCxnSpPr>
        <p:spPr>
          <a:xfrm>
            <a:off x="6146800" y="3695700"/>
            <a:ext cx="457200" cy="0"/>
          </a:xfrm>
          <a:prstGeom prst="line">
            <a:avLst/>
          </a:prstGeom>
          <a:ln w="21590">
            <a:solidFill>
              <a:srgbClr val="2D7257"/>
            </a:solidFill>
            <a:tailEnd type="arrow"/>
          </a:ln>
        </p:spPr>
        <p:style>
          <a:lnRef idx="2">
            <a:schemeClr val="accent1"/>
          </a:lnRef>
          <a:fillRef idx="0">
            <a:schemeClr val="accent1"/>
          </a:fillRef>
          <a:effectRef idx="1">
            <a:schemeClr val="accent1"/>
          </a:effectRef>
          <a:fontRef idx="minor">
            <a:schemeClr val="tx1"/>
          </a:fontRef>
        </p:style>
      </p:cxnSp>
      <p:sp>
        <p:nvSpPr>
          <p:cNvPr id="13" name="s8-object12-text">
            <a:extLst>
              <a:ext uri="{FF2B5EF4-FFF2-40B4-BE49-F238E27FC236}">
                <a16:creationId xmlns:a16="http://schemas.microsoft.com/office/drawing/2014/main" id="{104153AE-BD57-3C75-4FE7-7BC734DB07B7}"/>
              </a:ext>
            </a:extLst>
          </p:cNvPr>
          <p:cNvSpPr txBox="1"/>
          <p:nvPr/>
        </p:nvSpPr>
        <p:spPr>
          <a:xfrm>
            <a:off x="6959600" y="2273300"/>
            <a:ext cx="4495800" cy="254000"/>
          </a:xfrm>
          <a:prstGeom prst="rect">
            <a:avLst/>
          </a:prstGeom>
          <a:noFill/>
        </p:spPr>
        <p:txBody>
          <a:bodyPr vert="horz" wrap="square" lIns="0" tIns="0" rIns="0" bIns="0" rtlCol="0" anchor="t">
            <a:noAutofit/>
          </a:bodyPr>
          <a:lstStyle/>
          <a:p>
            <a:r>
              <a:rPr lang="en-IN" sz="1200" b="1">
                <a:solidFill>
                  <a:srgbClr val="62756A"/>
                </a:solidFill>
                <a:latin typeface="Calibri" panose="020F0502020204030204" pitchFamily="34" charset="0"/>
              </a:rPr>
              <a:t>SUBJECT</a:t>
            </a:r>
          </a:p>
        </p:txBody>
      </p:sp>
      <p:sp>
        <p:nvSpPr>
          <p:cNvPr id="14" name="s8-object13-text">
            <a:extLst>
              <a:ext uri="{FF2B5EF4-FFF2-40B4-BE49-F238E27FC236}">
                <a16:creationId xmlns:a16="http://schemas.microsoft.com/office/drawing/2014/main" id="{55CA249F-DCAB-36BC-37D9-4A8A5FF4AD8D}"/>
              </a:ext>
            </a:extLst>
          </p:cNvPr>
          <p:cNvSpPr txBox="1"/>
          <p:nvPr/>
        </p:nvSpPr>
        <p:spPr>
          <a:xfrm>
            <a:off x="6959600" y="2578100"/>
            <a:ext cx="4495800" cy="762000"/>
          </a:xfrm>
          <a:prstGeom prst="rect">
            <a:avLst/>
          </a:prstGeom>
          <a:noFill/>
        </p:spPr>
        <p:txBody>
          <a:bodyPr vert="horz" wrap="square" lIns="0" tIns="0" rIns="0" bIns="0" rtlCol="0" anchor="t">
            <a:noAutofit/>
          </a:bodyPr>
          <a:lstStyle/>
          <a:p>
            <a:r>
              <a:rPr lang="en-IN" sz="1900">
                <a:solidFill>
                  <a:srgbClr val="193F35"/>
                </a:solidFill>
                <a:latin typeface="Calibri" panose="020F0502020204030204" pitchFamily="34" charset="0"/>
              </a:rPr>
              <a:t>Infected wheat grains</a:t>
            </a:r>
          </a:p>
        </p:txBody>
      </p:sp>
      <p:sp>
        <p:nvSpPr>
          <p:cNvPr id="15" name="s8-object14-text">
            <a:extLst>
              <a:ext uri="{FF2B5EF4-FFF2-40B4-BE49-F238E27FC236}">
                <a16:creationId xmlns:a16="http://schemas.microsoft.com/office/drawing/2014/main" id="{27E1B5AC-6A4D-6066-6C01-B5A725A9EEAA}"/>
              </a:ext>
            </a:extLst>
          </p:cNvPr>
          <p:cNvSpPr txBox="1"/>
          <p:nvPr/>
        </p:nvSpPr>
        <p:spPr>
          <a:xfrm>
            <a:off x="6959600" y="3454400"/>
            <a:ext cx="4495800" cy="254000"/>
          </a:xfrm>
          <a:prstGeom prst="rect">
            <a:avLst/>
          </a:prstGeom>
          <a:noFill/>
        </p:spPr>
        <p:txBody>
          <a:bodyPr vert="horz" wrap="square" lIns="0" tIns="0" rIns="0" bIns="0" rtlCol="0" anchor="t">
            <a:noAutofit/>
          </a:bodyPr>
          <a:lstStyle/>
          <a:p>
            <a:r>
              <a:rPr lang="en-IN" sz="1200" b="1">
                <a:solidFill>
                  <a:srgbClr val="62756A"/>
                </a:solidFill>
                <a:latin typeface="Calibri" panose="020F0502020204030204" pitchFamily="34" charset="0"/>
              </a:rPr>
              <a:t>RELATION / OBJECT</a:t>
            </a:r>
          </a:p>
        </p:txBody>
      </p:sp>
      <p:sp>
        <p:nvSpPr>
          <p:cNvPr id="16" name="s8-object15-text">
            <a:extLst>
              <a:ext uri="{FF2B5EF4-FFF2-40B4-BE49-F238E27FC236}">
                <a16:creationId xmlns:a16="http://schemas.microsoft.com/office/drawing/2014/main" id="{F96FEC8B-6A36-EA33-2357-320A7E6BF609}"/>
              </a:ext>
            </a:extLst>
          </p:cNvPr>
          <p:cNvSpPr txBox="1"/>
          <p:nvPr/>
        </p:nvSpPr>
        <p:spPr>
          <a:xfrm>
            <a:off x="6959600" y="3759200"/>
            <a:ext cx="4495800" cy="762000"/>
          </a:xfrm>
          <a:prstGeom prst="rect">
            <a:avLst/>
          </a:prstGeom>
          <a:noFill/>
        </p:spPr>
        <p:txBody>
          <a:bodyPr vert="horz" wrap="square" lIns="0" tIns="0" rIns="0" bIns="0" rtlCol="0" anchor="t">
            <a:noAutofit/>
          </a:bodyPr>
          <a:lstStyle/>
          <a:p>
            <a:r>
              <a:rPr lang="en-IN" sz="1900">
                <a:solidFill>
                  <a:srgbClr val="193F35"/>
                </a:solidFill>
                <a:latin typeface="Calibri" panose="020F0502020204030204" pitchFamily="34" charset="0"/>
              </a:rPr>
              <a:t>May contain / mycotoxins</a:t>
            </a:r>
          </a:p>
        </p:txBody>
      </p:sp>
      <p:sp>
        <p:nvSpPr>
          <p:cNvPr id="17" name="s8-object16-text">
            <a:extLst>
              <a:ext uri="{FF2B5EF4-FFF2-40B4-BE49-F238E27FC236}">
                <a16:creationId xmlns:a16="http://schemas.microsoft.com/office/drawing/2014/main" id="{7C940E96-1839-6453-3BFF-D07BA4C68B27}"/>
              </a:ext>
            </a:extLst>
          </p:cNvPr>
          <p:cNvSpPr txBox="1"/>
          <p:nvPr/>
        </p:nvSpPr>
        <p:spPr>
          <a:xfrm>
            <a:off x="6959600" y="4635500"/>
            <a:ext cx="4495800" cy="254000"/>
          </a:xfrm>
          <a:prstGeom prst="rect">
            <a:avLst/>
          </a:prstGeom>
          <a:noFill/>
        </p:spPr>
        <p:txBody>
          <a:bodyPr vert="horz" wrap="square" lIns="0" tIns="0" rIns="0" bIns="0" rtlCol="0" anchor="t">
            <a:noAutofit/>
          </a:bodyPr>
          <a:lstStyle/>
          <a:p>
            <a:r>
              <a:rPr lang="en-IN" sz="1200" b="1">
                <a:solidFill>
                  <a:srgbClr val="62756A"/>
                </a:solidFill>
                <a:latin typeface="Calibri" panose="020F0502020204030204" pitchFamily="34" charset="0"/>
              </a:rPr>
              <a:t>RETAINED CONDITION</a:t>
            </a:r>
          </a:p>
        </p:txBody>
      </p:sp>
      <p:sp>
        <p:nvSpPr>
          <p:cNvPr id="18" name="s8-object17-text">
            <a:extLst>
              <a:ext uri="{FF2B5EF4-FFF2-40B4-BE49-F238E27FC236}">
                <a16:creationId xmlns:a16="http://schemas.microsoft.com/office/drawing/2014/main" id="{D75123AF-7937-9205-5725-2D18D46561B9}"/>
              </a:ext>
            </a:extLst>
          </p:cNvPr>
          <p:cNvSpPr txBox="1"/>
          <p:nvPr/>
        </p:nvSpPr>
        <p:spPr>
          <a:xfrm>
            <a:off x="6959600" y="4940300"/>
            <a:ext cx="4495800" cy="762000"/>
          </a:xfrm>
          <a:prstGeom prst="rect">
            <a:avLst/>
          </a:prstGeom>
          <a:noFill/>
        </p:spPr>
        <p:txBody>
          <a:bodyPr vert="horz" wrap="square" lIns="0" tIns="0" rIns="0" bIns="0" rtlCol="0" anchor="t">
            <a:noAutofit/>
          </a:bodyPr>
          <a:lstStyle/>
          <a:p>
            <a:r>
              <a:rPr lang="en-IN" sz="1900">
                <a:solidFill>
                  <a:srgbClr val="193F35"/>
                </a:solidFill>
                <a:latin typeface="Calibri" panose="020F0502020204030204" pitchFamily="34" charset="0"/>
              </a:rPr>
              <a:t>Fusarium head blight infection</a:t>
            </a:r>
          </a:p>
        </p:txBody>
      </p:sp>
      <p:sp>
        <p:nvSpPr>
          <p:cNvPr id="19" name="s8-object18-text">
            <a:extLst>
              <a:ext uri="{FF2B5EF4-FFF2-40B4-BE49-F238E27FC236}">
                <a16:creationId xmlns:a16="http://schemas.microsoft.com/office/drawing/2014/main" id="{E0A1B88F-EF6F-8E50-0059-9DADBBF6DAD7}"/>
              </a:ext>
            </a:extLst>
          </p:cNvPr>
          <p:cNvSpPr txBox="1"/>
          <p:nvPr/>
        </p:nvSpPr>
        <p:spPr>
          <a:xfrm>
            <a:off x="6959600" y="5956300"/>
            <a:ext cx="4495800" cy="431800"/>
          </a:xfrm>
          <a:prstGeom prst="rect">
            <a:avLst/>
          </a:prstGeom>
          <a:noFill/>
        </p:spPr>
        <p:txBody>
          <a:bodyPr vert="horz" wrap="square" lIns="0" tIns="0" rIns="0" bIns="0" rtlCol="0" anchor="t">
            <a:noAutofit/>
          </a:bodyPr>
          <a:lstStyle/>
          <a:p>
            <a:r>
              <a:rPr lang="en-US" sz="1500">
                <a:solidFill>
                  <a:srgbClr val="2D7257"/>
                </a:solidFill>
                <a:latin typeface="Calibri" panose="020F0502020204030204" pitchFamily="34" charset="0"/>
              </a:rPr>
              <a:t>Output: a claim and exact sentence references.</a:t>
            </a:r>
            <a:endParaRPr lang="en-IN" sz="1500">
              <a:solidFill>
                <a:srgbClr val="2D7257"/>
              </a:solidFill>
              <a:latin typeface="Calibri" panose="020F0502020204030204" pitchFamily="34" charset="0"/>
            </a:endParaRPr>
          </a:p>
        </p:txBody>
      </p:sp>
    </p:spTree>
    <p:extLst>
      <p:ext uri="{BB962C8B-B14F-4D97-AF65-F5344CB8AC3E}">
        <p14:creationId xmlns:p14="http://schemas.microsoft.com/office/powerpoint/2010/main" val="3516373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DFB"/>
        </a:solidFill>
        <a:effectLst/>
      </p:bgPr>
    </p:bg>
    <p:spTree>
      <p:nvGrpSpPr>
        <p:cNvPr id="1" name=""/>
        <p:cNvGrpSpPr/>
        <p:nvPr/>
      </p:nvGrpSpPr>
      <p:grpSpPr>
        <a:xfrm>
          <a:off x="0" y="0"/>
          <a:ext cx="0" cy="0"/>
          <a:chOff x="0" y="0"/>
          <a:chExt cx="0" cy="0"/>
        </a:xfrm>
      </p:grpSpPr>
      <p:sp>
        <p:nvSpPr>
          <p:cNvPr id="2" name="s9-object1-text">
            <a:extLst>
              <a:ext uri="{FF2B5EF4-FFF2-40B4-BE49-F238E27FC236}">
                <a16:creationId xmlns:a16="http://schemas.microsoft.com/office/drawing/2014/main" id="{C4034262-0294-956A-5571-FEA44E5A8FF8}"/>
              </a:ext>
            </a:extLst>
          </p:cNvPr>
          <p:cNvSpPr txBox="1"/>
          <p:nvPr/>
        </p:nvSpPr>
        <p:spPr>
          <a:xfrm>
            <a:off x="609600" y="304800"/>
            <a:ext cx="10972800" cy="228600"/>
          </a:xfrm>
          <a:prstGeom prst="rect">
            <a:avLst/>
          </a:prstGeom>
          <a:noFill/>
        </p:spPr>
        <p:txBody>
          <a:bodyPr vert="horz" wrap="square" lIns="0" tIns="0" rIns="0" bIns="0" rtlCol="0" anchor="t">
            <a:noAutofit/>
          </a:bodyPr>
          <a:lstStyle/>
          <a:p>
            <a:r>
              <a:rPr lang="en-US" sz="1000" b="1">
                <a:solidFill>
                  <a:srgbClr val="2D7257"/>
                </a:solidFill>
                <a:latin typeface="Calibri" panose="020F0502020204030204" pitchFamily="34" charset="0"/>
              </a:rPr>
              <a:t>STAGE 3  /  SOURCE VALIDATION · DEEPSEEK FLASH</a:t>
            </a:r>
            <a:endParaRPr lang="en-IN" sz="1000" b="1">
              <a:solidFill>
                <a:srgbClr val="2D7257"/>
              </a:solidFill>
              <a:latin typeface="Calibri" panose="020F0502020204030204" pitchFamily="34" charset="0"/>
            </a:endParaRPr>
          </a:p>
        </p:txBody>
      </p:sp>
      <p:sp>
        <p:nvSpPr>
          <p:cNvPr id="3" name="s9-object2-text">
            <a:extLst>
              <a:ext uri="{FF2B5EF4-FFF2-40B4-BE49-F238E27FC236}">
                <a16:creationId xmlns:a16="http://schemas.microsoft.com/office/drawing/2014/main" id="{8E52551E-4BBA-E0DD-DC69-F4FEF44E14F0}"/>
              </a:ext>
            </a:extLst>
          </p:cNvPr>
          <p:cNvSpPr txBox="1"/>
          <p:nvPr/>
        </p:nvSpPr>
        <p:spPr>
          <a:xfrm>
            <a:off x="609600" y="647700"/>
            <a:ext cx="10972800" cy="622300"/>
          </a:xfrm>
          <a:prstGeom prst="rect">
            <a:avLst/>
          </a:prstGeom>
          <a:noFill/>
        </p:spPr>
        <p:txBody>
          <a:bodyPr vert="horz" wrap="square" lIns="0" tIns="0" rIns="0" bIns="0" rtlCol="0" anchor="t">
            <a:noAutofit/>
          </a:bodyPr>
          <a:lstStyle/>
          <a:p>
            <a:r>
              <a:rPr lang="en-US" sz="3000" b="1">
                <a:solidFill>
                  <a:srgbClr val="193F35"/>
                </a:solidFill>
                <a:latin typeface="Calibri" panose="020F0502020204030204" pitchFamily="34" charset="0"/>
              </a:rPr>
              <a:t>Validation against the original PDF</a:t>
            </a:r>
            <a:endParaRPr lang="en-IN" sz="3000" b="1">
              <a:solidFill>
                <a:srgbClr val="193F35"/>
              </a:solidFill>
              <a:latin typeface="Calibri" panose="020F0502020204030204" pitchFamily="34" charset="0"/>
            </a:endParaRPr>
          </a:p>
        </p:txBody>
      </p:sp>
      <p:sp>
        <p:nvSpPr>
          <p:cNvPr id="4" name="s9-object3-text">
            <a:extLst>
              <a:ext uri="{FF2B5EF4-FFF2-40B4-BE49-F238E27FC236}">
                <a16:creationId xmlns:a16="http://schemas.microsoft.com/office/drawing/2014/main" id="{025A56AE-7BD4-69F8-581A-0221A2F9A42C}"/>
              </a:ext>
            </a:extLst>
          </p:cNvPr>
          <p:cNvSpPr txBox="1"/>
          <p:nvPr/>
        </p:nvSpPr>
        <p:spPr>
          <a:xfrm>
            <a:off x="609600" y="1346200"/>
            <a:ext cx="10972800" cy="609600"/>
          </a:xfrm>
          <a:prstGeom prst="rect">
            <a:avLst/>
          </a:prstGeom>
          <a:noFill/>
        </p:spPr>
        <p:txBody>
          <a:bodyPr vert="horz" wrap="square" lIns="0" tIns="0" rIns="0" bIns="0" rtlCol="0" anchor="t">
            <a:noAutofit/>
          </a:bodyPr>
          <a:lstStyle/>
          <a:p>
            <a:r>
              <a:rPr lang="en-US" sz="1700">
                <a:solidFill>
                  <a:srgbClr val="2D7257"/>
                </a:solidFill>
                <a:latin typeface="Calibri" panose="020F0502020204030204" pitchFamily="34" charset="0"/>
              </a:rPr>
              <a:t>Purpose: Check that the source supports the claim as worded before assembling pathways.</a:t>
            </a:r>
            <a:endParaRPr lang="en-IN" sz="1700">
              <a:solidFill>
                <a:srgbClr val="2D7257"/>
              </a:solidFill>
              <a:latin typeface="Calibri" panose="020F0502020204030204" pitchFamily="34" charset="0"/>
            </a:endParaRPr>
          </a:p>
        </p:txBody>
      </p:sp>
      <p:cxnSp>
        <p:nvCxnSpPr>
          <p:cNvPr id="5" name="s9-object4-line">
            <a:extLst>
              <a:ext uri="{FF2B5EF4-FFF2-40B4-BE49-F238E27FC236}">
                <a16:creationId xmlns:a16="http://schemas.microsoft.com/office/drawing/2014/main" id="{06867FAC-8227-9E15-9F28-A4E1039B1743}"/>
              </a:ext>
            </a:extLst>
          </p:cNvPr>
          <p:cNvCxnSpPr/>
          <p:nvPr/>
        </p:nvCxnSpPr>
        <p:spPr>
          <a:xfrm>
            <a:off x="609600" y="6477000"/>
            <a:ext cx="10972800" cy="0"/>
          </a:xfrm>
          <a:prstGeom prst="line">
            <a:avLst/>
          </a:prstGeom>
          <a:ln w="16510">
            <a:solidFill>
              <a:srgbClr val="D7E3DA"/>
            </a:solidFill>
          </a:ln>
        </p:spPr>
        <p:style>
          <a:lnRef idx="2">
            <a:schemeClr val="accent1"/>
          </a:lnRef>
          <a:fillRef idx="0">
            <a:schemeClr val="accent1"/>
          </a:fillRef>
          <a:effectRef idx="1">
            <a:schemeClr val="accent1"/>
          </a:effectRef>
          <a:fontRef idx="minor">
            <a:schemeClr val="tx1"/>
          </a:fontRef>
        </p:style>
      </p:cxnSp>
      <p:sp>
        <p:nvSpPr>
          <p:cNvPr id="6" name="s9-object5-text">
            <a:extLst>
              <a:ext uri="{FF2B5EF4-FFF2-40B4-BE49-F238E27FC236}">
                <a16:creationId xmlns:a16="http://schemas.microsoft.com/office/drawing/2014/main" id="{AC2E203E-FA07-8E96-E37B-9B042463791A}"/>
              </a:ext>
            </a:extLst>
          </p:cNvPr>
          <p:cNvSpPr txBox="1"/>
          <p:nvPr/>
        </p:nvSpPr>
        <p:spPr>
          <a:xfrm>
            <a:off x="609600" y="6553200"/>
            <a:ext cx="8255000" cy="190500"/>
          </a:xfrm>
          <a:prstGeom prst="rect">
            <a:avLst/>
          </a:prstGeom>
          <a:noFill/>
        </p:spPr>
        <p:txBody>
          <a:bodyPr vert="horz" wrap="square" lIns="0" tIns="0" rIns="0" bIns="0" rtlCol="0" anchor="t">
            <a:noAutofit/>
          </a:bodyPr>
          <a:lstStyle/>
          <a:p>
            <a:r>
              <a:rPr lang="en-US" sz="900">
                <a:solidFill>
                  <a:srgbClr val="62756A"/>
                </a:solidFill>
                <a:latin typeface="Calibri" panose="020F0502020204030204" pitchFamily="34" charset="0"/>
              </a:rPr>
              <a:t>Reasoning with Food Knowledge Graphs</a:t>
            </a:r>
            <a:endParaRPr lang="en-IN" sz="900">
              <a:solidFill>
                <a:srgbClr val="62756A"/>
              </a:solidFill>
              <a:latin typeface="Calibri" panose="020F0502020204030204" pitchFamily="34" charset="0"/>
            </a:endParaRPr>
          </a:p>
        </p:txBody>
      </p:sp>
      <p:sp>
        <p:nvSpPr>
          <p:cNvPr id="7" name="s9-object6-text">
            <a:extLst>
              <a:ext uri="{FF2B5EF4-FFF2-40B4-BE49-F238E27FC236}">
                <a16:creationId xmlns:a16="http://schemas.microsoft.com/office/drawing/2014/main" id="{A0A452EB-21AE-55A5-8610-7B118EA45EEC}"/>
              </a:ext>
            </a:extLst>
          </p:cNvPr>
          <p:cNvSpPr txBox="1"/>
          <p:nvPr/>
        </p:nvSpPr>
        <p:spPr>
          <a:xfrm>
            <a:off x="11049000" y="6553200"/>
            <a:ext cx="533400" cy="190500"/>
          </a:xfrm>
          <a:prstGeom prst="rect">
            <a:avLst/>
          </a:prstGeom>
          <a:noFill/>
        </p:spPr>
        <p:txBody>
          <a:bodyPr vert="horz" wrap="square" lIns="0" tIns="0" rIns="0" bIns="0" rtlCol="0" anchor="t">
            <a:noAutofit/>
          </a:bodyPr>
          <a:lstStyle/>
          <a:p>
            <a:pPr algn="r"/>
            <a:r>
              <a:rPr lang="en-IN" sz="900">
                <a:solidFill>
                  <a:srgbClr val="62756A"/>
                </a:solidFill>
                <a:latin typeface="Calibri" panose="020F0502020204030204" pitchFamily="34" charset="0"/>
              </a:rPr>
              <a:t>9</a:t>
            </a:r>
          </a:p>
        </p:txBody>
      </p:sp>
      <p:sp>
        <p:nvSpPr>
          <p:cNvPr id="8" name="s9-object7-text">
            <a:extLst>
              <a:ext uri="{FF2B5EF4-FFF2-40B4-BE49-F238E27FC236}">
                <a16:creationId xmlns:a16="http://schemas.microsoft.com/office/drawing/2014/main" id="{7AA29985-0A17-A0BC-FD8E-8EE1BC05C478}"/>
              </a:ext>
            </a:extLst>
          </p:cNvPr>
          <p:cNvSpPr txBox="1"/>
          <p:nvPr/>
        </p:nvSpPr>
        <p:spPr>
          <a:xfrm>
            <a:off x="609600" y="2260600"/>
            <a:ext cx="4889500" cy="254000"/>
          </a:xfrm>
          <a:prstGeom prst="rect">
            <a:avLst/>
          </a:prstGeom>
          <a:noFill/>
        </p:spPr>
        <p:txBody>
          <a:bodyPr vert="horz" wrap="square" lIns="0" tIns="0" rIns="0" bIns="0" rtlCol="0" anchor="t">
            <a:noAutofit/>
          </a:bodyPr>
          <a:lstStyle/>
          <a:p>
            <a:r>
              <a:rPr lang="en-IN" sz="1200" b="1">
                <a:solidFill>
                  <a:srgbClr val="2D7257"/>
                </a:solidFill>
                <a:latin typeface="Calibri" panose="020F0502020204030204" pitchFamily="34" charset="0"/>
              </a:rPr>
              <a:t>WHAT HAPPENS</a:t>
            </a:r>
          </a:p>
        </p:txBody>
      </p:sp>
      <p:sp>
        <p:nvSpPr>
          <p:cNvPr id="9" name="s9-object8-text">
            <a:extLst>
              <a:ext uri="{FF2B5EF4-FFF2-40B4-BE49-F238E27FC236}">
                <a16:creationId xmlns:a16="http://schemas.microsoft.com/office/drawing/2014/main" id="{74053ECC-176D-ED11-3BE4-394963B64332}"/>
              </a:ext>
            </a:extLst>
          </p:cNvPr>
          <p:cNvSpPr txBox="1"/>
          <p:nvPr/>
        </p:nvSpPr>
        <p:spPr>
          <a:xfrm>
            <a:off x="609600" y="2628900"/>
            <a:ext cx="4889500" cy="1092200"/>
          </a:xfrm>
          <a:prstGeom prst="rect">
            <a:avLst/>
          </a:prstGeom>
          <a:noFill/>
        </p:spPr>
        <p:txBody>
          <a:bodyPr vert="horz" wrap="square" lIns="0" tIns="0" rIns="0" bIns="0" rtlCol="0" anchor="t">
            <a:noAutofit/>
          </a:bodyPr>
          <a:lstStyle/>
          <a:p>
            <a:r>
              <a:rPr lang="en-US">
                <a:solidFill>
                  <a:srgbClr val="193F35"/>
                </a:solidFill>
                <a:latin typeface="Calibri" panose="020F0502020204030204" pitchFamily="34" charset="0"/>
              </a:rPr>
              <a:t>Compare the entities, relation direction, conditions and certainty with the original passage.</a:t>
            </a:r>
            <a:endParaRPr lang="en-IN">
              <a:solidFill>
                <a:srgbClr val="193F35"/>
              </a:solidFill>
              <a:latin typeface="Calibri" panose="020F0502020204030204" pitchFamily="34" charset="0"/>
            </a:endParaRPr>
          </a:p>
        </p:txBody>
      </p:sp>
      <p:sp>
        <p:nvSpPr>
          <p:cNvPr id="10" name="s9-object9-text">
            <a:extLst>
              <a:ext uri="{FF2B5EF4-FFF2-40B4-BE49-F238E27FC236}">
                <a16:creationId xmlns:a16="http://schemas.microsoft.com/office/drawing/2014/main" id="{B3C92514-DA78-72D0-18EB-176C0FC65EA3}"/>
              </a:ext>
            </a:extLst>
          </p:cNvPr>
          <p:cNvSpPr txBox="1"/>
          <p:nvPr/>
        </p:nvSpPr>
        <p:spPr>
          <a:xfrm>
            <a:off x="609600" y="3924300"/>
            <a:ext cx="4889500" cy="1079500"/>
          </a:xfrm>
          <a:prstGeom prst="rect">
            <a:avLst/>
          </a:prstGeom>
          <a:noFill/>
        </p:spPr>
        <p:txBody>
          <a:bodyPr vert="horz" wrap="square" lIns="0" tIns="0" rIns="0" bIns="0" rtlCol="0" anchor="t">
            <a:noAutofit/>
          </a:bodyPr>
          <a:lstStyle/>
          <a:p>
            <a:r>
              <a:rPr lang="en-US">
                <a:solidFill>
                  <a:srgbClr val="193F35"/>
                </a:solidFill>
                <a:latin typeface="Calibri" panose="020F0502020204030204" pitchFamily="34" charset="0"/>
              </a:rPr>
              <a:t>Keep a source mismatch separate from whether other research supports the scientific relationship.</a:t>
            </a:r>
            <a:endParaRPr lang="en-IN">
              <a:solidFill>
                <a:srgbClr val="193F35"/>
              </a:solidFill>
              <a:latin typeface="Calibri" panose="020F0502020204030204" pitchFamily="34" charset="0"/>
            </a:endParaRPr>
          </a:p>
        </p:txBody>
      </p:sp>
      <p:sp>
        <p:nvSpPr>
          <p:cNvPr id="11" name="s9-object10-text">
            <a:extLst>
              <a:ext uri="{FF2B5EF4-FFF2-40B4-BE49-F238E27FC236}">
                <a16:creationId xmlns:a16="http://schemas.microsoft.com/office/drawing/2014/main" id="{06496E25-849D-23FF-E17E-2AE94912C56C}"/>
              </a:ext>
            </a:extLst>
          </p:cNvPr>
          <p:cNvSpPr txBox="1"/>
          <p:nvPr/>
        </p:nvSpPr>
        <p:spPr>
          <a:xfrm>
            <a:off x="609600" y="5194300"/>
            <a:ext cx="4889500" cy="254000"/>
          </a:xfrm>
          <a:prstGeom prst="rect">
            <a:avLst/>
          </a:prstGeom>
          <a:noFill/>
        </p:spPr>
        <p:txBody>
          <a:bodyPr vert="horz" wrap="square" lIns="0" tIns="0" rIns="0" bIns="0" rtlCol="0" anchor="t">
            <a:noAutofit/>
          </a:bodyPr>
          <a:lstStyle/>
          <a:p>
            <a:r>
              <a:rPr lang="en-IN" sz="1200" b="1">
                <a:solidFill>
                  <a:srgbClr val="2D7257"/>
                </a:solidFill>
                <a:latin typeface="Calibri" panose="020F0502020204030204" pitchFamily="34" charset="0"/>
              </a:rPr>
              <a:t>OUTPUT</a:t>
            </a:r>
          </a:p>
        </p:txBody>
      </p:sp>
      <p:sp>
        <p:nvSpPr>
          <p:cNvPr id="12" name="s9-object11-text">
            <a:extLst>
              <a:ext uri="{FF2B5EF4-FFF2-40B4-BE49-F238E27FC236}">
                <a16:creationId xmlns:a16="http://schemas.microsoft.com/office/drawing/2014/main" id="{5F262B34-B0ED-102E-4464-51D7D138E189}"/>
              </a:ext>
            </a:extLst>
          </p:cNvPr>
          <p:cNvSpPr txBox="1"/>
          <p:nvPr/>
        </p:nvSpPr>
        <p:spPr>
          <a:xfrm>
            <a:off x="609600" y="5549900"/>
            <a:ext cx="4889500" cy="787400"/>
          </a:xfrm>
          <a:prstGeom prst="rect">
            <a:avLst/>
          </a:prstGeom>
          <a:noFill/>
        </p:spPr>
        <p:txBody>
          <a:bodyPr vert="horz" wrap="square" lIns="0" tIns="0" rIns="0" bIns="0" rtlCol="0" anchor="t">
            <a:noAutofit/>
          </a:bodyPr>
          <a:lstStyle/>
          <a:p>
            <a:r>
              <a:rPr lang="en-US" sz="1700">
                <a:solidFill>
                  <a:srgbClr val="62756A"/>
                </a:solidFill>
                <a:latin typeface="Calibri" panose="020F0502020204030204" pitchFamily="34" charset="0"/>
              </a:rPr>
              <a:t>Source-entailed, unsupported or needs review, with a reason.</a:t>
            </a:r>
            <a:endParaRPr lang="en-IN" sz="1700">
              <a:solidFill>
                <a:srgbClr val="62756A"/>
              </a:solidFill>
              <a:latin typeface="Calibri" panose="020F0502020204030204" pitchFamily="34" charset="0"/>
            </a:endParaRPr>
          </a:p>
        </p:txBody>
      </p:sp>
      <p:sp>
        <p:nvSpPr>
          <p:cNvPr id="13" name="s9-object12-text">
            <a:extLst>
              <a:ext uri="{FF2B5EF4-FFF2-40B4-BE49-F238E27FC236}">
                <a16:creationId xmlns:a16="http://schemas.microsoft.com/office/drawing/2014/main" id="{5FB6844C-952A-DD1D-B855-41F3ACC7A1A0}"/>
              </a:ext>
            </a:extLst>
          </p:cNvPr>
          <p:cNvSpPr txBox="1"/>
          <p:nvPr/>
        </p:nvSpPr>
        <p:spPr>
          <a:xfrm>
            <a:off x="6146800" y="2260600"/>
            <a:ext cx="5435600" cy="254000"/>
          </a:xfrm>
          <a:prstGeom prst="rect">
            <a:avLst/>
          </a:prstGeom>
          <a:noFill/>
        </p:spPr>
        <p:txBody>
          <a:bodyPr vert="horz" wrap="square" lIns="0" tIns="0" rIns="0" bIns="0" rtlCol="0" anchor="t">
            <a:noAutofit/>
          </a:bodyPr>
          <a:lstStyle/>
          <a:p>
            <a:r>
              <a:rPr lang="en-IN" sz="1200" b="1">
                <a:solidFill>
                  <a:srgbClr val="2D7257"/>
                </a:solidFill>
                <a:latin typeface="Calibri" panose="020F0502020204030204" pitchFamily="34" charset="0"/>
              </a:rPr>
              <a:t>EXAMPLE: PRESERVING UNCERTAINTY</a:t>
            </a:r>
          </a:p>
        </p:txBody>
      </p:sp>
      <p:sp>
        <p:nvSpPr>
          <p:cNvPr id="14" name="s9-object13-text">
            <a:extLst>
              <a:ext uri="{FF2B5EF4-FFF2-40B4-BE49-F238E27FC236}">
                <a16:creationId xmlns:a16="http://schemas.microsoft.com/office/drawing/2014/main" id="{D01E6587-D0D1-D909-3DD6-88C2A456BB05}"/>
              </a:ext>
            </a:extLst>
          </p:cNvPr>
          <p:cNvSpPr txBox="1"/>
          <p:nvPr/>
        </p:nvSpPr>
        <p:spPr>
          <a:xfrm>
            <a:off x="6146800" y="2781300"/>
            <a:ext cx="5435600" cy="508000"/>
          </a:xfrm>
          <a:prstGeom prst="rect">
            <a:avLst/>
          </a:prstGeom>
          <a:noFill/>
        </p:spPr>
        <p:txBody>
          <a:bodyPr vert="horz" wrap="square" lIns="0" tIns="0" rIns="0" bIns="0" rtlCol="0" anchor="t">
            <a:noAutofit/>
          </a:bodyPr>
          <a:lstStyle/>
          <a:p>
            <a:r>
              <a:rPr lang="en-IN" sz="2200" b="1">
                <a:solidFill>
                  <a:srgbClr val="193F35"/>
                </a:solidFill>
                <a:latin typeface="Calibri" panose="020F0502020204030204" pitchFamily="34" charset="0"/>
              </a:rPr>
              <a:t>Source wording: “may contain”</a:t>
            </a:r>
          </a:p>
        </p:txBody>
      </p:sp>
      <p:cxnSp>
        <p:nvCxnSpPr>
          <p:cNvPr id="15" name="s9-object14-line">
            <a:extLst>
              <a:ext uri="{FF2B5EF4-FFF2-40B4-BE49-F238E27FC236}">
                <a16:creationId xmlns:a16="http://schemas.microsoft.com/office/drawing/2014/main" id="{0BC4A3DC-51E7-58EA-3009-035B57C894E8}"/>
              </a:ext>
            </a:extLst>
          </p:cNvPr>
          <p:cNvCxnSpPr/>
          <p:nvPr/>
        </p:nvCxnSpPr>
        <p:spPr>
          <a:xfrm>
            <a:off x="6146800" y="3403600"/>
            <a:ext cx="5435600" cy="0"/>
          </a:xfrm>
          <a:prstGeom prst="line">
            <a:avLst/>
          </a:prstGeom>
          <a:ln w="16510">
            <a:solidFill>
              <a:srgbClr val="D7E3DA"/>
            </a:solidFill>
          </a:ln>
        </p:spPr>
        <p:style>
          <a:lnRef idx="2">
            <a:schemeClr val="accent1"/>
          </a:lnRef>
          <a:fillRef idx="0">
            <a:schemeClr val="accent1"/>
          </a:fillRef>
          <a:effectRef idx="1">
            <a:schemeClr val="accent1"/>
          </a:effectRef>
          <a:fontRef idx="minor">
            <a:schemeClr val="tx1"/>
          </a:fontRef>
        </p:style>
      </p:cxnSp>
      <p:cxnSp>
        <p:nvCxnSpPr>
          <p:cNvPr id="16" name="s9-object15-line">
            <a:extLst>
              <a:ext uri="{FF2B5EF4-FFF2-40B4-BE49-F238E27FC236}">
                <a16:creationId xmlns:a16="http://schemas.microsoft.com/office/drawing/2014/main" id="{FC0BEA05-1207-D98C-A790-4AAEA9FB2A6B}"/>
              </a:ext>
            </a:extLst>
          </p:cNvPr>
          <p:cNvCxnSpPr/>
          <p:nvPr/>
        </p:nvCxnSpPr>
        <p:spPr>
          <a:xfrm>
            <a:off x="6311900" y="3924300"/>
            <a:ext cx="76200" cy="762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7" name="s9-object16-line">
            <a:extLst>
              <a:ext uri="{FF2B5EF4-FFF2-40B4-BE49-F238E27FC236}">
                <a16:creationId xmlns:a16="http://schemas.microsoft.com/office/drawing/2014/main" id="{B520A471-E953-0A89-6084-F26A93590EC8}"/>
              </a:ext>
            </a:extLst>
          </p:cNvPr>
          <p:cNvCxnSpPr/>
          <p:nvPr/>
        </p:nvCxnSpPr>
        <p:spPr>
          <a:xfrm flipV="1">
            <a:off x="6388100" y="3797300"/>
            <a:ext cx="177800" cy="2032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18" name="s9-object17-text">
            <a:extLst>
              <a:ext uri="{FF2B5EF4-FFF2-40B4-BE49-F238E27FC236}">
                <a16:creationId xmlns:a16="http://schemas.microsoft.com/office/drawing/2014/main" id="{BB829ECB-15E0-16C7-F261-9CF4721BD0CC}"/>
              </a:ext>
            </a:extLst>
          </p:cNvPr>
          <p:cNvSpPr txBox="1"/>
          <p:nvPr/>
        </p:nvSpPr>
        <p:spPr>
          <a:xfrm>
            <a:off x="6845300" y="3670300"/>
            <a:ext cx="4635500" cy="444500"/>
          </a:xfrm>
          <a:prstGeom prst="rect">
            <a:avLst/>
          </a:prstGeom>
          <a:noFill/>
        </p:spPr>
        <p:txBody>
          <a:bodyPr vert="horz" wrap="square" lIns="0" tIns="0" rIns="0" bIns="0" rtlCol="0" anchor="t">
            <a:noAutofit/>
          </a:bodyPr>
          <a:lstStyle/>
          <a:p>
            <a:r>
              <a:rPr lang="en-IN" sz="2100" b="1">
                <a:solidFill>
                  <a:srgbClr val="2D7257"/>
                </a:solidFill>
                <a:latin typeface="Calibri" panose="020F0502020204030204" pitchFamily="34" charset="0"/>
              </a:rPr>
              <a:t>Claim: “may contain”</a:t>
            </a:r>
          </a:p>
        </p:txBody>
      </p:sp>
      <p:sp>
        <p:nvSpPr>
          <p:cNvPr id="19" name="s9-object18-text">
            <a:extLst>
              <a:ext uri="{FF2B5EF4-FFF2-40B4-BE49-F238E27FC236}">
                <a16:creationId xmlns:a16="http://schemas.microsoft.com/office/drawing/2014/main" id="{1A4F16B7-7911-62B6-A354-2947889DACFE}"/>
              </a:ext>
            </a:extLst>
          </p:cNvPr>
          <p:cNvSpPr txBox="1"/>
          <p:nvPr/>
        </p:nvSpPr>
        <p:spPr>
          <a:xfrm>
            <a:off x="6845300" y="4178300"/>
            <a:ext cx="4635500" cy="622300"/>
          </a:xfrm>
          <a:prstGeom prst="rect">
            <a:avLst/>
          </a:prstGeom>
          <a:noFill/>
        </p:spPr>
        <p:txBody>
          <a:bodyPr vert="horz" wrap="square" lIns="0" tIns="0" rIns="0" bIns="0" rtlCol="0" anchor="t">
            <a:noAutofit/>
          </a:bodyPr>
          <a:lstStyle/>
          <a:p>
            <a:r>
              <a:rPr lang="en-IN">
                <a:solidFill>
                  <a:srgbClr val="62756A"/>
                </a:solidFill>
                <a:latin typeface="Calibri" panose="020F0502020204030204" pitchFamily="34" charset="0"/>
              </a:rPr>
              <a:t>Preserves the source’s uncertainty.</a:t>
            </a:r>
          </a:p>
        </p:txBody>
      </p:sp>
      <p:cxnSp>
        <p:nvCxnSpPr>
          <p:cNvPr id="20" name="s9-object19-line">
            <a:extLst>
              <a:ext uri="{FF2B5EF4-FFF2-40B4-BE49-F238E27FC236}">
                <a16:creationId xmlns:a16="http://schemas.microsoft.com/office/drawing/2014/main" id="{08984ABD-FBF3-E6FD-3D47-9A0CF7552F78}"/>
              </a:ext>
            </a:extLst>
          </p:cNvPr>
          <p:cNvCxnSpPr/>
          <p:nvPr/>
        </p:nvCxnSpPr>
        <p:spPr>
          <a:xfrm>
            <a:off x="6324600" y="5054600"/>
            <a:ext cx="228600" cy="228600"/>
          </a:xfrm>
          <a:prstGeom prst="line">
            <a:avLst/>
          </a:prstGeom>
          <a:ln w="19050">
            <a:solidFill>
              <a:srgbClr val="AE644E"/>
            </a:solidFill>
          </a:ln>
        </p:spPr>
        <p:style>
          <a:lnRef idx="2">
            <a:schemeClr val="accent1"/>
          </a:lnRef>
          <a:fillRef idx="0">
            <a:schemeClr val="accent1"/>
          </a:fillRef>
          <a:effectRef idx="1">
            <a:schemeClr val="accent1"/>
          </a:effectRef>
          <a:fontRef idx="minor">
            <a:schemeClr val="tx1"/>
          </a:fontRef>
        </p:style>
      </p:cxnSp>
      <p:cxnSp>
        <p:nvCxnSpPr>
          <p:cNvPr id="21" name="s9-object20-line">
            <a:extLst>
              <a:ext uri="{FF2B5EF4-FFF2-40B4-BE49-F238E27FC236}">
                <a16:creationId xmlns:a16="http://schemas.microsoft.com/office/drawing/2014/main" id="{EDD21762-7D5D-D354-4C58-80F7F7C102C2}"/>
              </a:ext>
            </a:extLst>
          </p:cNvPr>
          <p:cNvCxnSpPr/>
          <p:nvPr/>
        </p:nvCxnSpPr>
        <p:spPr>
          <a:xfrm flipV="1">
            <a:off x="6324600" y="5054600"/>
            <a:ext cx="228600" cy="228600"/>
          </a:xfrm>
          <a:prstGeom prst="line">
            <a:avLst/>
          </a:prstGeom>
          <a:ln w="19050">
            <a:solidFill>
              <a:srgbClr val="AE644E"/>
            </a:solidFill>
          </a:ln>
        </p:spPr>
        <p:style>
          <a:lnRef idx="2">
            <a:schemeClr val="accent1"/>
          </a:lnRef>
          <a:fillRef idx="0">
            <a:schemeClr val="accent1"/>
          </a:fillRef>
          <a:effectRef idx="1">
            <a:schemeClr val="accent1"/>
          </a:effectRef>
          <a:fontRef idx="minor">
            <a:schemeClr val="tx1"/>
          </a:fontRef>
        </p:style>
      </p:cxnSp>
      <p:sp>
        <p:nvSpPr>
          <p:cNvPr id="22" name="s9-object21-text">
            <a:extLst>
              <a:ext uri="{FF2B5EF4-FFF2-40B4-BE49-F238E27FC236}">
                <a16:creationId xmlns:a16="http://schemas.microsoft.com/office/drawing/2014/main" id="{90445C2C-98FE-6312-E3A7-5D80541B3B8F}"/>
              </a:ext>
            </a:extLst>
          </p:cNvPr>
          <p:cNvSpPr txBox="1"/>
          <p:nvPr/>
        </p:nvSpPr>
        <p:spPr>
          <a:xfrm>
            <a:off x="6845300" y="4927600"/>
            <a:ext cx="4635500" cy="444500"/>
          </a:xfrm>
          <a:prstGeom prst="rect">
            <a:avLst/>
          </a:prstGeom>
          <a:noFill/>
        </p:spPr>
        <p:txBody>
          <a:bodyPr vert="horz" wrap="square" lIns="0" tIns="0" rIns="0" bIns="0" rtlCol="0" anchor="t">
            <a:noAutofit/>
          </a:bodyPr>
          <a:lstStyle/>
          <a:p>
            <a:r>
              <a:rPr lang="en-IN" sz="2100" b="1">
                <a:solidFill>
                  <a:srgbClr val="AE644E"/>
                </a:solidFill>
                <a:latin typeface="Calibri" panose="020F0502020204030204" pitchFamily="34" charset="0"/>
              </a:rPr>
              <a:t>Claim: “always contain”</a:t>
            </a:r>
          </a:p>
        </p:txBody>
      </p:sp>
      <p:sp>
        <p:nvSpPr>
          <p:cNvPr id="23" name="s9-object22-text">
            <a:extLst>
              <a:ext uri="{FF2B5EF4-FFF2-40B4-BE49-F238E27FC236}">
                <a16:creationId xmlns:a16="http://schemas.microsoft.com/office/drawing/2014/main" id="{0DBF46C8-7FDC-5E01-89E5-38E8FBAFFF25}"/>
              </a:ext>
            </a:extLst>
          </p:cNvPr>
          <p:cNvSpPr txBox="1"/>
          <p:nvPr/>
        </p:nvSpPr>
        <p:spPr>
          <a:xfrm>
            <a:off x="6845300" y="5435600"/>
            <a:ext cx="4635500" cy="774700"/>
          </a:xfrm>
          <a:prstGeom prst="rect">
            <a:avLst/>
          </a:prstGeom>
          <a:noFill/>
        </p:spPr>
        <p:txBody>
          <a:bodyPr vert="horz" wrap="square" lIns="0" tIns="0" rIns="0" bIns="0" rtlCol="0" anchor="t">
            <a:noAutofit/>
          </a:bodyPr>
          <a:lstStyle/>
          <a:p>
            <a:r>
              <a:rPr lang="en-US">
                <a:solidFill>
                  <a:srgbClr val="62756A"/>
                </a:solidFill>
                <a:latin typeface="Calibri" panose="020F0502020204030204" pitchFamily="34" charset="0"/>
              </a:rPr>
              <a:t>Adds certainty the passage did not provide.</a:t>
            </a:r>
            <a:endParaRPr lang="en-IN">
              <a:solidFill>
                <a:srgbClr val="62756A"/>
              </a:solidFill>
              <a:latin typeface="Calibri" panose="020F0502020204030204" pitchFamily="34" charset="0"/>
            </a:endParaRPr>
          </a:p>
        </p:txBody>
      </p:sp>
    </p:spTree>
    <p:extLst>
      <p:ext uri="{BB962C8B-B14F-4D97-AF65-F5344CB8AC3E}">
        <p14:creationId xmlns:p14="http://schemas.microsoft.com/office/powerpoint/2010/main" val="3441900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FDFB"/>
        </a:solidFill>
        <a:effectLst/>
      </p:bgPr>
    </p:bg>
    <p:spTree>
      <p:nvGrpSpPr>
        <p:cNvPr id="1" name=""/>
        <p:cNvGrpSpPr/>
        <p:nvPr/>
      </p:nvGrpSpPr>
      <p:grpSpPr>
        <a:xfrm>
          <a:off x="0" y="0"/>
          <a:ext cx="0" cy="0"/>
          <a:chOff x="0" y="0"/>
          <a:chExt cx="0" cy="0"/>
        </a:xfrm>
      </p:grpSpPr>
      <p:sp>
        <p:nvSpPr>
          <p:cNvPr id="2" name="s10-object1-text">
            <a:extLst>
              <a:ext uri="{FF2B5EF4-FFF2-40B4-BE49-F238E27FC236}">
                <a16:creationId xmlns:a16="http://schemas.microsoft.com/office/drawing/2014/main" id="{72BCEE92-0743-BF9D-71DF-098BC6E4A699}"/>
              </a:ext>
            </a:extLst>
          </p:cNvPr>
          <p:cNvSpPr txBox="1"/>
          <p:nvPr/>
        </p:nvSpPr>
        <p:spPr>
          <a:xfrm>
            <a:off x="609600" y="304800"/>
            <a:ext cx="10160000" cy="228600"/>
          </a:xfrm>
          <a:prstGeom prst="rect">
            <a:avLst/>
          </a:prstGeom>
          <a:noFill/>
        </p:spPr>
        <p:txBody>
          <a:bodyPr vert="horz" wrap="square" lIns="0" tIns="0" rIns="0" bIns="0" rtlCol="0" anchor="t">
            <a:noAutofit/>
          </a:bodyPr>
          <a:lstStyle/>
          <a:p>
            <a:r>
              <a:rPr lang="en-US" sz="1000" b="1">
                <a:solidFill>
                  <a:srgbClr val="2D7257"/>
                </a:solidFill>
                <a:latin typeface="Calibri" panose="020F0502020204030204" pitchFamily="34" charset="0"/>
              </a:rPr>
              <a:t>STAGE 4  /  PROVISIONAL PATHWAY ASSEMBLY · MIMO FLASH</a:t>
            </a:r>
            <a:endParaRPr lang="en-IN" sz="1000" b="1">
              <a:solidFill>
                <a:srgbClr val="2D7257"/>
              </a:solidFill>
              <a:latin typeface="Calibri" panose="020F0502020204030204" pitchFamily="34" charset="0"/>
            </a:endParaRPr>
          </a:p>
        </p:txBody>
      </p:sp>
      <p:sp>
        <p:nvSpPr>
          <p:cNvPr id="3" name="s10-object2-text">
            <a:extLst>
              <a:ext uri="{FF2B5EF4-FFF2-40B4-BE49-F238E27FC236}">
                <a16:creationId xmlns:a16="http://schemas.microsoft.com/office/drawing/2014/main" id="{9056C796-74A2-33B4-81A7-16196CA497BF}"/>
              </a:ext>
            </a:extLst>
          </p:cNvPr>
          <p:cNvSpPr txBox="1"/>
          <p:nvPr/>
        </p:nvSpPr>
        <p:spPr>
          <a:xfrm>
            <a:off x="609600" y="647700"/>
            <a:ext cx="10972800" cy="622300"/>
          </a:xfrm>
          <a:prstGeom prst="rect">
            <a:avLst/>
          </a:prstGeom>
          <a:noFill/>
        </p:spPr>
        <p:txBody>
          <a:bodyPr vert="horz" wrap="square" lIns="0" tIns="0" rIns="0" bIns="0" rtlCol="0" anchor="t">
            <a:noAutofit/>
          </a:bodyPr>
          <a:lstStyle/>
          <a:p>
            <a:r>
              <a:rPr lang="en-US" sz="3000" b="1">
                <a:solidFill>
                  <a:srgbClr val="193F35"/>
                </a:solidFill>
                <a:latin typeface="Calibri" panose="020F0502020204030204" pitchFamily="34" charset="0"/>
              </a:rPr>
              <a:t>Shared entities connect provisional pathways</a:t>
            </a:r>
            <a:endParaRPr lang="en-IN" sz="3000" b="1">
              <a:solidFill>
                <a:srgbClr val="193F35"/>
              </a:solidFill>
              <a:latin typeface="Calibri" panose="020F0502020204030204" pitchFamily="34" charset="0"/>
            </a:endParaRPr>
          </a:p>
        </p:txBody>
      </p:sp>
      <p:sp>
        <p:nvSpPr>
          <p:cNvPr id="4" name="s10-object3-text">
            <a:extLst>
              <a:ext uri="{FF2B5EF4-FFF2-40B4-BE49-F238E27FC236}">
                <a16:creationId xmlns:a16="http://schemas.microsoft.com/office/drawing/2014/main" id="{8A0FB524-7E73-3E62-6A52-F05366E07589}"/>
              </a:ext>
            </a:extLst>
          </p:cNvPr>
          <p:cNvSpPr txBox="1"/>
          <p:nvPr/>
        </p:nvSpPr>
        <p:spPr>
          <a:xfrm>
            <a:off x="609600" y="1346200"/>
            <a:ext cx="10972800" cy="584200"/>
          </a:xfrm>
          <a:prstGeom prst="rect">
            <a:avLst/>
          </a:prstGeom>
          <a:noFill/>
        </p:spPr>
        <p:txBody>
          <a:bodyPr vert="horz" wrap="square" lIns="0" tIns="0" rIns="0" bIns="0" rtlCol="0" anchor="t">
            <a:noAutofit/>
          </a:bodyPr>
          <a:lstStyle/>
          <a:p>
            <a:r>
              <a:rPr lang="en-US" sz="1700">
                <a:solidFill>
                  <a:srgbClr val="2D7257"/>
                </a:solidFill>
                <a:latin typeface="Calibri" panose="020F0502020204030204" pitchFamily="34" charset="0"/>
              </a:rPr>
              <a:t>Purpose: Connect source-grounded edges through shared entities before external assessment.</a:t>
            </a:r>
            <a:endParaRPr lang="en-IN" sz="1700">
              <a:solidFill>
                <a:srgbClr val="2D7257"/>
              </a:solidFill>
              <a:latin typeface="Calibri" panose="020F0502020204030204" pitchFamily="34" charset="0"/>
            </a:endParaRPr>
          </a:p>
        </p:txBody>
      </p:sp>
      <p:cxnSp>
        <p:nvCxnSpPr>
          <p:cNvPr id="5" name="s10-object4-line">
            <a:extLst>
              <a:ext uri="{FF2B5EF4-FFF2-40B4-BE49-F238E27FC236}">
                <a16:creationId xmlns:a16="http://schemas.microsoft.com/office/drawing/2014/main" id="{B36537B7-F06B-4047-73ED-4590F70DFF97}"/>
              </a:ext>
            </a:extLst>
          </p:cNvPr>
          <p:cNvCxnSpPr/>
          <p:nvPr/>
        </p:nvCxnSpPr>
        <p:spPr>
          <a:xfrm>
            <a:off x="609600" y="6477000"/>
            <a:ext cx="10972800" cy="0"/>
          </a:xfrm>
          <a:prstGeom prst="line">
            <a:avLst/>
          </a:prstGeom>
          <a:ln w="15240">
            <a:solidFill>
              <a:srgbClr val="D7E3DA"/>
            </a:solidFill>
          </a:ln>
        </p:spPr>
        <p:style>
          <a:lnRef idx="2">
            <a:schemeClr val="accent1"/>
          </a:lnRef>
          <a:fillRef idx="0">
            <a:schemeClr val="accent1"/>
          </a:fillRef>
          <a:effectRef idx="1">
            <a:schemeClr val="accent1"/>
          </a:effectRef>
          <a:fontRef idx="minor">
            <a:schemeClr val="tx1"/>
          </a:fontRef>
        </p:style>
      </p:cxnSp>
      <p:sp>
        <p:nvSpPr>
          <p:cNvPr id="6" name="s10-object5-text">
            <a:extLst>
              <a:ext uri="{FF2B5EF4-FFF2-40B4-BE49-F238E27FC236}">
                <a16:creationId xmlns:a16="http://schemas.microsoft.com/office/drawing/2014/main" id="{17EE0E86-98FC-308A-40EB-152A6761D8B7}"/>
              </a:ext>
            </a:extLst>
          </p:cNvPr>
          <p:cNvSpPr txBox="1"/>
          <p:nvPr/>
        </p:nvSpPr>
        <p:spPr>
          <a:xfrm>
            <a:off x="609600" y="6553200"/>
            <a:ext cx="8255000" cy="190500"/>
          </a:xfrm>
          <a:prstGeom prst="rect">
            <a:avLst/>
          </a:prstGeom>
          <a:noFill/>
        </p:spPr>
        <p:txBody>
          <a:bodyPr vert="horz" wrap="square" lIns="0" tIns="0" rIns="0" bIns="0" rtlCol="0" anchor="t">
            <a:noAutofit/>
          </a:bodyPr>
          <a:lstStyle/>
          <a:p>
            <a:r>
              <a:rPr lang="en-US" sz="900">
                <a:solidFill>
                  <a:srgbClr val="62756A"/>
                </a:solidFill>
                <a:latin typeface="Calibri" panose="020F0502020204030204" pitchFamily="34" charset="0"/>
              </a:rPr>
              <a:t>Reasoning with Food Knowledge Graphs</a:t>
            </a:r>
            <a:endParaRPr lang="en-IN" sz="900">
              <a:solidFill>
                <a:srgbClr val="62756A"/>
              </a:solidFill>
              <a:latin typeface="Calibri" panose="020F0502020204030204" pitchFamily="34" charset="0"/>
            </a:endParaRPr>
          </a:p>
        </p:txBody>
      </p:sp>
      <p:sp>
        <p:nvSpPr>
          <p:cNvPr id="7" name="s10-object6-text">
            <a:extLst>
              <a:ext uri="{FF2B5EF4-FFF2-40B4-BE49-F238E27FC236}">
                <a16:creationId xmlns:a16="http://schemas.microsoft.com/office/drawing/2014/main" id="{CC4EE32A-F483-DBEF-7DAC-F5781BDC9101}"/>
              </a:ext>
            </a:extLst>
          </p:cNvPr>
          <p:cNvSpPr txBox="1"/>
          <p:nvPr/>
        </p:nvSpPr>
        <p:spPr>
          <a:xfrm>
            <a:off x="11049000" y="6553200"/>
            <a:ext cx="533400" cy="190500"/>
          </a:xfrm>
          <a:prstGeom prst="rect">
            <a:avLst/>
          </a:prstGeom>
          <a:noFill/>
        </p:spPr>
        <p:txBody>
          <a:bodyPr vert="horz" wrap="square" lIns="0" tIns="0" rIns="0" bIns="0" rtlCol="0" anchor="t">
            <a:noAutofit/>
          </a:bodyPr>
          <a:lstStyle/>
          <a:p>
            <a:pPr algn="r"/>
            <a:r>
              <a:rPr lang="en-IN" sz="900">
                <a:solidFill>
                  <a:srgbClr val="62756A"/>
                </a:solidFill>
                <a:latin typeface="Calibri" panose="020F0502020204030204" pitchFamily="34" charset="0"/>
              </a:rPr>
              <a:t>10</a:t>
            </a:r>
          </a:p>
        </p:txBody>
      </p:sp>
      <p:sp>
        <p:nvSpPr>
          <p:cNvPr id="8" name="s10-object7-rect">
            <a:extLst>
              <a:ext uri="{FF2B5EF4-FFF2-40B4-BE49-F238E27FC236}">
                <a16:creationId xmlns:a16="http://schemas.microsoft.com/office/drawing/2014/main" id="{2471A5AA-F740-F718-D78F-18ED9510E632}"/>
              </a:ext>
            </a:extLst>
          </p:cNvPr>
          <p:cNvSpPr/>
          <p:nvPr/>
        </p:nvSpPr>
        <p:spPr>
          <a:xfrm>
            <a:off x="609600" y="2451100"/>
            <a:ext cx="3302000" cy="1346200"/>
          </a:xfrm>
          <a:prstGeom prst="rect">
            <a:avLst/>
          </a:prstGeom>
          <a:solidFill>
            <a:srgbClr val="EDF4E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10-object8-line">
            <a:extLst>
              <a:ext uri="{FF2B5EF4-FFF2-40B4-BE49-F238E27FC236}">
                <a16:creationId xmlns:a16="http://schemas.microsoft.com/office/drawing/2014/main" id="{BD7A6B8E-4200-BB8F-B9F6-809F5A3BE409}"/>
              </a:ext>
            </a:extLst>
          </p:cNvPr>
          <p:cNvCxnSpPr/>
          <p:nvPr/>
        </p:nvCxnSpPr>
        <p:spPr>
          <a:xfrm>
            <a:off x="937260" y="2795270"/>
            <a:ext cx="0" cy="18288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0" name="s10-object9-line">
            <a:extLst>
              <a:ext uri="{FF2B5EF4-FFF2-40B4-BE49-F238E27FC236}">
                <a16:creationId xmlns:a16="http://schemas.microsoft.com/office/drawing/2014/main" id="{4D60DEB6-8856-16E1-B123-79891F5BDD66}"/>
              </a:ext>
            </a:extLst>
          </p:cNvPr>
          <p:cNvCxnSpPr/>
          <p:nvPr/>
        </p:nvCxnSpPr>
        <p:spPr>
          <a:xfrm flipH="1" flipV="1">
            <a:off x="845820" y="2806700"/>
            <a:ext cx="91440" cy="6858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1" name="s10-object10-line">
            <a:extLst>
              <a:ext uri="{FF2B5EF4-FFF2-40B4-BE49-F238E27FC236}">
                <a16:creationId xmlns:a16="http://schemas.microsoft.com/office/drawing/2014/main" id="{6CDCD4BF-50EF-F13F-7186-5D13D8D250F1}"/>
              </a:ext>
            </a:extLst>
          </p:cNvPr>
          <p:cNvCxnSpPr/>
          <p:nvPr/>
        </p:nvCxnSpPr>
        <p:spPr>
          <a:xfrm flipH="1" flipV="1">
            <a:off x="822960" y="2738120"/>
            <a:ext cx="22860" cy="6858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2" name="s10-object11-line">
            <a:extLst>
              <a:ext uri="{FF2B5EF4-FFF2-40B4-BE49-F238E27FC236}">
                <a16:creationId xmlns:a16="http://schemas.microsoft.com/office/drawing/2014/main" id="{3BDCADD2-DD97-60F9-F41A-EDD9B3C98469}"/>
              </a:ext>
            </a:extLst>
          </p:cNvPr>
          <p:cNvCxnSpPr/>
          <p:nvPr/>
        </p:nvCxnSpPr>
        <p:spPr>
          <a:xfrm>
            <a:off x="822960" y="2738120"/>
            <a:ext cx="68580" cy="1143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3" name="s10-object12-line">
            <a:extLst>
              <a:ext uri="{FF2B5EF4-FFF2-40B4-BE49-F238E27FC236}">
                <a16:creationId xmlns:a16="http://schemas.microsoft.com/office/drawing/2014/main" id="{071011B2-C2B4-0604-B9B2-10DEB43F3AB1}"/>
              </a:ext>
            </a:extLst>
          </p:cNvPr>
          <p:cNvCxnSpPr/>
          <p:nvPr/>
        </p:nvCxnSpPr>
        <p:spPr>
          <a:xfrm>
            <a:off x="891540" y="2749550"/>
            <a:ext cx="45720" cy="6858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4" name="s10-object13-line">
            <a:extLst>
              <a:ext uri="{FF2B5EF4-FFF2-40B4-BE49-F238E27FC236}">
                <a16:creationId xmlns:a16="http://schemas.microsoft.com/office/drawing/2014/main" id="{89A3FCB9-EB8B-BB83-9480-5F67EF4AC1D4}"/>
              </a:ext>
            </a:extLst>
          </p:cNvPr>
          <p:cNvCxnSpPr/>
          <p:nvPr/>
        </p:nvCxnSpPr>
        <p:spPr>
          <a:xfrm flipV="1">
            <a:off x="937260" y="2795270"/>
            <a:ext cx="91440" cy="6858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5" name="s10-object14-line">
            <a:extLst>
              <a:ext uri="{FF2B5EF4-FFF2-40B4-BE49-F238E27FC236}">
                <a16:creationId xmlns:a16="http://schemas.microsoft.com/office/drawing/2014/main" id="{3CBAEE9C-9A02-02FD-19F0-F87667B6BFBD}"/>
              </a:ext>
            </a:extLst>
          </p:cNvPr>
          <p:cNvCxnSpPr/>
          <p:nvPr/>
        </p:nvCxnSpPr>
        <p:spPr>
          <a:xfrm flipV="1">
            <a:off x="1028700" y="2715260"/>
            <a:ext cx="34290" cy="8001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6" name="s10-object15-line">
            <a:extLst>
              <a:ext uri="{FF2B5EF4-FFF2-40B4-BE49-F238E27FC236}">
                <a16:creationId xmlns:a16="http://schemas.microsoft.com/office/drawing/2014/main" id="{C04EDA05-CEBD-0424-3C66-CD6E6D77C974}"/>
              </a:ext>
            </a:extLst>
          </p:cNvPr>
          <p:cNvCxnSpPr/>
          <p:nvPr/>
        </p:nvCxnSpPr>
        <p:spPr>
          <a:xfrm flipH="1">
            <a:off x="982980" y="2715260"/>
            <a:ext cx="80010" cy="2286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7" name="s10-object16-line">
            <a:extLst>
              <a:ext uri="{FF2B5EF4-FFF2-40B4-BE49-F238E27FC236}">
                <a16:creationId xmlns:a16="http://schemas.microsoft.com/office/drawing/2014/main" id="{088E6FC7-056E-2460-0F46-6B26E8299AD8}"/>
              </a:ext>
            </a:extLst>
          </p:cNvPr>
          <p:cNvCxnSpPr/>
          <p:nvPr/>
        </p:nvCxnSpPr>
        <p:spPr>
          <a:xfrm flipH="1">
            <a:off x="937260" y="2738120"/>
            <a:ext cx="45720" cy="6858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8" name="s10-object17-line">
            <a:extLst>
              <a:ext uri="{FF2B5EF4-FFF2-40B4-BE49-F238E27FC236}">
                <a16:creationId xmlns:a16="http://schemas.microsoft.com/office/drawing/2014/main" id="{C3A806D2-908F-1FB4-6D03-152471389BAD}"/>
              </a:ext>
            </a:extLst>
          </p:cNvPr>
          <p:cNvCxnSpPr/>
          <p:nvPr/>
        </p:nvCxnSpPr>
        <p:spPr>
          <a:xfrm>
            <a:off x="822960" y="2989580"/>
            <a:ext cx="24003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19" name="s10-object18-text">
            <a:extLst>
              <a:ext uri="{FF2B5EF4-FFF2-40B4-BE49-F238E27FC236}">
                <a16:creationId xmlns:a16="http://schemas.microsoft.com/office/drawing/2014/main" id="{FA63AEAF-08F0-7329-6E60-519D982B9441}"/>
              </a:ext>
            </a:extLst>
          </p:cNvPr>
          <p:cNvSpPr txBox="1"/>
          <p:nvPr/>
        </p:nvSpPr>
        <p:spPr>
          <a:xfrm>
            <a:off x="1270000" y="2692400"/>
            <a:ext cx="2501900" cy="990600"/>
          </a:xfrm>
          <a:prstGeom prst="rect">
            <a:avLst/>
          </a:prstGeom>
          <a:noFill/>
        </p:spPr>
        <p:txBody>
          <a:bodyPr vert="horz" wrap="square" lIns="0" tIns="0" rIns="0" bIns="0" rtlCol="0" anchor="t">
            <a:noAutofit/>
          </a:bodyPr>
          <a:lstStyle/>
          <a:p>
            <a:r>
              <a:rPr lang="en-IN" sz="2100" b="1">
                <a:solidFill>
                  <a:srgbClr val="193F35"/>
                </a:solidFill>
                <a:latin typeface="Calibri" panose="020F0502020204030204" pitchFamily="34" charset="0"/>
              </a:rPr>
              <a:t>Infected wheat
grains</a:t>
            </a:r>
          </a:p>
        </p:txBody>
      </p:sp>
      <p:sp>
        <p:nvSpPr>
          <p:cNvPr id="20" name="s10-object19-rect">
            <a:extLst>
              <a:ext uri="{FF2B5EF4-FFF2-40B4-BE49-F238E27FC236}">
                <a16:creationId xmlns:a16="http://schemas.microsoft.com/office/drawing/2014/main" id="{DECFB935-970E-A408-C2F5-5FA7E53DF21A}"/>
              </a:ext>
            </a:extLst>
          </p:cNvPr>
          <p:cNvSpPr/>
          <p:nvPr/>
        </p:nvSpPr>
        <p:spPr>
          <a:xfrm>
            <a:off x="4648200" y="2451100"/>
            <a:ext cx="3365500" cy="1346200"/>
          </a:xfrm>
          <a:prstGeom prst="rect">
            <a:avLst/>
          </a:prstGeom>
          <a:solidFill>
            <a:srgbClr val="EDF4E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s10-object20-rect">
            <a:extLst>
              <a:ext uri="{FF2B5EF4-FFF2-40B4-BE49-F238E27FC236}">
                <a16:creationId xmlns:a16="http://schemas.microsoft.com/office/drawing/2014/main" id="{B0D0BB32-31CB-966D-B0B8-E1BCFBF39C8D}"/>
              </a:ext>
            </a:extLst>
          </p:cNvPr>
          <p:cNvSpPr/>
          <p:nvPr/>
        </p:nvSpPr>
        <p:spPr>
          <a:xfrm>
            <a:off x="4861560" y="2703830"/>
            <a:ext cx="240030" cy="297180"/>
          </a:xfrm>
          <a:prstGeom prst="rect">
            <a:avLst/>
          </a:prstGeom>
          <a:noFill/>
          <a:ln w="10160" cap="flat" cmpd="sng" algn="ctr">
            <a:solidFill>
              <a:srgbClr val="2D7257"/>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10-object21-line">
            <a:extLst>
              <a:ext uri="{FF2B5EF4-FFF2-40B4-BE49-F238E27FC236}">
                <a16:creationId xmlns:a16="http://schemas.microsoft.com/office/drawing/2014/main" id="{EEDDBD55-682B-D2AA-41DC-AF59728958A4}"/>
              </a:ext>
            </a:extLst>
          </p:cNvPr>
          <p:cNvCxnSpPr/>
          <p:nvPr/>
        </p:nvCxnSpPr>
        <p:spPr>
          <a:xfrm>
            <a:off x="4918710" y="2783840"/>
            <a:ext cx="12573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3" name="s10-object22-line">
            <a:extLst>
              <a:ext uri="{FF2B5EF4-FFF2-40B4-BE49-F238E27FC236}">
                <a16:creationId xmlns:a16="http://schemas.microsoft.com/office/drawing/2014/main" id="{3889A23D-8639-4561-0433-A67F023DA608}"/>
              </a:ext>
            </a:extLst>
          </p:cNvPr>
          <p:cNvCxnSpPr/>
          <p:nvPr/>
        </p:nvCxnSpPr>
        <p:spPr>
          <a:xfrm>
            <a:off x="4918710" y="2852420"/>
            <a:ext cx="12573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4" name="s10-object23-line">
            <a:extLst>
              <a:ext uri="{FF2B5EF4-FFF2-40B4-BE49-F238E27FC236}">
                <a16:creationId xmlns:a16="http://schemas.microsoft.com/office/drawing/2014/main" id="{233A63F9-7F8E-FA8A-02CD-BBD8BAEC139D}"/>
              </a:ext>
            </a:extLst>
          </p:cNvPr>
          <p:cNvCxnSpPr/>
          <p:nvPr/>
        </p:nvCxnSpPr>
        <p:spPr>
          <a:xfrm>
            <a:off x="4918710" y="2921000"/>
            <a:ext cx="10287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25" name="s10-object24-text">
            <a:extLst>
              <a:ext uri="{FF2B5EF4-FFF2-40B4-BE49-F238E27FC236}">
                <a16:creationId xmlns:a16="http://schemas.microsoft.com/office/drawing/2014/main" id="{00D73A5A-2CD7-9B92-D4D9-FED2C8F039E2}"/>
              </a:ext>
            </a:extLst>
          </p:cNvPr>
          <p:cNvSpPr txBox="1"/>
          <p:nvPr/>
        </p:nvSpPr>
        <p:spPr>
          <a:xfrm>
            <a:off x="5308600" y="2692400"/>
            <a:ext cx="2565400" cy="990600"/>
          </a:xfrm>
          <a:prstGeom prst="rect">
            <a:avLst/>
          </a:prstGeom>
          <a:noFill/>
        </p:spPr>
        <p:txBody>
          <a:bodyPr vert="horz" wrap="square" lIns="0" tIns="0" rIns="0" bIns="0" rtlCol="0" anchor="t">
            <a:noAutofit/>
          </a:bodyPr>
          <a:lstStyle/>
          <a:p>
            <a:r>
              <a:rPr lang="en-US" sz="2100" b="1">
                <a:solidFill>
                  <a:srgbClr val="193F35"/>
                </a:solidFill>
                <a:latin typeface="Calibri" panose="020F0502020204030204" pitchFamily="34" charset="0"/>
              </a:rPr>
              <a:t>Mycotoxin contamination
of wheat grain</a:t>
            </a:r>
            <a:endParaRPr lang="en-IN" sz="2100" b="1">
              <a:solidFill>
                <a:srgbClr val="193F35"/>
              </a:solidFill>
              <a:latin typeface="Calibri" panose="020F0502020204030204" pitchFamily="34" charset="0"/>
            </a:endParaRPr>
          </a:p>
        </p:txBody>
      </p:sp>
      <p:sp>
        <p:nvSpPr>
          <p:cNvPr id="26" name="s10-object25-rect">
            <a:extLst>
              <a:ext uri="{FF2B5EF4-FFF2-40B4-BE49-F238E27FC236}">
                <a16:creationId xmlns:a16="http://schemas.microsoft.com/office/drawing/2014/main" id="{FF3D44EC-7605-4141-41BE-C26DD83587D4}"/>
              </a:ext>
            </a:extLst>
          </p:cNvPr>
          <p:cNvSpPr/>
          <p:nvPr/>
        </p:nvSpPr>
        <p:spPr>
          <a:xfrm>
            <a:off x="8763000" y="2451100"/>
            <a:ext cx="2819400" cy="1346200"/>
          </a:xfrm>
          <a:prstGeom prst="rect">
            <a:avLst/>
          </a:prstGeom>
          <a:solidFill>
            <a:srgbClr val="EDF4E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7" name="s10-object26-line">
            <a:extLst>
              <a:ext uri="{FF2B5EF4-FFF2-40B4-BE49-F238E27FC236}">
                <a16:creationId xmlns:a16="http://schemas.microsoft.com/office/drawing/2014/main" id="{50B83782-CD3A-EFFB-60BD-C4806A1FE528}"/>
              </a:ext>
            </a:extLst>
          </p:cNvPr>
          <p:cNvCxnSpPr/>
          <p:nvPr/>
        </p:nvCxnSpPr>
        <p:spPr>
          <a:xfrm>
            <a:off x="9090660" y="2749550"/>
            <a:ext cx="0" cy="2286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8" name="s10-object27-line">
            <a:extLst>
              <a:ext uri="{FF2B5EF4-FFF2-40B4-BE49-F238E27FC236}">
                <a16:creationId xmlns:a16="http://schemas.microsoft.com/office/drawing/2014/main" id="{3AAD50B9-CA30-2D96-01B1-5447771586C6}"/>
              </a:ext>
            </a:extLst>
          </p:cNvPr>
          <p:cNvCxnSpPr/>
          <p:nvPr/>
        </p:nvCxnSpPr>
        <p:spPr>
          <a:xfrm>
            <a:off x="8964930" y="2726690"/>
            <a:ext cx="0" cy="2286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9" name="s10-object28-line">
            <a:extLst>
              <a:ext uri="{FF2B5EF4-FFF2-40B4-BE49-F238E27FC236}">
                <a16:creationId xmlns:a16="http://schemas.microsoft.com/office/drawing/2014/main" id="{9E5DFFDF-938D-6294-3602-6307988B70AB}"/>
              </a:ext>
            </a:extLst>
          </p:cNvPr>
          <p:cNvCxnSpPr/>
          <p:nvPr/>
        </p:nvCxnSpPr>
        <p:spPr>
          <a:xfrm>
            <a:off x="9216390" y="2726690"/>
            <a:ext cx="0" cy="2286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0" name="s10-object29-line">
            <a:extLst>
              <a:ext uri="{FF2B5EF4-FFF2-40B4-BE49-F238E27FC236}">
                <a16:creationId xmlns:a16="http://schemas.microsoft.com/office/drawing/2014/main" id="{B22D74B1-EC08-5230-0C9B-B4C7B01B0564}"/>
              </a:ext>
            </a:extLst>
          </p:cNvPr>
          <p:cNvCxnSpPr/>
          <p:nvPr/>
        </p:nvCxnSpPr>
        <p:spPr>
          <a:xfrm>
            <a:off x="8964930" y="2726690"/>
            <a:ext cx="8001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1" name="s10-object30-line">
            <a:extLst>
              <a:ext uri="{FF2B5EF4-FFF2-40B4-BE49-F238E27FC236}">
                <a16:creationId xmlns:a16="http://schemas.microsoft.com/office/drawing/2014/main" id="{43EA10CE-7A07-1ACD-C955-139F9D35BC79}"/>
              </a:ext>
            </a:extLst>
          </p:cNvPr>
          <p:cNvCxnSpPr/>
          <p:nvPr/>
        </p:nvCxnSpPr>
        <p:spPr>
          <a:xfrm>
            <a:off x="9044940" y="2726690"/>
            <a:ext cx="45720" cy="3429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2" name="s10-object31-line">
            <a:extLst>
              <a:ext uri="{FF2B5EF4-FFF2-40B4-BE49-F238E27FC236}">
                <a16:creationId xmlns:a16="http://schemas.microsoft.com/office/drawing/2014/main" id="{107F6BA3-0FC0-FD7F-F6F6-EEA7C3A3D00F}"/>
              </a:ext>
            </a:extLst>
          </p:cNvPr>
          <p:cNvCxnSpPr/>
          <p:nvPr/>
        </p:nvCxnSpPr>
        <p:spPr>
          <a:xfrm flipV="1">
            <a:off x="9090660" y="2726690"/>
            <a:ext cx="45720" cy="3429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3" name="s10-object32-line">
            <a:extLst>
              <a:ext uri="{FF2B5EF4-FFF2-40B4-BE49-F238E27FC236}">
                <a16:creationId xmlns:a16="http://schemas.microsoft.com/office/drawing/2014/main" id="{D91B8934-F30D-FC70-154B-764E4595ACC3}"/>
              </a:ext>
            </a:extLst>
          </p:cNvPr>
          <p:cNvCxnSpPr/>
          <p:nvPr/>
        </p:nvCxnSpPr>
        <p:spPr>
          <a:xfrm>
            <a:off x="9136380" y="2726690"/>
            <a:ext cx="8001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4" name="s10-object33-line">
            <a:extLst>
              <a:ext uri="{FF2B5EF4-FFF2-40B4-BE49-F238E27FC236}">
                <a16:creationId xmlns:a16="http://schemas.microsoft.com/office/drawing/2014/main" id="{C9F553F2-2A32-7AB2-A6C0-059ED29B9FEC}"/>
              </a:ext>
            </a:extLst>
          </p:cNvPr>
          <p:cNvCxnSpPr/>
          <p:nvPr/>
        </p:nvCxnSpPr>
        <p:spPr>
          <a:xfrm>
            <a:off x="8964930" y="2955290"/>
            <a:ext cx="8001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5" name="s10-object34-line">
            <a:extLst>
              <a:ext uri="{FF2B5EF4-FFF2-40B4-BE49-F238E27FC236}">
                <a16:creationId xmlns:a16="http://schemas.microsoft.com/office/drawing/2014/main" id="{999A8AC9-9EF3-B9C0-D985-2D2AF2874051}"/>
              </a:ext>
            </a:extLst>
          </p:cNvPr>
          <p:cNvCxnSpPr/>
          <p:nvPr/>
        </p:nvCxnSpPr>
        <p:spPr>
          <a:xfrm>
            <a:off x="9044940" y="2955290"/>
            <a:ext cx="45720" cy="2286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6" name="s10-object35-line">
            <a:extLst>
              <a:ext uri="{FF2B5EF4-FFF2-40B4-BE49-F238E27FC236}">
                <a16:creationId xmlns:a16="http://schemas.microsoft.com/office/drawing/2014/main" id="{8136B55C-33CA-9250-0B46-3574682BC257}"/>
              </a:ext>
            </a:extLst>
          </p:cNvPr>
          <p:cNvCxnSpPr/>
          <p:nvPr/>
        </p:nvCxnSpPr>
        <p:spPr>
          <a:xfrm flipV="1">
            <a:off x="9090660" y="2955290"/>
            <a:ext cx="45720" cy="2286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7" name="s10-object36-line">
            <a:extLst>
              <a:ext uri="{FF2B5EF4-FFF2-40B4-BE49-F238E27FC236}">
                <a16:creationId xmlns:a16="http://schemas.microsoft.com/office/drawing/2014/main" id="{4801F65D-0114-8147-C4CB-0FDA8FAF9412}"/>
              </a:ext>
            </a:extLst>
          </p:cNvPr>
          <p:cNvCxnSpPr/>
          <p:nvPr/>
        </p:nvCxnSpPr>
        <p:spPr>
          <a:xfrm>
            <a:off x="9136380" y="2955290"/>
            <a:ext cx="8001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38" name="s10-object37-text">
            <a:extLst>
              <a:ext uri="{FF2B5EF4-FFF2-40B4-BE49-F238E27FC236}">
                <a16:creationId xmlns:a16="http://schemas.microsoft.com/office/drawing/2014/main" id="{F87253E4-1840-69A6-F89F-AB5A31CB5D96}"/>
              </a:ext>
            </a:extLst>
          </p:cNvPr>
          <p:cNvSpPr txBox="1"/>
          <p:nvPr/>
        </p:nvSpPr>
        <p:spPr>
          <a:xfrm>
            <a:off x="9423400" y="2692400"/>
            <a:ext cx="2019300" cy="990600"/>
          </a:xfrm>
          <a:prstGeom prst="rect">
            <a:avLst/>
          </a:prstGeom>
          <a:noFill/>
        </p:spPr>
        <p:txBody>
          <a:bodyPr vert="horz" wrap="square" lIns="0" tIns="0" rIns="0" bIns="0" rtlCol="0" anchor="t">
            <a:noAutofit/>
          </a:bodyPr>
          <a:lstStyle/>
          <a:p>
            <a:r>
              <a:rPr lang="en-US" sz="2100" b="1">
                <a:solidFill>
                  <a:srgbClr val="193F35"/>
                </a:solidFill>
                <a:latin typeface="Calibri" panose="020F0502020204030204" pitchFamily="34" charset="0"/>
              </a:rPr>
              <a:t>Uses of wheat
grain for food</a:t>
            </a:r>
            <a:endParaRPr lang="en-IN" sz="2100" b="1">
              <a:solidFill>
                <a:srgbClr val="193F35"/>
              </a:solidFill>
              <a:latin typeface="Calibri" panose="020F0502020204030204" pitchFamily="34" charset="0"/>
            </a:endParaRPr>
          </a:p>
        </p:txBody>
      </p:sp>
      <p:cxnSp>
        <p:nvCxnSpPr>
          <p:cNvPr id="39" name="s10-object38-line">
            <a:extLst>
              <a:ext uri="{FF2B5EF4-FFF2-40B4-BE49-F238E27FC236}">
                <a16:creationId xmlns:a16="http://schemas.microsoft.com/office/drawing/2014/main" id="{8CAD4152-F1EC-C34E-83E7-579FAB928587}"/>
              </a:ext>
            </a:extLst>
          </p:cNvPr>
          <p:cNvCxnSpPr/>
          <p:nvPr/>
        </p:nvCxnSpPr>
        <p:spPr>
          <a:xfrm>
            <a:off x="3924300" y="3111500"/>
            <a:ext cx="711200" cy="0"/>
          </a:xfrm>
          <a:prstGeom prst="line">
            <a:avLst/>
          </a:prstGeom>
          <a:ln w="20320">
            <a:solidFill>
              <a:srgbClr val="2D7257"/>
            </a:solidFill>
            <a:tailEnd type="arrow"/>
          </a:ln>
        </p:spPr>
        <p:style>
          <a:lnRef idx="2">
            <a:schemeClr val="accent1"/>
          </a:lnRef>
          <a:fillRef idx="0">
            <a:schemeClr val="accent1"/>
          </a:fillRef>
          <a:effectRef idx="1">
            <a:schemeClr val="accent1"/>
          </a:effectRef>
          <a:fontRef idx="minor">
            <a:schemeClr val="tx1"/>
          </a:fontRef>
        </p:style>
      </p:cxnSp>
      <p:cxnSp>
        <p:nvCxnSpPr>
          <p:cNvPr id="40" name="s10-object39-line">
            <a:extLst>
              <a:ext uri="{FF2B5EF4-FFF2-40B4-BE49-F238E27FC236}">
                <a16:creationId xmlns:a16="http://schemas.microsoft.com/office/drawing/2014/main" id="{FB9B00D7-7F7C-371E-FD06-414A1020BEC2}"/>
              </a:ext>
            </a:extLst>
          </p:cNvPr>
          <p:cNvCxnSpPr/>
          <p:nvPr/>
        </p:nvCxnSpPr>
        <p:spPr>
          <a:xfrm>
            <a:off x="8026400" y="3111500"/>
            <a:ext cx="723900" cy="0"/>
          </a:xfrm>
          <a:prstGeom prst="line">
            <a:avLst/>
          </a:prstGeom>
          <a:ln w="20320">
            <a:solidFill>
              <a:srgbClr val="2D7257"/>
            </a:solidFill>
            <a:tailEnd type="arrow"/>
          </a:ln>
        </p:spPr>
        <p:style>
          <a:lnRef idx="2">
            <a:schemeClr val="accent1"/>
          </a:lnRef>
          <a:fillRef idx="0">
            <a:schemeClr val="accent1"/>
          </a:fillRef>
          <a:effectRef idx="1">
            <a:schemeClr val="accent1"/>
          </a:effectRef>
          <a:fontRef idx="minor">
            <a:schemeClr val="tx1"/>
          </a:fontRef>
        </p:style>
      </p:cxnSp>
      <p:sp>
        <p:nvSpPr>
          <p:cNvPr id="41" name="s10-object40-text">
            <a:extLst>
              <a:ext uri="{FF2B5EF4-FFF2-40B4-BE49-F238E27FC236}">
                <a16:creationId xmlns:a16="http://schemas.microsoft.com/office/drawing/2014/main" id="{794948DF-CA33-8F95-D504-5D96FE573FED}"/>
              </a:ext>
            </a:extLst>
          </p:cNvPr>
          <p:cNvSpPr txBox="1"/>
          <p:nvPr/>
        </p:nvSpPr>
        <p:spPr>
          <a:xfrm>
            <a:off x="3708400" y="3949700"/>
            <a:ext cx="1473200" cy="317500"/>
          </a:xfrm>
          <a:prstGeom prst="rect">
            <a:avLst/>
          </a:prstGeom>
          <a:noFill/>
        </p:spPr>
        <p:txBody>
          <a:bodyPr vert="horz" wrap="square" lIns="0" tIns="0" rIns="0" bIns="0" rtlCol="0" anchor="t">
            <a:noAutofit/>
          </a:bodyPr>
          <a:lstStyle/>
          <a:p>
            <a:pPr algn="ctr"/>
            <a:r>
              <a:rPr lang="en-IN" sz="1500">
                <a:solidFill>
                  <a:srgbClr val="2D7257"/>
                </a:solidFill>
                <a:latin typeface="Calibri" panose="020F0502020204030204" pitchFamily="34" charset="0"/>
              </a:rPr>
              <a:t>may contain</a:t>
            </a:r>
          </a:p>
        </p:txBody>
      </p:sp>
      <p:sp>
        <p:nvSpPr>
          <p:cNvPr id="42" name="s10-object41-text">
            <a:extLst>
              <a:ext uri="{FF2B5EF4-FFF2-40B4-BE49-F238E27FC236}">
                <a16:creationId xmlns:a16="http://schemas.microsoft.com/office/drawing/2014/main" id="{F4F2B81F-5134-4F22-EFA5-38DEF8650B6B}"/>
              </a:ext>
            </a:extLst>
          </p:cNvPr>
          <p:cNvSpPr txBox="1"/>
          <p:nvPr/>
        </p:nvSpPr>
        <p:spPr>
          <a:xfrm>
            <a:off x="7797800" y="3949700"/>
            <a:ext cx="1397000" cy="317500"/>
          </a:xfrm>
          <a:prstGeom prst="rect">
            <a:avLst/>
          </a:prstGeom>
          <a:noFill/>
        </p:spPr>
        <p:txBody>
          <a:bodyPr vert="horz" wrap="square" lIns="0" tIns="0" rIns="0" bIns="0" rtlCol="0" anchor="t">
            <a:noAutofit/>
          </a:bodyPr>
          <a:lstStyle/>
          <a:p>
            <a:pPr algn="ctr"/>
            <a:r>
              <a:rPr lang="en-IN" sz="1500">
                <a:solidFill>
                  <a:srgbClr val="2D7257"/>
                </a:solidFill>
                <a:latin typeface="Calibri" panose="020F0502020204030204" pitchFamily="34" charset="0"/>
              </a:rPr>
              <a:t>reduces</a:t>
            </a:r>
          </a:p>
        </p:txBody>
      </p:sp>
      <p:sp>
        <p:nvSpPr>
          <p:cNvPr id="43" name="s10-object42-text">
            <a:extLst>
              <a:ext uri="{FF2B5EF4-FFF2-40B4-BE49-F238E27FC236}">
                <a16:creationId xmlns:a16="http://schemas.microsoft.com/office/drawing/2014/main" id="{5ED50901-ED3D-E45E-1037-3002DC795327}"/>
              </a:ext>
            </a:extLst>
          </p:cNvPr>
          <p:cNvSpPr txBox="1"/>
          <p:nvPr/>
        </p:nvSpPr>
        <p:spPr>
          <a:xfrm>
            <a:off x="609600" y="4673600"/>
            <a:ext cx="5715000" cy="381000"/>
          </a:xfrm>
          <a:prstGeom prst="rect">
            <a:avLst/>
          </a:prstGeom>
          <a:noFill/>
        </p:spPr>
        <p:txBody>
          <a:bodyPr vert="horz" wrap="square" lIns="0" tIns="0" rIns="0" bIns="0" rtlCol="0" anchor="t">
            <a:noAutofit/>
          </a:bodyPr>
          <a:lstStyle/>
          <a:p>
            <a:r>
              <a:rPr lang="en-US" b="1">
                <a:solidFill>
                  <a:srgbClr val="2D7257"/>
                </a:solidFill>
                <a:latin typeface="Calibri" panose="020F0502020204030204" pitchFamily="34" charset="0"/>
              </a:rPr>
              <a:t>Claim 1: independent supporting evidence</a:t>
            </a:r>
            <a:endParaRPr lang="en-IN" b="1">
              <a:solidFill>
                <a:srgbClr val="2D7257"/>
              </a:solidFill>
              <a:latin typeface="Calibri" panose="020F0502020204030204" pitchFamily="34" charset="0"/>
            </a:endParaRPr>
          </a:p>
        </p:txBody>
      </p:sp>
      <p:sp>
        <p:nvSpPr>
          <p:cNvPr id="44" name="s10-object43-text">
            <a:extLst>
              <a:ext uri="{FF2B5EF4-FFF2-40B4-BE49-F238E27FC236}">
                <a16:creationId xmlns:a16="http://schemas.microsoft.com/office/drawing/2014/main" id="{6F08877E-2B7C-1320-C823-B605D07E1826}"/>
              </a:ext>
            </a:extLst>
          </p:cNvPr>
          <p:cNvSpPr txBox="1"/>
          <p:nvPr/>
        </p:nvSpPr>
        <p:spPr>
          <a:xfrm>
            <a:off x="609600" y="5168900"/>
            <a:ext cx="10972800" cy="431800"/>
          </a:xfrm>
          <a:prstGeom prst="rect">
            <a:avLst/>
          </a:prstGeom>
          <a:noFill/>
        </p:spPr>
        <p:txBody>
          <a:bodyPr vert="horz" wrap="square" lIns="0" tIns="0" rIns="0" bIns="0" rtlCol="0" anchor="t">
            <a:noAutofit/>
          </a:bodyPr>
          <a:lstStyle/>
          <a:p>
            <a:r>
              <a:rPr lang="en-US" b="1">
                <a:solidFill>
                  <a:srgbClr val="AE644E"/>
                </a:solidFill>
                <a:latin typeface="Calibri" panose="020F0502020204030204" pitchFamily="34" charset="0"/>
              </a:rPr>
              <a:t>Claim 2: source-grounded; external review required</a:t>
            </a:r>
            <a:endParaRPr lang="en-IN" b="1">
              <a:solidFill>
                <a:srgbClr val="AE644E"/>
              </a:solidFill>
              <a:latin typeface="Calibri" panose="020F0502020204030204" pitchFamily="34" charset="0"/>
            </a:endParaRPr>
          </a:p>
        </p:txBody>
      </p:sp>
      <p:sp>
        <p:nvSpPr>
          <p:cNvPr id="45" name="s10-object44-text">
            <a:extLst>
              <a:ext uri="{FF2B5EF4-FFF2-40B4-BE49-F238E27FC236}">
                <a16:creationId xmlns:a16="http://schemas.microsoft.com/office/drawing/2014/main" id="{1B006ADD-B9CB-3A9D-B71B-227E8FF47BBE}"/>
              </a:ext>
            </a:extLst>
          </p:cNvPr>
          <p:cNvSpPr txBox="1"/>
          <p:nvPr/>
        </p:nvSpPr>
        <p:spPr>
          <a:xfrm>
            <a:off x="609600" y="5918200"/>
            <a:ext cx="10972800" cy="508000"/>
          </a:xfrm>
          <a:prstGeom prst="rect">
            <a:avLst/>
          </a:prstGeom>
          <a:noFill/>
        </p:spPr>
        <p:txBody>
          <a:bodyPr vert="horz" wrap="square" lIns="0" tIns="0" rIns="0" bIns="0" rtlCol="0" anchor="t">
            <a:noAutofit/>
          </a:bodyPr>
          <a:lstStyle/>
          <a:p>
            <a:r>
              <a:rPr lang="en-US" sz="1600">
                <a:solidFill>
                  <a:srgbClr val="62756A"/>
                </a:solidFill>
                <a:latin typeface="Calibri" panose="020F0502020204030204" pitchFamily="34" charset="0"/>
              </a:rPr>
              <a:t>Related claims are grouped for assessment; every edge keeps its own evidence status.</a:t>
            </a:r>
            <a:endParaRPr lang="en-IN" sz="1600">
              <a:solidFill>
                <a:srgbClr val="62756A"/>
              </a:solidFill>
              <a:latin typeface="Calibri" panose="020F0502020204030204" pitchFamily="34" charset="0"/>
            </a:endParaRPr>
          </a:p>
        </p:txBody>
      </p:sp>
      <p:sp>
        <p:nvSpPr>
          <p:cNvPr id="46" name="s10-object45-text">
            <a:extLst>
              <a:ext uri="{FF2B5EF4-FFF2-40B4-BE49-F238E27FC236}">
                <a16:creationId xmlns:a16="http://schemas.microsoft.com/office/drawing/2014/main" id="{343255F4-17C9-920E-397A-9FBA2A014E9B}"/>
              </a:ext>
            </a:extLst>
          </p:cNvPr>
          <p:cNvSpPr txBox="1"/>
          <p:nvPr/>
        </p:nvSpPr>
        <p:spPr>
          <a:xfrm>
            <a:off x="609600" y="2032000"/>
            <a:ext cx="10972800" cy="317500"/>
          </a:xfrm>
          <a:prstGeom prst="rect">
            <a:avLst/>
          </a:prstGeom>
          <a:noFill/>
        </p:spPr>
        <p:txBody>
          <a:bodyPr vert="horz" wrap="square" lIns="0" tIns="0" rIns="0" bIns="0" rtlCol="0" anchor="t">
            <a:noAutofit/>
          </a:bodyPr>
          <a:lstStyle/>
          <a:p>
            <a:r>
              <a:rPr lang="en-US" sz="1600">
                <a:solidFill>
                  <a:srgbClr val="2D7257"/>
                </a:solidFill>
                <a:latin typeface="Calibri" panose="020F0502020204030204" pitchFamily="34" charset="0"/>
              </a:rPr>
              <a:t>MiMo Flash aligns entities across saved papers; the code connects the claim edges.</a:t>
            </a:r>
            <a:endParaRPr lang="en-IN" sz="1600">
              <a:solidFill>
                <a:srgbClr val="2D7257"/>
              </a:solidFill>
              <a:latin typeface="Calibri" panose="020F0502020204030204" pitchFamily="34" charset="0"/>
            </a:endParaRPr>
          </a:p>
        </p:txBody>
      </p:sp>
      <p:sp>
        <p:nvSpPr>
          <p:cNvPr id="47" name="s10-object46-text">
            <a:extLst>
              <a:ext uri="{FF2B5EF4-FFF2-40B4-BE49-F238E27FC236}">
                <a16:creationId xmlns:a16="http://schemas.microsoft.com/office/drawing/2014/main" id="{C1FDA5A1-60E5-2350-DBED-F32A97C8A752}"/>
              </a:ext>
            </a:extLst>
          </p:cNvPr>
          <p:cNvSpPr txBox="1"/>
          <p:nvPr/>
        </p:nvSpPr>
        <p:spPr>
          <a:xfrm>
            <a:off x="609600" y="4368800"/>
            <a:ext cx="10972800" cy="228600"/>
          </a:xfrm>
          <a:prstGeom prst="rect">
            <a:avLst/>
          </a:prstGeom>
          <a:noFill/>
        </p:spPr>
        <p:txBody>
          <a:bodyPr vert="horz" wrap="square" lIns="0" tIns="0" rIns="0" bIns="0" rtlCol="0" anchor="t">
            <a:noAutofit/>
          </a:bodyPr>
          <a:lstStyle/>
          <a:p>
            <a:r>
              <a:rPr lang="en-US" sz="1000" b="1">
                <a:solidFill>
                  <a:srgbClr val="62756A"/>
                </a:solidFill>
                <a:latin typeface="Calibri" panose="020F0502020204030204" pitchFamily="34" charset="0"/>
              </a:rPr>
              <a:t>SAVED CASE-STUDY STATUSES AFTER EXTERNAL ASSESSMENT</a:t>
            </a:r>
            <a:endParaRPr lang="en-IN" sz="1000" b="1">
              <a:solidFill>
                <a:srgbClr val="62756A"/>
              </a:solidFill>
              <a:latin typeface="Calibri" panose="020F0502020204030204" pitchFamily="34" charset="0"/>
            </a:endParaRPr>
          </a:p>
        </p:txBody>
      </p:sp>
    </p:spTree>
    <p:extLst>
      <p:ext uri="{BB962C8B-B14F-4D97-AF65-F5344CB8AC3E}">
        <p14:creationId xmlns:p14="http://schemas.microsoft.com/office/powerpoint/2010/main" val="2197003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CFDFB"/>
        </a:solidFill>
        <a:effectLst/>
      </p:bgPr>
    </p:bg>
    <p:spTree>
      <p:nvGrpSpPr>
        <p:cNvPr id="1" name=""/>
        <p:cNvGrpSpPr/>
        <p:nvPr/>
      </p:nvGrpSpPr>
      <p:grpSpPr>
        <a:xfrm>
          <a:off x="0" y="0"/>
          <a:ext cx="0" cy="0"/>
          <a:chOff x="0" y="0"/>
          <a:chExt cx="0" cy="0"/>
        </a:xfrm>
      </p:grpSpPr>
      <p:sp>
        <p:nvSpPr>
          <p:cNvPr id="2" name="s11-object1-text">
            <a:extLst>
              <a:ext uri="{FF2B5EF4-FFF2-40B4-BE49-F238E27FC236}">
                <a16:creationId xmlns:a16="http://schemas.microsoft.com/office/drawing/2014/main" id="{43E6806A-68FD-09B5-A20E-4A8FF4BC996D}"/>
              </a:ext>
            </a:extLst>
          </p:cNvPr>
          <p:cNvSpPr txBox="1"/>
          <p:nvPr/>
        </p:nvSpPr>
        <p:spPr>
          <a:xfrm>
            <a:off x="609600" y="304800"/>
            <a:ext cx="10972800" cy="228600"/>
          </a:xfrm>
          <a:prstGeom prst="rect">
            <a:avLst/>
          </a:prstGeom>
          <a:noFill/>
        </p:spPr>
        <p:txBody>
          <a:bodyPr vert="horz" wrap="square" lIns="0" tIns="0" rIns="0" bIns="0" rtlCol="0" anchor="t">
            <a:noAutofit/>
          </a:bodyPr>
          <a:lstStyle/>
          <a:p>
            <a:r>
              <a:rPr lang="en-US" sz="1000" b="1">
                <a:solidFill>
                  <a:srgbClr val="2D7257"/>
                </a:solidFill>
                <a:latin typeface="Calibri" panose="020F0502020204030204" pitchFamily="34" charset="0"/>
              </a:rPr>
              <a:t>STAGE 5  /  QUERY PLANNING · MIMO FLASH</a:t>
            </a:r>
            <a:endParaRPr lang="en-IN" sz="1000" b="1">
              <a:solidFill>
                <a:srgbClr val="2D7257"/>
              </a:solidFill>
              <a:latin typeface="Calibri" panose="020F0502020204030204" pitchFamily="34" charset="0"/>
            </a:endParaRPr>
          </a:p>
        </p:txBody>
      </p:sp>
      <p:sp>
        <p:nvSpPr>
          <p:cNvPr id="3" name="s11-object2-text">
            <a:extLst>
              <a:ext uri="{FF2B5EF4-FFF2-40B4-BE49-F238E27FC236}">
                <a16:creationId xmlns:a16="http://schemas.microsoft.com/office/drawing/2014/main" id="{CEBB3A8B-E174-C68B-B905-DCC628A015AB}"/>
              </a:ext>
            </a:extLst>
          </p:cNvPr>
          <p:cNvSpPr txBox="1"/>
          <p:nvPr/>
        </p:nvSpPr>
        <p:spPr>
          <a:xfrm>
            <a:off x="609600" y="647700"/>
            <a:ext cx="10972800" cy="622300"/>
          </a:xfrm>
          <a:prstGeom prst="rect">
            <a:avLst/>
          </a:prstGeom>
          <a:noFill/>
        </p:spPr>
        <p:txBody>
          <a:bodyPr vert="horz" wrap="square" lIns="0" tIns="0" rIns="0" bIns="0" rtlCol="0" anchor="t">
            <a:noAutofit/>
          </a:bodyPr>
          <a:lstStyle/>
          <a:p>
            <a:r>
              <a:rPr lang="en-US" sz="3000" b="1">
                <a:solidFill>
                  <a:srgbClr val="193F35"/>
                </a:solidFill>
                <a:latin typeface="Calibri" panose="020F0502020204030204" pitchFamily="34" charset="0"/>
              </a:rPr>
              <a:t>Literature queries and paper discovery</a:t>
            </a:r>
            <a:endParaRPr lang="en-IN" sz="3000" b="1">
              <a:solidFill>
                <a:srgbClr val="193F35"/>
              </a:solidFill>
              <a:latin typeface="Calibri" panose="020F0502020204030204" pitchFamily="34" charset="0"/>
            </a:endParaRPr>
          </a:p>
        </p:txBody>
      </p:sp>
      <p:sp>
        <p:nvSpPr>
          <p:cNvPr id="4" name="s11-object3-text">
            <a:extLst>
              <a:ext uri="{FF2B5EF4-FFF2-40B4-BE49-F238E27FC236}">
                <a16:creationId xmlns:a16="http://schemas.microsoft.com/office/drawing/2014/main" id="{C9B5FB19-A6EC-E3D2-0D51-2995C1B95D95}"/>
              </a:ext>
            </a:extLst>
          </p:cNvPr>
          <p:cNvSpPr txBox="1"/>
          <p:nvPr/>
        </p:nvSpPr>
        <p:spPr>
          <a:xfrm>
            <a:off x="609600" y="1346200"/>
            <a:ext cx="10972800" cy="609600"/>
          </a:xfrm>
          <a:prstGeom prst="rect">
            <a:avLst/>
          </a:prstGeom>
          <a:noFill/>
        </p:spPr>
        <p:txBody>
          <a:bodyPr vert="horz" wrap="square" lIns="0" tIns="0" rIns="0" bIns="0" rtlCol="0" anchor="t">
            <a:noAutofit/>
          </a:bodyPr>
          <a:lstStyle/>
          <a:p>
            <a:r>
              <a:rPr lang="en-US" sz="1700">
                <a:solidFill>
                  <a:srgbClr val="2D7257"/>
                </a:solidFill>
                <a:latin typeface="Calibri" panose="020F0502020204030204" pitchFamily="34" charset="0"/>
              </a:rPr>
              <a:t>Purpose: Find studies that can test the claim, including the papers cited by its source.</a:t>
            </a:r>
            <a:endParaRPr lang="en-IN" sz="1700">
              <a:solidFill>
                <a:srgbClr val="2D7257"/>
              </a:solidFill>
              <a:latin typeface="Calibri" panose="020F0502020204030204" pitchFamily="34" charset="0"/>
            </a:endParaRPr>
          </a:p>
        </p:txBody>
      </p:sp>
      <p:cxnSp>
        <p:nvCxnSpPr>
          <p:cNvPr id="5" name="s11-object4-line">
            <a:extLst>
              <a:ext uri="{FF2B5EF4-FFF2-40B4-BE49-F238E27FC236}">
                <a16:creationId xmlns:a16="http://schemas.microsoft.com/office/drawing/2014/main" id="{2CE76DD8-BBB4-6B7A-C28D-36BBA1F6E4F5}"/>
              </a:ext>
            </a:extLst>
          </p:cNvPr>
          <p:cNvCxnSpPr/>
          <p:nvPr/>
        </p:nvCxnSpPr>
        <p:spPr>
          <a:xfrm>
            <a:off x="609600" y="6477000"/>
            <a:ext cx="10972800" cy="0"/>
          </a:xfrm>
          <a:prstGeom prst="line">
            <a:avLst/>
          </a:prstGeom>
          <a:ln w="16510">
            <a:solidFill>
              <a:srgbClr val="D7E3DA"/>
            </a:solidFill>
          </a:ln>
        </p:spPr>
        <p:style>
          <a:lnRef idx="2">
            <a:schemeClr val="accent1"/>
          </a:lnRef>
          <a:fillRef idx="0">
            <a:schemeClr val="accent1"/>
          </a:fillRef>
          <a:effectRef idx="1">
            <a:schemeClr val="accent1"/>
          </a:effectRef>
          <a:fontRef idx="minor">
            <a:schemeClr val="tx1"/>
          </a:fontRef>
        </p:style>
      </p:cxnSp>
      <p:sp>
        <p:nvSpPr>
          <p:cNvPr id="6" name="s11-object5-text">
            <a:extLst>
              <a:ext uri="{FF2B5EF4-FFF2-40B4-BE49-F238E27FC236}">
                <a16:creationId xmlns:a16="http://schemas.microsoft.com/office/drawing/2014/main" id="{C5D41AB3-861F-6B8E-7DAD-7BFF5629CF44}"/>
              </a:ext>
            </a:extLst>
          </p:cNvPr>
          <p:cNvSpPr txBox="1"/>
          <p:nvPr/>
        </p:nvSpPr>
        <p:spPr>
          <a:xfrm>
            <a:off x="609600" y="6553200"/>
            <a:ext cx="8255000" cy="190500"/>
          </a:xfrm>
          <a:prstGeom prst="rect">
            <a:avLst/>
          </a:prstGeom>
          <a:noFill/>
        </p:spPr>
        <p:txBody>
          <a:bodyPr vert="horz" wrap="square" lIns="0" tIns="0" rIns="0" bIns="0" rtlCol="0" anchor="t">
            <a:noAutofit/>
          </a:bodyPr>
          <a:lstStyle/>
          <a:p>
            <a:r>
              <a:rPr lang="en-US" sz="900">
                <a:solidFill>
                  <a:srgbClr val="62756A"/>
                </a:solidFill>
                <a:latin typeface="Calibri" panose="020F0502020204030204" pitchFamily="34" charset="0"/>
              </a:rPr>
              <a:t>Reasoning with Food Knowledge Graphs</a:t>
            </a:r>
            <a:endParaRPr lang="en-IN" sz="900">
              <a:solidFill>
                <a:srgbClr val="62756A"/>
              </a:solidFill>
              <a:latin typeface="Calibri" panose="020F0502020204030204" pitchFamily="34" charset="0"/>
            </a:endParaRPr>
          </a:p>
        </p:txBody>
      </p:sp>
      <p:sp>
        <p:nvSpPr>
          <p:cNvPr id="7" name="s11-object6-text">
            <a:extLst>
              <a:ext uri="{FF2B5EF4-FFF2-40B4-BE49-F238E27FC236}">
                <a16:creationId xmlns:a16="http://schemas.microsoft.com/office/drawing/2014/main" id="{243A3DF3-5CD4-F5D5-6E4A-3710F77C77FD}"/>
              </a:ext>
            </a:extLst>
          </p:cNvPr>
          <p:cNvSpPr txBox="1"/>
          <p:nvPr/>
        </p:nvSpPr>
        <p:spPr>
          <a:xfrm>
            <a:off x="11049000" y="6553200"/>
            <a:ext cx="533400" cy="190500"/>
          </a:xfrm>
          <a:prstGeom prst="rect">
            <a:avLst/>
          </a:prstGeom>
          <a:noFill/>
        </p:spPr>
        <p:txBody>
          <a:bodyPr vert="horz" wrap="square" lIns="0" tIns="0" rIns="0" bIns="0" rtlCol="0" anchor="t">
            <a:noAutofit/>
          </a:bodyPr>
          <a:lstStyle/>
          <a:p>
            <a:pPr algn="r"/>
            <a:r>
              <a:rPr lang="en-IN" sz="900">
                <a:solidFill>
                  <a:srgbClr val="62756A"/>
                </a:solidFill>
                <a:latin typeface="Calibri" panose="020F0502020204030204" pitchFamily="34" charset="0"/>
              </a:rPr>
              <a:t>11</a:t>
            </a:r>
          </a:p>
        </p:txBody>
      </p:sp>
      <p:sp>
        <p:nvSpPr>
          <p:cNvPr id="8" name="s11-object7-text">
            <a:extLst>
              <a:ext uri="{FF2B5EF4-FFF2-40B4-BE49-F238E27FC236}">
                <a16:creationId xmlns:a16="http://schemas.microsoft.com/office/drawing/2014/main" id="{194396B3-F8A2-E594-1048-491DA7A25BE1}"/>
              </a:ext>
            </a:extLst>
          </p:cNvPr>
          <p:cNvSpPr txBox="1"/>
          <p:nvPr/>
        </p:nvSpPr>
        <p:spPr>
          <a:xfrm>
            <a:off x="609600" y="2260600"/>
            <a:ext cx="4889500" cy="254000"/>
          </a:xfrm>
          <a:prstGeom prst="rect">
            <a:avLst/>
          </a:prstGeom>
          <a:noFill/>
        </p:spPr>
        <p:txBody>
          <a:bodyPr vert="horz" wrap="square" lIns="0" tIns="0" rIns="0" bIns="0" rtlCol="0" anchor="t">
            <a:noAutofit/>
          </a:bodyPr>
          <a:lstStyle/>
          <a:p>
            <a:r>
              <a:rPr lang="en-IN" sz="1200" b="1">
                <a:solidFill>
                  <a:srgbClr val="2D7257"/>
                </a:solidFill>
                <a:latin typeface="Calibri" panose="020F0502020204030204" pitchFamily="34" charset="0"/>
              </a:rPr>
              <a:t>WHAT HAPPENS</a:t>
            </a:r>
          </a:p>
        </p:txBody>
      </p:sp>
      <p:sp>
        <p:nvSpPr>
          <p:cNvPr id="9" name="s11-object8-text">
            <a:extLst>
              <a:ext uri="{FF2B5EF4-FFF2-40B4-BE49-F238E27FC236}">
                <a16:creationId xmlns:a16="http://schemas.microsoft.com/office/drawing/2014/main" id="{ED9D3C32-40B2-46CC-EC0E-4839B5DAB8FF}"/>
              </a:ext>
            </a:extLst>
          </p:cNvPr>
          <p:cNvSpPr txBox="1"/>
          <p:nvPr/>
        </p:nvSpPr>
        <p:spPr>
          <a:xfrm>
            <a:off x="609600" y="2628900"/>
            <a:ext cx="4889500" cy="1092200"/>
          </a:xfrm>
          <a:prstGeom prst="rect">
            <a:avLst/>
          </a:prstGeom>
          <a:noFill/>
        </p:spPr>
        <p:txBody>
          <a:bodyPr vert="horz" wrap="square" lIns="0" tIns="0" rIns="0" bIns="0" rtlCol="0" anchor="t">
            <a:noAutofit/>
          </a:bodyPr>
          <a:lstStyle/>
          <a:p>
            <a:r>
              <a:rPr lang="en-US">
                <a:solidFill>
                  <a:srgbClr val="193F35"/>
                </a:solidFill>
                <a:latin typeface="Calibri" panose="020F0502020204030204" pitchFamily="34" charset="0"/>
              </a:rPr>
              <a:t>MiMo Flash translates the claim and its conditions into complementary literature searches.</a:t>
            </a:r>
            <a:endParaRPr lang="en-IN">
              <a:solidFill>
                <a:srgbClr val="193F35"/>
              </a:solidFill>
              <a:latin typeface="Calibri" panose="020F0502020204030204" pitchFamily="34" charset="0"/>
            </a:endParaRPr>
          </a:p>
        </p:txBody>
      </p:sp>
      <p:sp>
        <p:nvSpPr>
          <p:cNvPr id="10" name="s11-object9-text">
            <a:extLst>
              <a:ext uri="{FF2B5EF4-FFF2-40B4-BE49-F238E27FC236}">
                <a16:creationId xmlns:a16="http://schemas.microsoft.com/office/drawing/2014/main" id="{C59A08AF-FCBA-15AA-0F32-C5548B425FC2}"/>
              </a:ext>
            </a:extLst>
          </p:cNvPr>
          <p:cNvSpPr txBox="1"/>
          <p:nvPr/>
        </p:nvSpPr>
        <p:spPr>
          <a:xfrm>
            <a:off x="609600" y="3924300"/>
            <a:ext cx="4889500" cy="1079500"/>
          </a:xfrm>
          <a:prstGeom prst="rect">
            <a:avLst/>
          </a:prstGeom>
          <a:noFill/>
        </p:spPr>
        <p:txBody>
          <a:bodyPr vert="horz" wrap="square" lIns="0" tIns="0" rIns="0" bIns="0" rtlCol="0" anchor="t">
            <a:noAutofit/>
          </a:bodyPr>
          <a:lstStyle/>
          <a:p>
            <a:r>
              <a:rPr lang="en-US">
                <a:solidFill>
                  <a:srgbClr val="193F35"/>
                </a:solidFill>
                <a:latin typeface="Calibri" panose="020F0502020204030204" pitchFamily="34" charset="0"/>
              </a:rPr>
              <a:t>Search Europe PMC and OpenAlex. Also resolve references attached to the original source passage.</a:t>
            </a:r>
            <a:endParaRPr lang="en-IN">
              <a:solidFill>
                <a:srgbClr val="193F35"/>
              </a:solidFill>
              <a:latin typeface="Calibri" panose="020F0502020204030204" pitchFamily="34" charset="0"/>
            </a:endParaRPr>
          </a:p>
        </p:txBody>
      </p:sp>
      <p:sp>
        <p:nvSpPr>
          <p:cNvPr id="11" name="s11-object10-text">
            <a:extLst>
              <a:ext uri="{FF2B5EF4-FFF2-40B4-BE49-F238E27FC236}">
                <a16:creationId xmlns:a16="http://schemas.microsoft.com/office/drawing/2014/main" id="{9719CCAE-32B9-19C3-5F9F-46E378C6F47D}"/>
              </a:ext>
            </a:extLst>
          </p:cNvPr>
          <p:cNvSpPr txBox="1"/>
          <p:nvPr/>
        </p:nvSpPr>
        <p:spPr>
          <a:xfrm>
            <a:off x="609600" y="5194300"/>
            <a:ext cx="4889500" cy="254000"/>
          </a:xfrm>
          <a:prstGeom prst="rect">
            <a:avLst/>
          </a:prstGeom>
          <a:noFill/>
        </p:spPr>
        <p:txBody>
          <a:bodyPr vert="horz" wrap="square" lIns="0" tIns="0" rIns="0" bIns="0" rtlCol="0" anchor="t">
            <a:noAutofit/>
          </a:bodyPr>
          <a:lstStyle/>
          <a:p>
            <a:r>
              <a:rPr lang="en-IN" sz="1200" b="1">
                <a:solidFill>
                  <a:srgbClr val="2D7257"/>
                </a:solidFill>
                <a:latin typeface="Calibri" panose="020F0502020204030204" pitchFamily="34" charset="0"/>
              </a:rPr>
              <a:t>OUTPUT</a:t>
            </a:r>
          </a:p>
        </p:txBody>
      </p:sp>
      <p:sp>
        <p:nvSpPr>
          <p:cNvPr id="12" name="s11-object11-text">
            <a:extLst>
              <a:ext uri="{FF2B5EF4-FFF2-40B4-BE49-F238E27FC236}">
                <a16:creationId xmlns:a16="http://schemas.microsoft.com/office/drawing/2014/main" id="{0F6D6A3E-1A38-196E-3731-A222BFB5D857}"/>
              </a:ext>
            </a:extLst>
          </p:cNvPr>
          <p:cNvSpPr txBox="1"/>
          <p:nvPr/>
        </p:nvSpPr>
        <p:spPr>
          <a:xfrm>
            <a:off x="609600" y="5549900"/>
            <a:ext cx="4889500" cy="787400"/>
          </a:xfrm>
          <a:prstGeom prst="rect">
            <a:avLst/>
          </a:prstGeom>
          <a:noFill/>
        </p:spPr>
        <p:txBody>
          <a:bodyPr vert="horz" wrap="square" lIns="0" tIns="0" rIns="0" bIns="0" rtlCol="0" anchor="t">
            <a:noAutofit/>
          </a:bodyPr>
          <a:lstStyle/>
          <a:p>
            <a:r>
              <a:rPr lang="en-US" sz="1700">
                <a:solidFill>
                  <a:srgbClr val="62756A"/>
                </a:solidFill>
                <a:latin typeface="Calibri" panose="020F0502020204030204" pitchFamily="34" charset="0"/>
              </a:rPr>
              <a:t>Candidate article metadata, with cited and independent origins kept separate.</a:t>
            </a:r>
            <a:endParaRPr lang="en-IN" sz="1700">
              <a:solidFill>
                <a:srgbClr val="62756A"/>
              </a:solidFill>
              <a:latin typeface="Calibri" panose="020F0502020204030204" pitchFamily="34" charset="0"/>
            </a:endParaRPr>
          </a:p>
        </p:txBody>
      </p:sp>
      <p:sp>
        <p:nvSpPr>
          <p:cNvPr id="13" name="s11-object12-text">
            <a:extLst>
              <a:ext uri="{FF2B5EF4-FFF2-40B4-BE49-F238E27FC236}">
                <a16:creationId xmlns:a16="http://schemas.microsoft.com/office/drawing/2014/main" id="{0971150E-A886-84E3-3DB9-6F6C6D8D2551}"/>
              </a:ext>
            </a:extLst>
          </p:cNvPr>
          <p:cNvSpPr txBox="1"/>
          <p:nvPr/>
        </p:nvSpPr>
        <p:spPr>
          <a:xfrm>
            <a:off x="6146800" y="2260600"/>
            <a:ext cx="5435600" cy="254000"/>
          </a:xfrm>
          <a:prstGeom prst="rect">
            <a:avLst/>
          </a:prstGeom>
          <a:noFill/>
        </p:spPr>
        <p:txBody>
          <a:bodyPr vert="horz" wrap="square" lIns="0" tIns="0" rIns="0" bIns="0" rtlCol="0" anchor="t">
            <a:noAutofit/>
          </a:bodyPr>
          <a:lstStyle/>
          <a:p>
            <a:r>
              <a:rPr lang="en-IN" sz="1200" b="1">
                <a:solidFill>
                  <a:srgbClr val="2D7257"/>
                </a:solidFill>
                <a:latin typeface="Calibri" panose="020F0502020204030204" pitchFamily="34" charset="0"/>
              </a:rPr>
              <a:t>EXAMPLE: FINDING MYCOTOXIN STUDIES</a:t>
            </a:r>
          </a:p>
        </p:txBody>
      </p:sp>
      <p:sp>
        <p:nvSpPr>
          <p:cNvPr id="14" name="s11-object13-ellipse">
            <a:extLst>
              <a:ext uri="{FF2B5EF4-FFF2-40B4-BE49-F238E27FC236}">
                <a16:creationId xmlns:a16="http://schemas.microsoft.com/office/drawing/2014/main" id="{50A8832F-8856-BB55-5271-9E19FE382EA0}"/>
              </a:ext>
            </a:extLst>
          </p:cNvPr>
          <p:cNvSpPr/>
          <p:nvPr/>
        </p:nvSpPr>
        <p:spPr>
          <a:xfrm>
            <a:off x="6263640" y="2796540"/>
            <a:ext cx="223520" cy="223520"/>
          </a:xfrm>
          <a:prstGeom prst="ellipse">
            <a:avLst/>
          </a:prstGeom>
          <a:solidFill>
            <a:srgbClr val="FFFFFF"/>
          </a:solidFill>
          <a:ln w="10160">
            <a:solidFill>
              <a:srgbClr val="2D725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11-object14-line">
            <a:extLst>
              <a:ext uri="{FF2B5EF4-FFF2-40B4-BE49-F238E27FC236}">
                <a16:creationId xmlns:a16="http://schemas.microsoft.com/office/drawing/2014/main" id="{C2DD1B54-0B6A-E1F4-B51E-726B421AE64A}"/>
              </a:ext>
            </a:extLst>
          </p:cNvPr>
          <p:cNvCxnSpPr/>
          <p:nvPr/>
        </p:nvCxnSpPr>
        <p:spPr>
          <a:xfrm>
            <a:off x="6459220" y="2992120"/>
            <a:ext cx="125730" cy="12573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16" name="s11-object15-text">
            <a:extLst>
              <a:ext uri="{FF2B5EF4-FFF2-40B4-BE49-F238E27FC236}">
                <a16:creationId xmlns:a16="http://schemas.microsoft.com/office/drawing/2014/main" id="{0A6F677A-4B4E-F99A-4B54-7A7023C51B9E}"/>
              </a:ext>
            </a:extLst>
          </p:cNvPr>
          <p:cNvSpPr txBox="1"/>
          <p:nvPr/>
        </p:nvSpPr>
        <p:spPr>
          <a:xfrm>
            <a:off x="6769100" y="2743200"/>
            <a:ext cx="4635500" cy="927100"/>
          </a:xfrm>
          <a:prstGeom prst="rect">
            <a:avLst/>
          </a:prstGeom>
          <a:noFill/>
        </p:spPr>
        <p:txBody>
          <a:bodyPr vert="horz" wrap="square" lIns="0" tIns="0" rIns="0" bIns="0" rtlCol="0" anchor="t">
            <a:noAutofit/>
          </a:bodyPr>
          <a:lstStyle/>
          <a:p>
            <a:r>
              <a:rPr lang="en-IN" sz="2100" b="1">
                <a:solidFill>
                  <a:srgbClr val="193F35"/>
                </a:solidFill>
                <a:latin typeface="Calibri" panose="020F0502020204030204" pitchFamily="34" charset="0"/>
              </a:rPr>
              <a:t>wheat grain + Fusarium + mycotoxins</a:t>
            </a:r>
          </a:p>
        </p:txBody>
      </p:sp>
      <p:sp>
        <p:nvSpPr>
          <p:cNvPr id="17" name="s11-object16-ellipse">
            <a:extLst>
              <a:ext uri="{FF2B5EF4-FFF2-40B4-BE49-F238E27FC236}">
                <a16:creationId xmlns:a16="http://schemas.microsoft.com/office/drawing/2014/main" id="{2CC12538-01C2-89DA-6A72-D1EA524A5252}"/>
              </a:ext>
            </a:extLst>
          </p:cNvPr>
          <p:cNvSpPr/>
          <p:nvPr/>
        </p:nvSpPr>
        <p:spPr>
          <a:xfrm>
            <a:off x="6231890" y="3996690"/>
            <a:ext cx="172720" cy="172720"/>
          </a:xfrm>
          <a:prstGeom prst="ellipse">
            <a:avLst/>
          </a:prstGeom>
          <a:solidFill>
            <a:srgbClr val="FFFFFF"/>
          </a:solidFill>
          <a:ln w="10160">
            <a:solidFill>
              <a:srgbClr val="2D725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11-object17-line">
            <a:extLst>
              <a:ext uri="{FF2B5EF4-FFF2-40B4-BE49-F238E27FC236}">
                <a16:creationId xmlns:a16="http://schemas.microsoft.com/office/drawing/2014/main" id="{823E8994-0C62-59CC-6FBD-4A4D336665D0}"/>
              </a:ext>
            </a:extLst>
          </p:cNvPr>
          <p:cNvCxnSpPr/>
          <p:nvPr/>
        </p:nvCxnSpPr>
        <p:spPr>
          <a:xfrm>
            <a:off x="6383020" y="4147820"/>
            <a:ext cx="97155" cy="97155"/>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19" name="s11-object18-text">
            <a:extLst>
              <a:ext uri="{FF2B5EF4-FFF2-40B4-BE49-F238E27FC236}">
                <a16:creationId xmlns:a16="http://schemas.microsoft.com/office/drawing/2014/main" id="{D645700A-EC2F-5C9C-772B-AA9379C9E155}"/>
              </a:ext>
            </a:extLst>
          </p:cNvPr>
          <p:cNvSpPr txBox="1"/>
          <p:nvPr/>
        </p:nvSpPr>
        <p:spPr>
          <a:xfrm>
            <a:off x="6604000" y="3924300"/>
            <a:ext cx="2349500" cy="419100"/>
          </a:xfrm>
          <a:prstGeom prst="rect">
            <a:avLst/>
          </a:prstGeom>
          <a:noFill/>
        </p:spPr>
        <p:txBody>
          <a:bodyPr vert="horz" wrap="square" lIns="0" tIns="0" rIns="0" bIns="0" rtlCol="0" anchor="t">
            <a:noAutofit/>
          </a:bodyPr>
          <a:lstStyle/>
          <a:p>
            <a:r>
              <a:rPr lang="en-IN" sz="1700" b="1">
                <a:solidFill>
                  <a:srgbClr val="2D7257"/>
                </a:solidFill>
                <a:latin typeface="Calibri" panose="020F0502020204030204" pitchFamily="34" charset="0"/>
              </a:rPr>
              <a:t>Independent search</a:t>
            </a:r>
          </a:p>
        </p:txBody>
      </p:sp>
      <p:sp>
        <p:nvSpPr>
          <p:cNvPr id="20" name="s11-object19-text">
            <a:extLst>
              <a:ext uri="{FF2B5EF4-FFF2-40B4-BE49-F238E27FC236}">
                <a16:creationId xmlns:a16="http://schemas.microsoft.com/office/drawing/2014/main" id="{565E4B99-5701-8776-B763-01C33E916C7C}"/>
              </a:ext>
            </a:extLst>
          </p:cNvPr>
          <p:cNvSpPr txBox="1"/>
          <p:nvPr/>
        </p:nvSpPr>
        <p:spPr>
          <a:xfrm>
            <a:off x="6184900" y="4457700"/>
            <a:ext cx="2527300" cy="736600"/>
          </a:xfrm>
          <a:prstGeom prst="rect">
            <a:avLst/>
          </a:prstGeom>
          <a:noFill/>
        </p:spPr>
        <p:txBody>
          <a:bodyPr vert="horz" wrap="square" lIns="0" tIns="0" rIns="0" bIns="0" rtlCol="0" anchor="t">
            <a:noAutofit/>
          </a:bodyPr>
          <a:lstStyle/>
          <a:p>
            <a:r>
              <a:rPr lang="en-IN">
                <a:solidFill>
                  <a:srgbClr val="62756A"/>
                </a:solidFill>
                <a:latin typeface="Calibri" panose="020F0502020204030204" pitchFamily="34" charset="0"/>
              </a:rPr>
              <a:t>Europe PMC
OpenAlex</a:t>
            </a:r>
          </a:p>
        </p:txBody>
      </p:sp>
      <p:cxnSp>
        <p:nvCxnSpPr>
          <p:cNvPr id="21" name="s11-object20-line">
            <a:extLst>
              <a:ext uri="{FF2B5EF4-FFF2-40B4-BE49-F238E27FC236}">
                <a16:creationId xmlns:a16="http://schemas.microsoft.com/office/drawing/2014/main" id="{BCFB6CFF-BF7A-73FF-A500-DF9AE2721B00}"/>
              </a:ext>
            </a:extLst>
          </p:cNvPr>
          <p:cNvCxnSpPr/>
          <p:nvPr/>
        </p:nvCxnSpPr>
        <p:spPr>
          <a:xfrm>
            <a:off x="9142095" y="4007485"/>
            <a:ext cx="0" cy="2159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2" name="s11-object21-line">
            <a:extLst>
              <a:ext uri="{FF2B5EF4-FFF2-40B4-BE49-F238E27FC236}">
                <a16:creationId xmlns:a16="http://schemas.microsoft.com/office/drawing/2014/main" id="{537FD203-08FC-4227-DB79-F261B1500EC8}"/>
              </a:ext>
            </a:extLst>
          </p:cNvPr>
          <p:cNvCxnSpPr/>
          <p:nvPr/>
        </p:nvCxnSpPr>
        <p:spPr>
          <a:xfrm>
            <a:off x="9379585" y="4007485"/>
            <a:ext cx="0" cy="2159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3" name="s11-object22-line">
            <a:extLst>
              <a:ext uri="{FF2B5EF4-FFF2-40B4-BE49-F238E27FC236}">
                <a16:creationId xmlns:a16="http://schemas.microsoft.com/office/drawing/2014/main" id="{121C91FE-5257-ECB8-CE85-3449BF20428A}"/>
              </a:ext>
            </a:extLst>
          </p:cNvPr>
          <p:cNvCxnSpPr/>
          <p:nvPr/>
        </p:nvCxnSpPr>
        <p:spPr>
          <a:xfrm>
            <a:off x="9260840" y="4039870"/>
            <a:ext cx="0" cy="205105"/>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4" name="s11-object23-line">
            <a:extLst>
              <a:ext uri="{FF2B5EF4-FFF2-40B4-BE49-F238E27FC236}">
                <a16:creationId xmlns:a16="http://schemas.microsoft.com/office/drawing/2014/main" id="{6D899328-6433-DCB5-3D1B-E73346556ED8}"/>
              </a:ext>
            </a:extLst>
          </p:cNvPr>
          <p:cNvCxnSpPr/>
          <p:nvPr/>
        </p:nvCxnSpPr>
        <p:spPr>
          <a:xfrm>
            <a:off x="9142095" y="4007485"/>
            <a:ext cx="75565"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5" name="s11-object24-line">
            <a:extLst>
              <a:ext uri="{FF2B5EF4-FFF2-40B4-BE49-F238E27FC236}">
                <a16:creationId xmlns:a16="http://schemas.microsoft.com/office/drawing/2014/main" id="{A7A62BBF-4B98-12BD-5589-29B5FC4B8B6F}"/>
              </a:ext>
            </a:extLst>
          </p:cNvPr>
          <p:cNvCxnSpPr/>
          <p:nvPr/>
        </p:nvCxnSpPr>
        <p:spPr>
          <a:xfrm>
            <a:off x="9217660" y="4007485"/>
            <a:ext cx="43180" cy="32385"/>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6" name="s11-object25-line">
            <a:extLst>
              <a:ext uri="{FF2B5EF4-FFF2-40B4-BE49-F238E27FC236}">
                <a16:creationId xmlns:a16="http://schemas.microsoft.com/office/drawing/2014/main" id="{FC838604-569A-8AA7-D3A1-7467DFB35052}"/>
              </a:ext>
            </a:extLst>
          </p:cNvPr>
          <p:cNvCxnSpPr/>
          <p:nvPr/>
        </p:nvCxnSpPr>
        <p:spPr>
          <a:xfrm flipV="1">
            <a:off x="9260840" y="4007485"/>
            <a:ext cx="43180" cy="32385"/>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7" name="s11-object26-line">
            <a:extLst>
              <a:ext uri="{FF2B5EF4-FFF2-40B4-BE49-F238E27FC236}">
                <a16:creationId xmlns:a16="http://schemas.microsoft.com/office/drawing/2014/main" id="{4F66F4A6-F408-EFD6-80B1-10EFE409CB8E}"/>
              </a:ext>
            </a:extLst>
          </p:cNvPr>
          <p:cNvCxnSpPr/>
          <p:nvPr/>
        </p:nvCxnSpPr>
        <p:spPr>
          <a:xfrm>
            <a:off x="9304020" y="4007485"/>
            <a:ext cx="75565"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8" name="s11-object27-line">
            <a:extLst>
              <a:ext uri="{FF2B5EF4-FFF2-40B4-BE49-F238E27FC236}">
                <a16:creationId xmlns:a16="http://schemas.microsoft.com/office/drawing/2014/main" id="{A2C0B021-B8F9-3BCC-6451-BCAADBBB3A5F}"/>
              </a:ext>
            </a:extLst>
          </p:cNvPr>
          <p:cNvCxnSpPr/>
          <p:nvPr/>
        </p:nvCxnSpPr>
        <p:spPr>
          <a:xfrm>
            <a:off x="9142095" y="4223385"/>
            <a:ext cx="75565"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9" name="s11-object28-line">
            <a:extLst>
              <a:ext uri="{FF2B5EF4-FFF2-40B4-BE49-F238E27FC236}">
                <a16:creationId xmlns:a16="http://schemas.microsoft.com/office/drawing/2014/main" id="{2C541F9C-086F-A5C8-3FB8-FACC7C9C7518}"/>
              </a:ext>
            </a:extLst>
          </p:cNvPr>
          <p:cNvCxnSpPr/>
          <p:nvPr/>
        </p:nvCxnSpPr>
        <p:spPr>
          <a:xfrm>
            <a:off x="9217660" y="4223385"/>
            <a:ext cx="43180" cy="2159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0" name="s11-object29-line">
            <a:extLst>
              <a:ext uri="{FF2B5EF4-FFF2-40B4-BE49-F238E27FC236}">
                <a16:creationId xmlns:a16="http://schemas.microsoft.com/office/drawing/2014/main" id="{1AB1BA89-A13D-1D1A-2A3F-7A2C3F678034}"/>
              </a:ext>
            </a:extLst>
          </p:cNvPr>
          <p:cNvCxnSpPr/>
          <p:nvPr/>
        </p:nvCxnSpPr>
        <p:spPr>
          <a:xfrm flipV="1">
            <a:off x="9260840" y="4223385"/>
            <a:ext cx="43180" cy="2159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1" name="s11-object30-line">
            <a:extLst>
              <a:ext uri="{FF2B5EF4-FFF2-40B4-BE49-F238E27FC236}">
                <a16:creationId xmlns:a16="http://schemas.microsoft.com/office/drawing/2014/main" id="{F239EE93-6CCB-AFBF-6E82-86576DAD8FB6}"/>
              </a:ext>
            </a:extLst>
          </p:cNvPr>
          <p:cNvCxnSpPr/>
          <p:nvPr/>
        </p:nvCxnSpPr>
        <p:spPr>
          <a:xfrm>
            <a:off x="9304020" y="4223385"/>
            <a:ext cx="75565"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32" name="s11-object31-text">
            <a:extLst>
              <a:ext uri="{FF2B5EF4-FFF2-40B4-BE49-F238E27FC236}">
                <a16:creationId xmlns:a16="http://schemas.microsoft.com/office/drawing/2014/main" id="{6A4757C7-4ECE-E86B-3F84-03211BD8C482}"/>
              </a:ext>
            </a:extLst>
          </p:cNvPr>
          <p:cNvSpPr txBox="1"/>
          <p:nvPr/>
        </p:nvSpPr>
        <p:spPr>
          <a:xfrm>
            <a:off x="9525000" y="3924300"/>
            <a:ext cx="2349500" cy="419100"/>
          </a:xfrm>
          <a:prstGeom prst="rect">
            <a:avLst/>
          </a:prstGeom>
          <a:noFill/>
        </p:spPr>
        <p:txBody>
          <a:bodyPr vert="horz" wrap="square" lIns="0" tIns="0" rIns="0" bIns="0" rtlCol="0" anchor="t">
            <a:noAutofit/>
          </a:bodyPr>
          <a:lstStyle/>
          <a:p>
            <a:r>
              <a:rPr lang="en-IN" sz="1700" b="1">
                <a:solidFill>
                  <a:srgbClr val="2D7257"/>
                </a:solidFill>
                <a:latin typeface="Calibri" panose="020F0502020204030204" pitchFamily="34" charset="0"/>
              </a:rPr>
              <a:t>Source references</a:t>
            </a:r>
          </a:p>
        </p:txBody>
      </p:sp>
      <p:sp>
        <p:nvSpPr>
          <p:cNvPr id="33" name="s11-object32-text">
            <a:extLst>
              <a:ext uri="{FF2B5EF4-FFF2-40B4-BE49-F238E27FC236}">
                <a16:creationId xmlns:a16="http://schemas.microsoft.com/office/drawing/2014/main" id="{7197454E-C3BE-6981-6996-E7002C6BDAAA}"/>
              </a:ext>
            </a:extLst>
          </p:cNvPr>
          <p:cNvSpPr txBox="1"/>
          <p:nvPr/>
        </p:nvSpPr>
        <p:spPr>
          <a:xfrm>
            <a:off x="9105900" y="4457700"/>
            <a:ext cx="2527300" cy="736600"/>
          </a:xfrm>
          <a:prstGeom prst="rect">
            <a:avLst/>
          </a:prstGeom>
          <a:noFill/>
        </p:spPr>
        <p:txBody>
          <a:bodyPr vert="horz" wrap="square" lIns="0" tIns="0" rIns="0" bIns="0" rtlCol="0" anchor="t">
            <a:noAutofit/>
          </a:bodyPr>
          <a:lstStyle/>
          <a:p>
            <a:r>
              <a:rPr lang="en-IN">
                <a:solidFill>
                  <a:srgbClr val="62756A"/>
                </a:solidFill>
                <a:latin typeface="Calibri" panose="020F0502020204030204" pitchFamily="34" charset="0"/>
              </a:rPr>
              <a:t>Bibliography
DOI / Crossref</a:t>
            </a:r>
          </a:p>
        </p:txBody>
      </p:sp>
      <p:cxnSp>
        <p:nvCxnSpPr>
          <p:cNvPr id="34" name="s11-object33-line">
            <a:extLst>
              <a:ext uri="{FF2B5EF4-FFF2-40B4-BE49-F238E27FC236}">
                <a16:creationId xmlns:a16="http://schemas.microsoft.com/office/drawing/2014/main" id="{8A55D1A4-2D8D-02FC-A7E3-7F95AB0EB5F7}"/>
              </a:ext>
            </a:extLst>
          </p:cNvPr>
          <p:cNvCxnSpPr/>
          <p:nvPr/>
        </p:nvCxnSpPr>
        <p:spPr>
          <a:xfrm>
            <a:off x="7543800" y="5245100"/>
            <a:ext cx="0" cy="2794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5" name="s11-object34-line">
            <a:extLst>
              <a:ext uri="{FF2B5EF4-FFF2-40B4-BE49-F238E27FC236}">
                <a16:creationId xmlns:a16="http://schemas.microsoft.com/office/drawing/2014/main" id="{4B615FA6-8CAA-B341-E538-9F13F72F06F6}"/>
              </a:ext>
            </a:extLst>
          </p:cNvPr>
          <p:cNvCxnSpPr/>
          <p:nvPr/>
        </p:nvCxnSpPr>
        <p:spPr>
          <a:xfrm>
            <a:off x="10337800" y="5245100"/>
            <a:ext cx="0" cy="2794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6" name="s11-object35-line">
            <a:extLst>
              <a:ext uri="{FF2B5EF4-FFF2-40B4-BE49-F238E27FC236}">
                <a16:creationId xmlns:a16="http://schemas.microsoft.com/office/drawing/2014/main" id="{3499AAFF-B699-65BA-8C90-57CBD6A6D3B6}"/>
              </a:ext>
            </a:extLst>
          </p:cNvPr>
          <p:cNvCxnSpPr/>
          <p:nvPr/>
        </p:nvCxnSpPr>
        <p:spPr>
          <a:xfrm>
            <a:off x="7543800" y="5524500"/>
            <a:ext cx="279400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7" name="s11-object36-line">
            <a:extLst>
              <a:ext uri="{FF2B5EF4-FFF2-40B4-BE49-F238E27FC236}">
                <a16:creationId xmlns:a16="http://schemas.microsoft.com/office/drawing/2014/main" id="{2E1C00B8-3646-B7D4-C4BE-F5DBEF53B2EC}"/>
              </a:ext>
            </a:extLst>
          </p:cNvPr>
          <p:cNvCxnSpPr/>
          <p:nvPr/>
        </p:nvCxnSpPr>
        <p:spPr>
          <a:xfrm>
            <a:off x="8940800" y="5524500"/>
            <a:ext cx="0" cy="241300"/>
          </a:xfrm>
          <a:prstGeom prst="line">
            <a:avLst/>
          </a:prstGeom>
          <a:ln w="19050">
            <a:solidFill>
              <a:srgbClr val="2D7257"/>
            </a:solidFill>
            <a:tailEnd type="arrow"/>
          </a:ln>
        </p:spPr>
        <p:style>
          <a:lnRef idx="2">
            <a:schemeClr val="accent1"/>
          </a:lnRef>
          <a:fillRef idx="0">
            <a:schemeClr val="accent1"/>
          </a:fillRef>
          <a:effectRef idx="1">
            <a:schemeClr val="accent1"/>
          </a:effectRef>
          <a:fontRef idx="minor">
            <a:schemeClr val="tx1"/>
          </a:fontRef>
        </p:style>
      </p:cxnSp>
      <p:sp>
        <p:nvSpPr>
          <p:cNvPr id="38" name="s11-object37-text">
            <a:extLst>
              <a:ext uri="{FF2B5EF4-FFF2-40B4-BE49-F238E27FC236}">
                <a16:creationId xmlns:a16="http://schemas.microsoft.com/office/drawing/2014/main" id="{5A78B04B-5DCB-5EAE-FFD8-E220612C06D1}"/>
              </a:ext>
            </a:extLst>
          </p:cNvPr>
          <p:cNvSpPr txBox="1"/>
          <p:nvPr/>
        </p:nvSpPr>
        <p:spPr>
          <a:xfrm>
            <a:off x="6146800" y="5905500"/>
            <a:ext cx="5435600" cy="368300"/>
          </a:xfrm>
          <a:prstGeom prst="rect">
            <a:avLst/>
          </a:prstGeom>
          <a:noFill/>
        </p:spPr>
        <p:txBody>
          <a:bodyPr vert="horz" wrap="square" lIns="0" tIns="0" rIns="0" bIns="0" rtlCol="0" anchor="t">
            <a:noAutofit/>
          </a:bodyPr>
          <a:lstStyle/>
          <a:p>
            <a:pPr algn="ctr"/>
            <a:r>
              <a:rPr lang="en-IN" sz="2000" b="1">
                <a:solidFill>
                  <a:srgbClr val="2D7257"/>
                </a:solidFill>
                <a:latin typeface="Calibri" panose="020F0502020204030204" pitchFamily="34" charset="0"/>
              </a:rPr>
              <a:t>Deduplicated candidate papers</a:t>
            </a:r>
          </a:p>
        </p:txBody>
      </p:sp>
    </p:spTree>
    <p:extLst>
      <p:ext uri="{BB962C8B-B14F-4D97-AF65-F5344CB8AC3E}">
        <p14:creationId xmlns:p14="http://schemas.microsoft.com/office/powerpoint/2010/main" val="846625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FDFB"/>
        </a:solidFill>
        <a:effectLst/>
      </p:bgPr>
    </p:bg>
    <p:spTree>
      <p:nvGrpSpPr>
        <p:cNvPr id="1" name=""/>
        <p:cNvGrpSpPr/>
        <p:nvPr/>
      </p:nvGrpSpPr>
      <p:grpSpPr>
        <a:xfrm>
          <a:off x="0" y="0"/>
          <a:ext cx="0" cy="0"/>
          <a:chOff x="0" y="0"/>
          <a:chExt cx="0" cy="0"/>
        </a:xfrm>
      </p:grpSpPr>
      <p:sp>
        <p:nvSpPr>
          <p:cNvPr id="2" name="s12-object1-text">
            <a:extLst>
              <a:ext uri="{FF2B5EF4-FFF2-40B4-BE49-F238E27FC236}">
                <a16:creationId xmlns:a16="http://schemas.microsoft.com/office/drawing/2014/main" id="{023F18D3-982C-584C-CB55-61D18DAC2783}"/>
              </a:ext>
            </a:extLst>
          </p:cNvPr>
          <p:cNvSpPr txBox="1"/>
          <p:nvPr/>
        </p:nvSpPr>
        <p:spPr>
          <a:xfrm>
            <a:off x="609600" y="304800"/>
            <a:ext cx="10972800" cy="228600"/>
          </a:xfrm>
          <a:prstGeom prst="rect">
            <a:avLst/>
          </a:prstGeom>
          <a:noFill/>
        </p:spPr>
        <p:txBody>
          <a:bodyPr vert="horz" wrap="square" lIns="0" tIns="0" rIns="0" bIns="0" rtlCol="0" anchor="t">
            <a:noAutofit/>
          </a:bodyPr>
          <a:lstStyle/>
          <a:p>
            <a:r>
              <a:rPr lang="en-US" sz="1000" b="1">
                <a:solidFill>
                  <a:srgbClr val="2D7257"/>
                </a:solidFill>
                <a:latin typeface="Calibri" panose="020F0502020204030204" pitchFamily="34" charset="0"/>
              </a:rPr>
              <a:t>STAGE 6  /  ARTICLE SELECTION AND FETCHING</a:t>
            </a:r>
            <a:endParaRPr lang="en-IN" sz="1000" b="1">
              <a:solidFill>
                <a:srgbClr val="2D7257"/>
              </a:solidFill>
              <a:latin typeface="Calibri" panose="020F0502020204030204" pitchFamily="34" charset="0"/>
            </a:endParaRPr>
          </a:p>
        </p:txBody>
      </p:sp>
      <p:sp>
        <p:nvSpPr>
          <p:cNvPr id="3" name="s12-object2-text">
            <a:extLst>
              <a:ext uri="{FF2B5EF4-FFF2-40B4-BE49-F238E27FC236}">
                <a16:creationId xmlns:a16="http://schemas.microsoft.com/office/drawing/2014/main" id="{35238650-1A16-495F-2464-163B54F0E816}"/>
              </a:ext>
            </a:extLst>
          </p:cNvPr>
          <p:cNvSpPr txBox="1"/>
          <p:nvPr/>
        </p:nvSpPr>
        <p:spPr>
          <a:xfrm>
            <a:off x="609600" y="647700"/>
            <a:ext cx="10972800" cy="622300"/>
          </a:xfrm>
          <a:prstGeom prst="rect">
            <a:avLst/>
          </a:prstGeom>
          <a:noFill/>
        </p:spPr>
        <p:txBody>
          <a:bodyPr vert="horz" wrap="square" lIns="0" tIns="0" rIns="0" bIns="0" rtlCol="0" anchor="t">
            <a:noAutofit/>
          </a:bodyPr>
          <a:lstStyle/>
          <a:p>
            <a:r>
              <a:rPr lang="en-IN" sz="3000" b="1">
                <a:solidFill>
                  <a:srgbClr val="193F35"/>
                </a:solidFill>
                <a:latin typeface="Calibri" panose="020F0502020204030204" pitchFamily="34" charset="0"/>
              </a:rPr>
              <a:t>Article ranking and source retrieval</a:t>
            </a:r>
          </a:p>
        </p:txBody>
      </p:sp>
      <p:sp>
        <p:nvSpPr>
          <p:cNvPr id="4" name="s12-object3-text">
            <a:extLst>
              <a:ext uri="{FF2B5EF4-FFF2-40B4-BE49-F238E27FC236}">
                <a16:creationId xmlns:a16="http://schemas.microsoft.com/office/drawing/2014/main" id="{6C801274-B64E-96BE-C01E-E1CCECF8996E}"/>
              </a:ext>
            </a:extLst>
          </p:cNvPr>
          <p:cNvSpPr txBox="1"/>
          <p:nvPr/>
        </p:nvSpPr>
        <p:spPr>
          <a:xfrm>
            <a:off x="609600" y="1346200"/>
            <a:ext cx="10972800" cy="609600"/>
          </a:xfrm>
          <a:prstGeom prst="rect">
            <a:avLst/>
          </a:prstGeom>
          <a:noFill/>
        </p:spPr>
        <p:txBody>
          <a:bodyPr vert="horz" wrap="square" lIns="0" tIns="0" rIns="0" bIns="0" rtlCol="0" anchor="t">
            <a:noAutofit/>
          </a:bodyPr>
          <a:lstStyle/>
          <a:p>
            <a:r>
              <a:rPr lang="en-US" sz="1700">
                <a:solidFill>
                  <a:srgbClr val="2D7257"/>
                </a:solidFill>
                <a:latin typeface="Calibri" panose="020F0502020204030204" pitchFamily="34" charset="0"/>
              </a:rPr>
              <a:t>Purpose: Prioritize promising papers and obtain the source text needed to assess them.</a:t>
            </a:r>
            <a:endParaRPr lang="en-IN" sz="1700">
              <a:solidFill>
                <a:srgbClr val="2D7257"/>
              </a:solidFill>
              <a:latin typeface="Calibri" panose="020F0502020204030204" pitchFamily="34" charset="0"/>
            </a:endParaRPr>
          </a:p>
        </p:txBody>
      </p:sp>
      <p:cxnSp>
        <p:nvCxnSpPr>
          <p:cNvPr id="5" name="s12-object4-line">
            <a:extLst>
              <a:ext uri="{FF2B5EF4-FFF2-40B4-BE49-F238E27FC236}">
                <a16:creationId xmlns:a16="http://schemas.microsoft.com/office/drawing/2014/main" id="{7104605D-9838-6503-6DC8-2B2E7612F35F}"/>
              </a:ext>
            </a:extLst>
          </p:cNvPr>
          <p:cNvCxnSpPr/>
          <p:nvPr/>
        </p:nvCxnSpPr>
        <p:spPr>
          <a:xfrm>
            <a:off x="609600" y="6477000"/>
            <a:ext cx="10972800" cy="0"/>
          </a:xfrm>
          <a:prstGeom prst="line">
            <a:avLst/>
          </a:prstGeom>
          <a:ln w="16510">
            <a:solidFill>
              <a:srgbClr val="D7E3DA"/>
            </a:solidFill>
          </a:ln>
        </p:spPr>
        <p:style>
          <a:lnRef idx="2">
            <a:schemeClr val="accent1"/>
          </a:lnRef>
          <a:fillRef idx="0">
            <a:schemeClr val="accent1"/>
          </a:fillRef>
          <a:effectRef idx="1">
            <a:schemeClr val="accent1"/>
          </a:effectRef>
          <a:fontRef idx="minor">
            <a:schemeClr val="tx1"/>
          </a:fontRef>
        </p:style>
      </p:cxnSp>
      <p:sp>
        <p:nvSpPr>
          <p:cNvPr id="6" name="s12-object5-text">
            <a:extLst>
              <a:ext uri="{FF2B5EF4-FFF2-40B4-BE49-F238E27FC236}">
                <a16:creationId xmlns:a16="http://schemas.microsoft.com/office/drawing/2014/main" id="{1D6E78BB-106A-B652-7EA0-EEB43CC425B5}"/>
              </a:ext>
            </a:extLst>
          </p:cNvPr>
          <p:cNvSpPr txBox="1"/>
          <p:nvPr/>
        </p:nvSpPr>
        <p:spPr>
          <a:xfrm>
            <a:off x="609600" y="6553200"/>
            <a:ext cx="8255000" cy="190500"/>
          </a:xfrm>
          <a:prstGeom prst="rect">
            <a:avLst/>
          </a:prstGeom>
          <a:noFill/>
        </p:spPr>
        <p:txBody>
          <a:bodyPr vert="horz" wrap="square" lIns="0" tIns="0" rIns="0" bIns="0" rtlCol="0" anchor="t">
            <a:noAutofit/>
          </a:bodyPr>
          <a:lstStyle/>
          <a:p>
            <a:r>
              <a:rPr lang="en-US" sz="900">
                <a:solidFill>
                  <a:srgbClr val="62756A"/>
                </a:solidFill>
                <a:latin typeface="Calibri" panose="020F0502020204030204" pitchFamily="34" charset="0"/>
              </a:rPr>
              <a:t>Reasoning with Food Knowledge Graphs</a:t>
            </a:r>
            <a:endParaRPr lang="en-IN" sz="900">
              <a:solidFill>
                <a:srgbClr val="62756A"/>
              </a:solidFill>
              <a:latin typeface="Calibri" panose="020F0502020204030204" pitchFamily="34" charset="0"/>
            </a:endParaRPr>
          </a:p>
        </p:txBody>
      </p:sp>
      <p:sp>
        <p:nvSpPr>
          <p:cNvPr id="7" name="s12-object6-text">
            <a:extLst>
              <a:ext uri="{FF2B5EF4-FFF2-40B4-BE49-F238E27FC236}">
                <a16:creationId xmlns:a16="http://schemas.microsoft.com/office/drawing/2014/main" id="{AEE2BCCF-3DFA-C70D-BE07-51B4AA4E431A}"/>
              </a:ext>
            </a:extLst>
          </p:cNvPr>
          <p:cNvSpPr txBox="1"/>
          <p:nvPr/>
        </p:nvSpPr>
        <p:spPr>
          <a:xfrm>
            <a:off x="11049000" y="6553200"/>
            <a:ext cx="533400" cy="190500"/>
          </a:xfrm>
          <a:prstGeom prst="rect">
            <a:avLst/>
          </a:prstGeom>
          <a:noFill/>
        </p:spPr>
        <p:txBody>
          <a:bodyPr vert="horz" wrap="square" lIns="0" tIns="0" rIns="0" bIns="0" rtlCol="0" anchor="t">
            <a:noAutofit/>
          </a:bodyPr>
          <a:lstStyle/>
          <a:p>
            <a:pPr algn="r"/>
            <a:r>
              <a:rPr lang="en-IN" sz="900">
                <a:solidFill>
                  <a:srgbClr val="62756A"/>
                </a:solidFill>
                <a:latin typeface="Calibri" panose="020F0502020204030204" pitchFamily="34" charset="0"/>
              </a:rPr>
              <a:t>12</a:t>
            </a:r>
          </a:p>
        </p:txBody>
      </p:sp>
      <p:sp>
        <p:nvSpPr>
          <p:cNvPr id="8" name="s12-object7-text">
            <a:extLst>
              <a:ext uri="{FF2B5EF4-FFF2-40B4-BE49-F238E27FC236}">
                <a16:creationId xmlns:a16="http://schemas.microsoft.com/office/drawing/2014/main" id="{B1C0A830-A342-DF45-8402-55B382DC5B23}"/>
              </a:ext>
            </a:extLst>
          </p:cNvPr>
          <p:cNvSpPr txBox="1"/>
          <p:nvPr/>
        </p:nvSpPr>
        <p:spPr>
          <a:xfrm>
            <a:off x="609600" y="2260600"/>
            <a:ext cx="4889500" cy="254000"/>
          </a:xfrm>
          <a:prstGeom prst="rect">
            <a:avLst/>
          </a:prstGeom>
          <a:noFill/>
        </p:spPr>
        <p:txBody>
          <a:bodyPr vert="horz" wrap="square" lIns="0" tIns="0" rIns="0" bIns="0" rtlCol="0" anchor="t">
            <a:noAutofit/>
          </a:bodyPr>
          <a:lstStyle/>
          <a:p>
            <a:r>
              <a:rPr lang="en-IN" sz="1200" b="1">
                <a:solidFill>
                  <a:srgbClr val="2D7257"/>
                </a:solidFill>
                <a:latin typeface="Calibri" panose="020F0502020204030204" pitchFamily="34" charset="0"/>
              </a:rPr>
              <a:t>WHAT HAPPENS</a:t>
            </a:r>
          </a:p>
        </p:txBody>
      </p:sp>
      <p:sp>
        <p:nvSpPr>
          <p:cNvPr id="9" name="s12-object8-text">
            <a:extLst>
              <a:ext uri="{FF2B5EF4-FFF2-40B4-BE49-F238E27FC236}">
                <a16:creationId xmlns:a16="http://schemas.microsoft.com/office/drawing/2014/main" id="{36C0DB64-F8FA-0364-83A0-5EFBEB191CF0}"/>
              </a:ext>
            </a:extLst>
          </p:cNvPr>
          <p:cNvSpPr txBox="1"/>
          <p:nvPr/>
        </p:nvSpPr>
        <p:spPr>
          <a:xfrm>
            <a:off x="609600" y="2628900"/>
            <a:ext cx="4889500" cy="1092200"/>
          </a:xfrm>
          <a:prstGeom prst="rect">
            <a:avLst/>
          </a:prstGeom>
          <a:noFill/>
        </p:spPr>
        <p:txBody>
          <a:bodyPr vert="horz" wrap="square" lIns="0" tIns="0" rIns="0" bIns="0" rtlCol="0" anchor="t">
            <a:noAutofit/>
          </a:bodyPr>
          <a:lstStyle/>
          <a:p>
            <a:r>
              <a:rPr lang="en-US">
                <a:solidFill>
                  <a:srgbClr val="193F35"/>
                </a:solidFill>
                <a:latin typeface="Calibri" panose="020F0502020204030204" pitchFamily="34" charset="0"/>
              </a:rPr>
              <a:t>Use article titles, available abstracts and source links to rank relevance to the claim.</a:t>
            </a:r>
            <a:endParaRPr lang="en-IN">
              <a:solidFill>
                <a:srgbClr val="193F35"/>
              </a:solidFill>
              <a:latin typeface="Calibri" panose="020F0502020204030204" pitchFamily="34" charset="0"/>
            </a:endParaRPr>
          </a:p>
        </p:txBody>
      </p:sp>
      <p:sp>
        <p:nvSpPr>
          <p:cNvPr id="10" name="s12-object9-text">
            <a:extLst>
              <a:ext uri="{FF2B5EF4-FFF2-40B4-BE49-F238E27FC236}">
                <a16:creationId xmlns:a16="http://schemas.microsoft.com/office/drawing/2014/main" id="{3A4C1990-C75D-4335-6749-53CC66F812A2}"/>
              </a:ext>
            </a:extLst>
          </p:cNvPr>
          <p:cNvSpPr txBox="1"/>
          <p:nvPr/>
        </p:nvSpPr>
        <p:spPr>
          <a:xfrm>
            <a:off x="609600" y="3924300"/>
            <a:ext cx="4889500" cy="1079500"/>
          </a:xfrm>
          <a:prstGeom prst="rect">
            <a:avLst/>
          </a:prstGeom>
          <a:noFill/>
        </p:spPr>
        <p:txBody>
          <a:bodyPr vert="horz" wrap="square" lIns="0" tIns="0" rIns="0" bIns="0" rtlCol="0" anchor="t">
            <a:noAutofit/>
          </a:bodyPr>
          <a:lstStyle/>
          <a:p>
            <a:r>
              <a:rPr lang="en-US">
                <a:solidFill>
                  <a:srgbClr val="193F35"/>
                </a:solidFill>
                <a:latin typeface="Calibri" panose="020F0502020204030204" pitchFamily="34" charset="0"/>
              </a:rPr>
              <a:t>Fetch available full text or an indexed abstract. Keep the evidence level and unavailable sources visible.</a:t>
            </a:r>
            <a:endParaRPr lang="en-IN">
              <a:solidFill>
                <a:srgbClr val="193F35"/>
              </a:solidFill>
              <a:latin typeface="Calibri" panose="020F0502020204030204" pitchFamily="34" charset="0"/>
            </a:endParaRPr>
          </a:p>
        </p:txBody>
      </p:sp>
      <p:sp>
        <p:nvSpPr>
          <p:cNvPr id="11" name="s12-object10-text">
            <a:extLst>
              <a:ext uri="{FF2B5EF4-FFF2-40B4-BE49-F238E27FC236}">
                <a16:creationId xmlns:a16="http://schemas.microsoft.com/office/drawing/2014/main" id="{E5134BB4-22F4-515B-50B3-00D45642A935}"/>
              </a:ext>
            </a:extLst>
          </p:cNvPr>
          <p:cNvSpPr txBox="1"/>
          <p:nvPr/>
        </p:nvSpPr>
        <p:spPr>
          <a:xfrm>
            <a:off x="609600" y="5194300"/>
            <a:ext cx="4889500" cy="254000"/>
          </a:xfrm>
          <a:prstGeom prst="rect">
            <a:avLst/>
          </a:prstGeom>
          <a:noFill/>
        </p:spPr>
        <p:txBody>
          <a:bodyPr vert="horz" wrap="square" lIns="0" tIns="0" rIns="0" bIns="0" rtlCol="0" anchor="t">
            <a:noAutofit/>
          </a:bodyPr>
          <a:lstStyle/>
          <a:p>
            <a:r>
              <a:rPr lang="en-IN" sz="1200" b="1">
                <a:solidFill>
                  <a:srgbClr val="2D7257"/>
                </a:solidFill>
                <a:latin typeface="Calibri" panose="020F0502020204030204" pitchFamily="34" charset="0"/>
              </a:rPr>
              <a:t>OUTPUT</a:t>
            </a:r>
          </a:p>
        </p:txBody>
      </p:sp>
      <p:sp>
        <p:nvSpPr>
          <p:cNvPr id="12" name="s12-object11-text">
            <a:extLst>
              <a:ext uri="{FF2B5EF4-FFF2-40B4-BE49-F238E27FC236}">
                <a16:creationId xmlns:a16="http://schemas.microsoft.com/office/drawing/2014/main" id="{699F8792-BDCF-4063-3D7D-5ACA30D9B097}"/>
              </a:ext>
            </a:extLst>
          </p:cNvPr>
          <p:cNvSpPr txBox="1"/>
          <p:nvPr/>
        </p:nvSpPr>
        <p:spPr>
          <a:xfrm>
            <a:off x="609600" y="5549900"/>
            <a:ext cx="4889500" cy="787400"/>
          </a:xfrm>
          <a:prstGeom prst="rect">
            <a:avLst/>
          </a:prstGeom>
          <a:noFill/>
        </p:spPr>
        <p:txBody>
          <a:bodyPr vert="horz" wrap="square" lIns="0" tIns="0" rIns="0" bIns="0" rtlCol="0" anchor="t">
            <a:noAutofit/>
          </a:bodyPr>
          <a:lstStyle/>
          <a:p>
            <a:r>
              <a:rPr lang="en-US" sz="1700">
                <a:solidFill>
                  <a:srgbClr val="62756A"/>
                </a:solidFill>
                <a:latin typeface="Calibri" panose="020F0502020204030204" pitchFamily="34" charset="0"/>
              </a:rPr>
              <a:t>Selected papers with source text or an explicit pending/unavailable status.</a:t>
            </a:r>
            <a:endParaRPr lang="en-IN" sz="1700">
              <a:solidFill>
                <a:srgbClr val="62756A"/>
              </a:solidFill>
              <a:latin typeface="Calibri" panose="020F0502020204030204" pitchFamily="34" charset="0"/>
            </a:endParaRPr>
          </a:p>
        </p:txBody>
      </p:sp>
      <p:sp>
        <p:nvSpPr>
          <p:cNvPr id="13" name="s12-object12-text">
            <a:extLst>
              <a:ext uri="{FF2B5EF4-FFF2-40B4-BE49-F238E27FC236}">
                <a16:creationId xmlns:a16="http://schemas.microsoft.com/office/drawing/2014/main" id="{14C721B7-14D2-C666-2A18-247EDE2401C8}"/>
              </a:ext>
            </a:extLst>
          </p:cNvPr>
          <p:cNvSpPr txBox="1"/>
          <p:nvPr/>
        </p:nvSpPr>
        <p:spPr>
          <a:xfrm>
            <a:off x="6146800" y="2260600"/>
            <a:ext cx="5435600" cy="254000"/>
          </a:xfrm>
          <a:prstGeom prst="rect">
            <a:avLst/>
          </a:prstGeom>
          <a:noFill/>
        </p:spPr>
        <p:txBody>
          <a:bodyPr vert="horz" wrap="square" lIns="0" tIns="0" rIns="0" bIns="0" rtlCol="0" anchor="t">
            <a:noAutofit/>
          </a:bodyPr>
          <a:lstStyle/>
          <a:p>
            <a:r>
              <a:rPr lang="en-US" sz="1200" b="1">
                <a:solidFill>
                  <a:srgbClr val="2D7257"/>
                </a:solidFill>
                <a:latin typeface="Calibri" panose="020F0502020204030204" pitchFamily="34" charset="0"/>
              </a:rPr>
              <a:t>HOW A PAPER REACHES THE READER</a:t>
            </a:r>
            <a:endParaRPr lang="en-IN" sz="1200" b="1">
              <a:solidFill>
                <a:srgbClr val="2D7257"/>
              </a:solidFill>
              <a:latin typeface="Calibri" panose="020F0502020204030204" pitchFamily="34" charset="0"/>
            </a:endParaRPr>
          </a:p>
        </p:txBody>
      </p:sp>
      <p:sp>
        <p:nvSpPr>
          <p:cNvPr id="14" name="s12-object13-rect">
            <a:extLst>
              <a:ext uri="{FF2B5EF4-FFF2-40B4-BE49-F238E27FC236}">
                <a16:creationId xmlns:a16="http://schemas.microsoft.com/office/drawing/2014/main" id="{8084F322-EEA3-4079-88B3-2DEBC780F0ED}"/>
              </a:ext>
            </a:extLst>
          </p:cNvPr>
          <p:cNvSpPr/>
          <p:nvPr/>
        </p:nvSpPr>
        <p:spPr>
          <a:xfrm>
            <a:off x="6260465" y="2817495"/>
            <a:ext cx="277495" cy="48260"/>
          </a:xfrm>
          <a:prstGeom prst="rect">
            <a:avLst/>
          </a:prstGeom>
          <a:noFill/>
          <a:ln w="10160" cap="flat" cmpd="sng" algn="ctr">
            <a:solidFill>
              <a:srgbClr val="2D7257"/>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s12-object14-rect">
            <a:extLst>
              <a:ext uri="{FF2B5EF4-FFF2-40B4-BE49-F238E27FC236}">
                <a16:creationId xmlns:a16="http://schemas.microsoft.com/office/drawing/2014/main" id="{AB516B68-A14E-2FDA-36D6-8B4239A256E7}"/>
              </a:ext>
            </a:extLst>
          </p:cNvPr>
          <p:cNvSpPr/>
          <p:nvPr/>
        </p:nvSpPr>
        <p:spPr>
          <a:xfrm>
            <a:off x="6260465" y="2914015"/>
            <a:ext cx="205105" cy="48260"/>
          </a:xfrm>
          <a:prstGeom prst="rect">
            <a:avLst/>
          </a:prstGeom>
          <a:noFill/>
          <a:ln w="10160" cap="flat" cmpd="sng" algn="ctr">
            <a:solidFill>
              <a:srgbClr val="2D7257"/>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s12-object15-rect">
            <a:extLst>
              <a:ext uri="{FF2B5EF4-FFF2-40B4-BE49-F238E27FC236}">
                <a16:creationId xmlns:a16="http://schemas.microsoft.com/office/drawing/2014/main" id="{141C00FE-04CF-A528-28AA-D8E3C97C2E87}"/>
              </a:ext>
            </a:extLst>
          </p:cNvPr>
          <p:cNvSpPr/>
          <p:nvPr/>
        </p:nvSpPr>
        <p:spPr>
          <a:xfrm>
            <a:off x="6260465" y="3010535"/>
            <a:ext cx="132715" cy="48260"/>
          </a:xfrm>
          <a:prstGeom prst="rect">
            <a:avLst/>
          </a:prstGeom>
          <a:noFill/>
          <a:ln w="10160" cap="flat" cmpd="sng" algn="ctr">
            <a:solidFill>
              <a:srgbClr val="2D7257"/>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s12-object16-text">
            <a:extLst>
              <a:ext uri="{FF2B5EF4-FFF2-40B4-BE49-F238E27FC236}">
                <a16:creationId xmlns:a16="http://schemas.microsoft.com/office/drawing/2014/main" id="{5954E8C6-F991-506D-0722-B53A8AD44409}"/>
              </a:ext>
            </a:extLst>
          </p:cNvPr>
          <p:cNvSpPr txBox="1"/>
          <p:nvPr/>
        </p:nvSpPr>
        <p:spPr>
          <a:xfrm>
            <a:off x="6845300" y="2730500"/>
            <a:ext cx="4635500" cy="381000"/>
          </a:xfrm>
          <a:prstGeom prst="rect">
            <a:avLst/>
          </a:prstGeom>
          <a:noFill/>
        </p:spPr>
        <p:txBody>
          <a:bodyPr vert="horz" wrap="square" lIns="0" tIns="0" rIns="0" bIns="0" rtlCol="0" anchor="t">
            <a:noAutofit/>
          </a:bodyPr>
          <a:lstStyle/>
          <a:p>
            <a:r>
              <a:rPr lang="en-IN" sz="2100" b="1">
                <a:solidFill>
                  <a:srgbClr val="193F35"/>
                </a:solidFill>
                <a:latin typeface="Calibri" panose="020F0502020204030204" pitchFamily="34" charset="0"/>
              </a:rPr>
              <a:t>BGE + BM25</a:t>
            </a:r>
          </a:p>
        </p:txBody>
      </p:sp>
      <p:sp>
        <p:nvSpPr>
          <p:cNvPr id="18" name="s12-object17-text">
            <a:extLst>
              <a:ext uri="{FF2B5EF4-FFF2-40B4-BE49-F238E27FC236}">
                <a16:creationId xmlns:a16="http://schemas.microsoft.com/office/drawing/2014/main" id="{CE76F706-6DF4-4B77-F5FC-44F96AB5C888}"/>
              </a:ext>
            </a:extLst>
          </p:cNvPr>
          <p:cNvSpPr txBox="1"/>
          <p:nvPr/>
        </p:nvSpPr>
        <p:spPr>
          <a:xfrm>
            <a:off x="6845300" y="3187700"/>
            <a:ext cx="4635500" cy="546100"/>
          </a:xfrm>
          <a:prstGeom prst="rect">
            <a:avLst/>
          </a:prstGeom>
          <a:noFill/>
        </p:spPr>
        <p:txBody>
          <a:bodyPr vert="horz" wrap="square" lIns="0" tIns="0" rIns="0" bIns="0" rtlCol="0" anchor="t">
            <a:noAutofit/>
          </a:bodyPr>
          <a:lstStyle/>
          <a:p>
            <a:r>
              <a:rPr lang="en-US" sz="1700">
                <a:solidFill>
                  <a:srgbClr val="62756A"/>
                </a:solidFill>
                <a:latin typeface="Calibri" panose="020F0502020204030204" pitchFamily="34" charset="0"/>
              </a:rPr>
              <a:t>Semantic similarity and keyword relevance</a:t>
            </a:r>
            <a:endParaRPr lang="en-IN" sz="1700">
              <a:solidFill>
                <a:srgbClr val="62756A"/>
              </a:solidFill>
              <a:latin typeface="Calibri" panose="020F0502020204030204" pitchFamily="34" charset="0"/>
            </a:endParaRPr>
          </a:p>
        </p:txBody>
      </p:sp>
      <p:cxnSp>
        <p:nvCxnSpPr>
          <p:cNvPr id="19" name="s12-object18-line">
            <a:extLst>
              <a:ext uri="{FF2B5EF4-FFF2-40B4-BE49-F238E27FC236}">
                <a16:creationId xmlns:a16="http://schemas.microsoft.com/office/drawing/2014/main" id="{D3CD877D-A9D1-7321-4223-6AB4A900A1D3}"/>
              </a:ext>
            </a:extLst>
          </p:cNvPr>
          <p:cNvCxnSpPr/>
          <p:nvPr/>
        </p:nvCxnSpPr>
        <p:spPr>
          <a:xfrm>
            <a:off x="6413500" y="3390900"/>
            <a:ext cx="0" cy="419100"/>
          </a:xfrm>
          <a:prstGeom prst="line">
            <a:avLst/>
          </a:prstGeom>
          <a:ln w="16510">
            <a:solidFill>
              <a:srgbClr val="2D7257"/>
            </a:solidFill>
            <a:tailEnd type="arrow"/>
          </a:ln>
        </p:spPr>
        <p:style>
          <a:lnRef idx="2">
            <a:schemeClr val="accent1"/>
          </a:lnRef>
          <a:fillRef idx="0">
            <a:schemeClr val="accent1"/>
          </a:fillRef>
          <a:effectRef idx="1">
            <a:schemeClr val="accent1"/>
          </a:effectRef>
          <a:fontRef idx="minor">
            <a:schemeClr val="tx1"/>
          </a:fontRef>
        </p:style>
      </p:cxnSp>
      <p:sp>
        <p:nvSpPr>
          <p:cNvPr id="20" name="s12-object19-rect">
            <a:extLst>
              <a:ext uri="{FF2B5EF4-FFF2-40B4-BE49-F238E27FC236}">
                <a16:creationId xmlns:a16="http://schemas.microsoft.com/office/drawing/2014/main" id="{53A33D3A-A580-87C6-6465-D65A94BABF23}"/>
              </a:ext>
            </a:extLst>
          </p:cNvPr>
          <p:cNvSpPr/>
          <p:nvPr/>
        </p:nvSpPr>
        <p:spPr>
          <a:xfrm>
            <a:off x="6260465" y="3960495"/>
            <a:ext cx="277495" cy="48260"/>
          </a:xfrm>
          <a:prstGeom prst="rect">
            <a:avLst/>
          </a:prstGeom>
          <a:noFill/>
          <a:ln w="10160" cap="flat" cmpd="sng" algn="ctr">
            <a:solidFill>
              <a:srgbClr val="527C91"/>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s12-object20-rect">
            <a:extLst>
              <a:ext uri="{FF2B5EF4-FFF2-40B4-BE49-F238E27FC236}">
                <a16:creationId xmlns:a16="http://schemas.microsoft.com/office/drawing/2014/main" id="{1E7892CD-9721-5669-C084-907570F5A9F9}"/>
              </a:ext>
            </a:extLst>
          </p:cNvPr>
          <p:cNvSpPr/>
          <p:nvPr/>
        </p:nvSpPr>
        <p:spPr>
          <a:xfrm>
            <a:off x="6260465" y="4057015"/>
            <a:ext cx="205105" cy="48260"/>
          </a:xfrm>
          <a:prstGeom prst="rect">
            <a:avLst/>
          </a:prstGeom>
          <a:noFill/>
          <a:ln w="10160" cap="flat" cmpd="sng" algn="ctr">
            <a:solidFill>
              <a:srgbClr val="527C91"/>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s12-object21-rect">
            <a:extLst>
              <a:ext uri="{FF2B5EF4-FFF2-40B4-BE49-F238E27FC236}">
                <a16:creationId xmlns:a16="http://schemas.microsoft.com/office/drawing/2014/main" id="{A8DF5005-3AFF-4979-1809-9F0DD3E9AF97}"/>
              </a:ext>
            </a:extLst>
          </p:cNvPr>
          <p:cNvSpPr/>
          <p:nvPr/>
        </p:nvSpPr>
        <p:spPr>
          <a:xfrm>
            <a:off x="6260465" y="4153535"/>
            <a:ext cx="132715" cy="48260"/>
          </a:xfrm>
          <a:prstGeom prst="rect">
            <a:avLst/>
          </a:prstGeom>
          <a:noFill/>
          <a:ln w="10160" cap="flat" cmpd="sng" algn="ctr">
            <a:solidFill>
              <a:srgbClr val="527C91"/>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s12-object22-text">
            <a:extLst>
              <a:ext uri="{FF2B5EF4-FFF2-40B4-BE49-F238E27FC236}">
                <a16:creationId xmlns:a16="http://schemas.microsoft.com/office/drawing/2014/main" id="{6FF6CA09-153C-9E98-2D43-CD1DEF618D5A}"/>
              </a:ext>
            </a:extLst>
          </p:cNvPr>
          <p:cNvSpPr txBox="1"/>
          <p:nvPr/>
        </p:nvSpPr>
        <p:spPr>
          <a:xfrm>
            <a:off x="6845300" y="3873500"/>
            <a:ext cx="4635500" cy="381000"/>
          </a:xfrm>
          <a:prstGeom prst="rect">
            <a:avLst/>
          </a:prstGeom>
          <a:noFill/>
        </p:spPr>
        <p:txBody>
          <a:bodyPr vert="horz" wrap="square" lIns="0" tIns="0" rIns="0" bIns="0" rtlCol="0" anchor="t">
            <a:noAutofit/>
          </a:bodyPr>
          <a:lstStyle/>
          <a:p>
            <a:r>
              <a:rPr lang="en-IN" sz="2100" b="1">
                <a:solidFill>
                  <a:srgbClr val="193F35"/>
                </a:solidFill>
                <a:latin typeface="Calibri" panose="020F0502020204030204" pitchFamily="34" charset="0"/>
              </a:rPr>
              <a:t>MedCPT cross-encoder</a:t>
            </a:r>
          </a:p>
        </p:txBody>
      </p:sp>
      <p:sp>
        <p:nvSpPr>
          <p:cNvPr id="24" name="s12-object23-text">
            <a:extLst>
              <a:ext uri="{FF2B5EF4-FFF2-40B4-BE49-F238E27FC236}">
                <a16:creationId xmlns:a16="http://schemas.microsoft.com/office/drawing/2014/main" id="{3892A3EF-A668-05CF-B32B-E1AEC8E4CBFA}"/>
              </a:ext>
            </a:extLst>
          </p:cNvPr>
          <p:cNvSpPr txBox="1"/>
          <p:nvPr/>
        </p:nvSpPr>
        <p:spPr>
          <a:xfrm>
            <a:off x="6845300" y="4330700"/>
            <a:ext cx="4635500" cy="546100"/>
          </a:xfrm>
          <a:prstGeom prst="rect">
            <a:avLst/>
          </a:prstGeom>
          <a:noFill/>
        </p:spPr>
        <p:txBody>
          <a:bodyPr vert="horz" wrap="square" lIns="0" tIns="0" rIns="0" bIns="0" rtlCol="0" anchor="t">
            <a:noAutofit/>
          </a:bodyPr>
          <a:lstStyle/>
          <a:p>
            <a:r>
              <a:rPr lang="en-US" sz="1700">
                <a:solidFill>
                  <a:srgbClr val="62756A"/>
                </a:solidFill>
                <a:latin typeface="Calibri" panose="020F0502020204030204" pitchFamily="34" charset="0"/>
              </a:rPr>
              <a:t>Score claim and article text together</a:t>
            </a:r>
            <a:endParaRPr lang="en-IN" sz="1700">
              <a:solidFill>
                <a:srgbClr val="62756A"/>
              </a:solidFill>
              <a:latin typeface="Calibri" panose="020F0502020204030204" pitchFamily="34" charset="0"/>
            </a:endParaRPr>
          </a:p>
        </p:txBody>
      </p:sp>
      <p:cxnSp>
        <p:nvCxnSpPr>
          <p:cNvPr id="25" name="s12-object24-line">
            <a:extLst>
              <a:ext uri="{FF2B5EF4-FFF2-40B4-BE49-F238E27FC236}">
                <a16:creationId xmlns:a16="http://schemas.microsoft.com/office/drawing/2014/main" id="{5158A67B-1DFC-465B-C879-B5B4CA607E93}"/>
              </a:ext>
            </a:extLst>
          </p:cNvPr>
          <p:cNvCxnSpPr/>
          <p:nvPr/>
        </p:nvCxnSpPr>
        <p:spPr>
          <a:xfrm>
            <a:off x="6413500" y="4533900"/>
            <a:ext cx="0" cy="419100"/>
          </a:xfrm>
          <a:prstGeom prst="line">
            <a:avLst/>
          </a:prstGeom>
          <a:ln w="16510">
            <a:solidFill>
              <a:srgbClr val="2D7257"/>
            </a:solidFill>
            <a:tailEnd type="arrow"/>
          </a:ln>
        </p:spPr>
        <p:style>
          <a:lnRef idx="2">
            <a:schemeClr val="accent1"/>
          </a:lnRef>
          <a:fillRef idx="0">
            <a:schemeClr val="accent1"/>
          </a:fillRef>
          <a:effectRef idx="1">
            <a:schemeClr val="accent1"/>
          </a:effectRef>
          <a:fontRef idx="minor">
            <a:schemeClr val="tx1"/>
          </a:fontRef>
        </p:style>
      </p:cxnSp>
      <p:cxnSp>
        <p:nvCxnSpPr>
          <p:cNvPr id="26" name="s12-object25-line">
            <a:extLst>
              <a:ext uri="{FF2B5EF4-FFF2-40B4-BE49-F238E27FC236}">
                <a16:creationId xmlns:a16="http://schemas.microsoft.com/office/drawing/2014/main" id="{2D1E33DD-1936-5401-ACFA-E526D1D576FF}"/>
              </a:ext>
            </a:extLst>
          </p:cNvPr>
          <p:cNvCxnSpPr/>
          <p:nvPr/>
        </p:nvCxnSpPr>
        <p:spPr>
          <a:xfrm>
            <a:off x="6260465" y="5103495"/>
            <a:ext cx="0" cy="2413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7" name="s12-object26-line">
            <a:extLst>
              <a:ext uri="{FF2B5EF4-FFF2-40B4-BE49-F238E27FC236}">
                <a16:creationId xmlns:a16="http://schemas.microsoft.com/office/drawing/2014/main" id="{D3511F71-BB70-723B-E667-112A40D6C116}"/>
              </a:ext>
            </a:extLst>
          </p:cNvPr>
          <p:cNvCxnSpPr/>
          <p:nvPr/>
        </p:nvCxnSpPr>
        <p:spPr>
          <a:xfrm>
            <a:off x="6525895" y="5103495"/>
            <a:ext cx="0" cy="2413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8" name="s12-object27-line">
            <a:extLst>
              <a:ext uri="{FF2B5EF4-FFF2-40B4-BE49-F238E27FC236}">
                <a16:creationId xmlns:a16="http://schemas.microsoft.com/office/drawing/2014/main" id="{2DF41C5B-82CE-C0A5-28F4-9A644E87FB10}"/>
              </a:ext>
            </a:extLst>
          </p:cNvPr>
          <p:cNvCxnSpPr/>
          <p:nvPr/>
        </p:nvCxnSpPr>
        <p:spPr>
          <a:xfrm>
            <a:off x="6393180" y="5139690"/>
            <a:ext cx="0" cy="229235"/>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9" name="s12-object28-line">
            <a:extLst>
              <a:ext uri="{FF2B5EF4-FFF2-40B4-BE49-F238E27FC236}">
                <a16:creationId xmlns:a16="http://schemas.microsoft.com/office/drawing/2014/main" id="{0AA68373-02B5-721C-29CF-7190CE3F3464}"/>
              </a:ext>
            </a:extLst>
          </p:cNvPr>
          <p:cNvCxnSpPr/>
          <p:nvPr/>
        </p:nvCxnSpPr>
        <p:spPr>
          <a:xfrm>
            <a:off x="6260465" y="5103495"/>
            <a:ext cx="84455"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0" name="s12-object29-line">
            <a:extLst>
              <a:ext uri="{FF2B5EF4-FFF2-40B4-BE49-F238E27FC236}">
                <a16:creationId xmlns:a16="http://schemas.microsoft.com/office/drawing/2014/main" id="{CE89344C-14E7-BFC8-87D7-B686164CD77B}"/>
              </a:ext>
            </a:extLst>
          </p:cNvPr>
          <p:cNvCxnSpPr/>
          <p:nvPr/>
        </p:nvCxnSpPr>
        <p:spPr>
          <a:xfrm>
            <a:off x="6344920" y="5103495"/>
            <a:ext cx="48260" cy="36195"/>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1" name="s12-object30-line">
            <a:extLst>
              <a:ext uri="{FF2B5EF4-FFF2-40B4-BE49-F238E27FC236}">
                <a16:creationId xmlns:a16="http://schemas.microsoft.com/office/drawing/2014/main" id="{CDB0D5BC-07AA-107E-BA0E-5E2258CBD326}"/>
              </a:ext>
            </a:extLst>
          </p:cNvPr>
          <p:cNvCxnSpPr/>
          <p:nvPr/>
        </p:nvCxnSpPr>
        <p:spPr>
          <a:xfrm flipV="1">
            <a:off x="6393180" y="5103495"/>
            <a:ext cx="48260" cy="36195"/>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2" name="s12-object31-line">
            <a:extLst>
              <a:ext uri="{FF2B5EF4-FFF2-40B4-BE49-F238E27FC236}">
                <a16:creationId xmlns:a16="http://schemas.microsoft.com/office/drawing/2014/main" id="{E84F9C98-B3B9-2639-BE48-BCFDC48465DD}"/>
              </a:ext>
            </a:extLst>
          </p:cNvPr>
          <p:cNvCxnSpPr/>
          <p:nvPr/>
        </p:nvCxnSpPr>
        <p:spPr>
          <a:xfrm>
            <a:off x="6441440" y="5103495"/>
            <a:ext cx="84455"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3" name="s12-object32-line">
            <a:extLst>
              <a:ext uri="{FF2B5EF4-FFF2-40B4-BE49-F238E27FC236}">
                <a16:creationId xmlns:a16="http://schemas.microsoft.com/office/drawing/2014/main" id="{67CE25FA-8A68-A3C4-71D7-558EDED8B662}"/>
              </a:ext>
            </a:extLst>
          </p:cNvPr>
          <p:cNvCxnSpPr/>
          <p:nvPr/>
        </p:nvCxnSpPr>
        <p:spPr>
          <a:xfrm>
            <a:off x="6260465" y="5344795"/>
            <a:ext cx="84455"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4" name="s12-object33-line">
            <a:extLst>
              <a:ext uri="{FF2B5EF4-FFF2-40B4-BE49-F238E27FC236}">
                <a16:creationId xmlns:a16="http://schemas.microsoft.com/office/drawing/2014/main" id="{06CE134C-9280-23BB-ECD3-7143BDB6211D}"/>
              </a:ext>
            </a:extLst>
          </p:cNvPr>
          <p:cNvCxnSpPr/>
          <p:nvPr/>
        </p:nvCxnSpPr>
        <p:spPr>
          <a:xfrm>
            <a:off x="6344920" y="5344795"/>
            <a:ext cx="48260" cy="2413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5" name="s12-object34-line">
            <a:extLst>
              <a:ext uri="{FF2B5EF4-FFF2-40B4-BE49-F238E27FC236}">
                <a16:creationId xmlns:a16="http://schemas.microsoft.com/office/drawing/2014/main" id="{0AE403D6-0E05-7FED-3B76-C8E05F828F9A}"/>
              </a:ext>
            </a:extLst>
          </p:cNvPr>
          <p:cNvCxnSpPr/>
          <p:nvPr/>
        </p:nvCxnSpPr>
        <p:spPr>
          <a:xfrm flipV="1">
            <a:off x="6393180" y="5344795"/>
            <a:ext cx="48260" cy="2413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6" name="s12-object35-line">
            <a:extLst>
              <a:ext uri="{FF2B5EF4-FFF2-40B4-BE49-F238E27FC236}">
                <a16:creationId xmlns:a16="http://schemas.microsoft.com/office/drawing/2014/main" id="{2E59912D-ABC0-C721-0AC3-26AF5E8FEC01}"/>
              </a:ext>
            </a:extLst>
          </p:cNvPr>
          <p:cNvCxnSpPr/>
          <p:nvPr/>
        </p:nvCxnSpPr>
        <p:spPr>
          <a:xfrm>
            <a:off x="6441440" y="5344795"/>
            <a:ext cx="84455"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37" name="s12-object36-text">
            <a:extLst>
              <a:ext uri="{FF2B5EF4-FFF2-40B4-BE49-F238E27FC236}">
                <a16:creationId xmlns:a16="http://schemas.microsoft.com/office/drawing/2014/main" id="{21BCE2E7-B969-2D43-6053-5AF1FB4E4BCC}"/>
              </a:ext>
            </a:extLst>
          </p:cNvPr>
          <p:cNvSpPr txBox="1"/>
          <p:nvPr/>
        </p:nvSpPr>
        <p:spPr>
          <a:xfrm>
            <a:off x="6845300" y="5016500"/>
            <a:ext cx="4635500" cy="381000"/>
          </a:xfrm>
          <a:prstGeom prst="rect">
            <a:avLst/>
          </a:prstGeom>
          <a:noFill/>
        </p:spPr>
        <p:txBody>
          <a:bodyPr vert="horz" wrap="square" lIns="0" tIns="0" rIns="0" bIns="0" rtlCol="0" anchor="t">
            <a:noAutofit/>
          </a:bodyPr>
          <a:lstStyle/>
          <a:p>
            <a:r>
              <a:rPr lang="en-IN" sz="2100" b="1">
                <a:solidFill>
                  <a:srgbClr val="193F35"/>
                </a:solidFill>
                <a:latin typeface="Calibri" panose="020F0502020204030204" pitchFamily="34" charset="0"/>
              </a:rPr>
              <a:t>Fetch source text</a:t>
            </a:r>
          </a:p>
        </p:txBody>
      </p:sp>
      <p:sp>
        <p:nvSpPr>
          <p:cNvPr id="38" name="s12-object37-text">
            <a:extLst>
              <a:ext uri="{FF2B5EF4-FFF2-40B4-BE49-F238E27FC236}">
                <a16:creationId xmlns:a16="http://schemas.microsoft.com/office/drawing/2014/main" id="{8DEF3D12-6A3C-DFBB-997F-74E8682B52BA}"/>
              </a:ext>
            </a:extLst>
          </p:cNvPr>
          <p:cNvSpPr txBox="1"/>
          <p:nvPr/>
        </p:nvSpPr>
        <p:spPr>
          <a:xfrm>
            <a:off x="6845300" y="5473700"/>
            <a:ext cx="4635500" cy="546100"/>
          </a:xfrm>
          <a:prstGeom prst="rect">
            <a:avLst/>
          </a:prstGeom>
          <a:noFill/>
        </p:spPr>
        <p:txBody>
          <a:bodyPr vert="horz" wrap="square" lIns="0" tIns="0" rIns="0" bIns="0" rtlCol="0" anchor="t">
            <a:noAutofit/>
          </a:bodyPr>
          <a:lstStyle/>
          <a:p>
            <a:r>
              <a:rPr lang="en-US" sz="1700">
                <a:solidFill>
                  <a:srgbClr val="62756A"/>
                </a:solidFill>
                <a:latin typeface="Calibri" panose="020F0502020204030204" pitchFamily="34" charset="0"/>
              </a:rPr>
              <a:t>XML, public PDF or indexed abstract</a:t>
            </a:r>
            <a:endParaRPr lang="en-IN" sz="1700">
              <a:solidFill>
                <a:srgbClr val="62756A"/>
              </a:solidFill>
              <a:latin typeface="Calibri" panose="020F0502020204030204" pitchFamily="34" charset="0"/>
            </a:endParaRPr>
          </a:p>
        </p:txBody>
      </p:sp>
      <p:sp>
        <p:nvSpPr>
          <p:cNvPr id="39" name="s12-object38-text">
            <a:extLst>
              <a:ext uri="{FF2B5EF4-FFF2-40B4-BE49-F238E27FC236}">
                <a16:creationId xmlns:a16="http://schemas.microsoft.com/office/drawing/2014/main" id="{2CF64F01-59F0-C70A-D9FD-25F484F2C785}"/>
              </a:ext>
            </a:extLst>
          </p:cNvPr>
          <p:cNvSpPr txBox="1"/>
          <p:nvPr/>
        </p:nvSpPr>
        <p:spPr>
          <a:xfrm>
            <a:off x="6146800" y="6083300"/>
            <a:ext cx="5435600" cy="304800"/>
          </a:xfrm>
          <a:prstGeom prst="rect">
            <a:avLst/>
          </a:prstGeom>
          <a:noFill/>
        </p:spPr>
        <p:txBody>
          <a:bodyPr vert="horz" wrap="square" lIns="0" tIns="0" rIns="0" bIns="0" rtlCol="0" anchor="t">
            <a:noAutofit/>
          </a:bodyPr>
          <a:lstStyle/>
          <a:p>
            <a:r>
              <a:rPr lang="en-US" sz="1600">
                <a:solidFill>
                  <a:srgbClr val="2D7257"/>
                </a:solidFill>
                <a:latin typeface="Calibri" panose="020F0502020204030204" pitchFamily="34" charset="0"/>
              </a:rPr>
              <a:t>A high-ranked title is not scientific proof.</a:t>
            </a:r>
            <a:endParaRPr lang="en-IN" sz="1600">
              <a:solidFill>
                <a:srgbClr val="2D7257"/>
              </a:solidFill>
              <a:latin typeface="Calibri" panose="020F0502020204030204" pitchFamily="34" charset="0"/>
            </a:endParaRPr>
          </a:p>
        </p:txBody>
      </p:sp>
    </p:spTree>
    <p:extLst>
      <p:ext uri="{BB962C8B-B14F-4D97-AF65-F5344CB8AC3E}">
        <p14:creationId xmlns:p14="http://schemas.microsoft.com/office/powerpoint/2010/main" val="1716817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CFDFB"/>
        </a:solidFill>
        <a:effectLst/>
      </p:bgPr>
    </p:bg>
    <p:spTree>
      <p:nvGrpSpPr>
        <p:cNvPr id="1" name=""/>
        <p:cNvGrpSpPr/>
        <p:nvPr/>
      </p:nvGrpSpPr>
      <p:grpSpPr>
        <a:xfrm>
          <a:off x="0" y="0"/>
          <a:ext cx="0" cy="0"/>
          <a:chOff x="0" y="0"/>
          <a:chExt cx="0" cy="0"/>
        </a:xfrm>
      </p:grpSpPr>
      <p:sp>
        <p:nvSpPr>
          <p:cNvPr id="2" name="s13-object1-text">
            <a:extLst>
              <a:ext uri="{FF2B5EF4-FFF2-40B4-BE49-F238E27FC236}">
                <a16:creationId xmlns:a16="http://schemas.microsoft.com/office/drawing/2014/main" id="{7D750218-C94C-822C-2C5D-3FBCA5EDB145}"/>
              </a:ext>
            </a:extLst>
          </p:cNvPr>
          <p:cNvSpPr txBox="1"/>
          <p:nvPr/>
        </p:nvSpPr>
        <p:spPr>
          <a:xfrm>
            <a:off x="609600" y="304800"/>
            <a:ext cx="10972800" cy="228600"/>
          </a:xfrm>
          <a:prstGeom prst="rect">
            <a:avLst/>
          </a:prstGeom>
          <a:noFill/>
        </p:spPr>
        <p:txBody>
          <a:bodyPr vert="horz" wrap="square" lIns="0" tIns="0" rIns="0" bIns="0" rtlCol="0" anchor="t">
            <a:noAutofit/>
          </a:bodyPr>
          <a:lstStyle/>
          <a:p>
            <a:r>
              <a:rPr lang="en-US" sz="1000" b="1">
                <a:solidFill>
                  <a:srgbClr val="2D7257"/>
                </a:solidFill>
                <a:latin typeface="Calibri" panose="020F0502020204030204" pitchFamily="34" charset="0"/>
              </a:rPr>
              <a:t>STAGE 7  /  CHUNKING AND PASSAGE RANKING</a:t>
            </a:r>
            <a:endParaRPr lang="en-IN" sz="1000" b="1">
              <a:solidFill>
                <a:srgbClr val="2D7257"/>
              </a:solidFill>
              <a:latin typeface="Calibri" panose="020F0502020204030204" pitchFamily="34" charset="0"/>
            </a:endParaRPr>
          </a:p>
        </p:txBody>
      </p:sp>
      <p:sp>
        <p:nvSpPr>
          <p:cNvPr id="3" name="s13-object2-text">
            <a:extLst>
              <a:ext uri="{FF2B5EF4-FFF2-40B4-BE49-F238E27FC236}">
                <a16:creationId xmlns:a16="http://schemas.microsoft.com/office/drawing/2014/main" id="{05994723-7626-1960-84AD-AF4F76DC655C}"/>
              </a:ext>
            </a:extLst>
          </p:cNvPr>
          <p:cNvSpPr txBox="1"/>
          <p:nvPr/>
        </p:nvSpPr>
        <p:spPr>
          <a:xfrm>
            <a:off x="609600" y="647700"/>
            <a:ext cx="10972800" cy="622300"/>
          </a:xfrm>
          <a:prstGeom prst="rect">
            <a:avLst/>
          </a:prstGeom>
          <a:noFill/>
        </p:spPr>
        <p:txBody>
          <a:bodyPr vert="horz" wrap="square" lIns="0" tIns="0" rIns="0" bIns="0" rtlCol="0" anchor="t">
            <a:noAutofit/>
          </a:bodyPr>
          <a:lstStyle/>
          <a:p>
            <a:r>
              <a:rPr lang="en-IN" sz="3000" b="1">
                <a:solidFill>
                  <a:srgbClr val="193F35"/>
                </a:solidFill>
                <a:latin typeface="Calibri" panose="020F0502020204030204" pitchFamily="34" charset="0"/>
              </a:rPr>
              <a:t>Passage preparation and selection</a:t>
            </a:r>
          </a:p>
        </p:txBody>
      </p:sp>
      <p:sp>
        <p:nvSpPr>
          <p:cNvPr id="4" name="s13-object3-text">
            <a:extLst>
              <a:ext uri="{FF2B5EF4-FFF2-40B4-BE49-F238E27FC236}">
                <a16:creationId xmlns:a16="http://schemas.microsoft.com/office/drawing/2014/main" id="{8084FF18-29DC-1A2B-6755-846F796CEBCF}"/>
              </a:ext>
            </a:extLst>
          </p:cNvPr>
          <p:cNvSpPr txBox="1"/>
          <p:nvPr/>
        </p:nvSpPr>
        <p:spPr>
          <a:xfrm>
            <a:off x="609600" y="1346200"/>
            <a:ext cx="10972800" cy="609600"/>
          </a:xfrm>
          <a:prstGeom prst="rect">
            <a:avLst/>
          </a:prstGeom>
          <a:noFill/>
        </p:spPr>
        <p:txBody>
          <a:bodyPr vert="horz" wrap="square" lIns="0" tIns="0" rIns="0" bIns="0" rtlCol="0" anchor="t">
            <a:noAutofit/>
          </a:bodyPr>
          <a:lstStyle/>
          <a:p>
            <a:r>
              <a:rPr lang="en-US" sz="1700">
                <a:solidFill>
                  <a:srgbClr val="2D7257"/>
                </a:solidFill>
                <a:latin typeface="Calibri" panose="020F0502020204030204" pitchFamily="34" charset="0"/>
              </a:rPr>
              <a:t>Purpose: Select the parts of each paper that address the claim without losing its conditions.</a:t>
            </a:r>
            <a:endParaRPr lang="en-IN" sz="1700">
              <a:solidFill>
                <a:srgbClr val="2D7257"/>
              </a:solidFill>
              <a:latin typeface="Calibri" panose="020F0502020204030204" pitchFamily="34" charset="0"/>
            </a:endParaRPr>
          </a:p>
        </p:txBody>
      </p:sp>
      <p:cxnSp>
        <p:nvCxnSpPr>
          <p:cNvPr id="5" name="s13-object4-line">
            <a:extLst>
              <a:ext uri="{FF2B5EF4-FFF2-40B4-BE49-F238E27FC236}">
                <a16:creationId xmlns:a16="http://schemas.microsoft.com/office/drawing/2014/main" id="{872CDE6F-0DFA-D2E2-9372-45FD61BED52B}"/>
              </a:ext>
            </a:extLst>
          </p:cNvPr>
          <p:cNvCxnSpPr/>
          <p:nvPr/>
        </p:nvCxnSpPr>
        <p:spPr>
          <a:xfrm>
            <a:off x="609600" y="6477000"/>
            <a:ext cx="10972800" cy="0"/>
          </a:xfrm>
          <a:prstGeom prst="line">
            <a:avLst/>
          </a:prstGeom>
          <a:ln w="16510">
            <a:solidFill>
              <a:srgbClr val="D7E3DA"/>
            </a:solidFill>
          </a:ln>
        </p:spPr>
        <p:style>
          <a:lnRef idx="2">
            <a:schemeClr val="accent1"/>
          </a:lnRef>
          <a:fillRef idx="0">
            <a:schemeClr val="accent1"/>
          </a:fillRef>
          <a:effectRef idx="1">
            <a:schemeClr val="accent1"/>
          </a:effectRef>
          <a:fontRef idx="minor">
            <a:schemeClr val="tx1"/>
          </a:fontRef>
        </p:style>
      </p:cxnSp>
      <p:sp>
        <p:nvSpPr>
          <p:cNvPr id="6" name="s13-object5-text">
            <a:extLst>
              <a:ext uri="{FF2B5EF4-FFF2-40B4-BE49-F238E27FC236}">
                <a16:creationId xmlns:a16="http://schemas.microsoft.com/office/drawing/2014/main" id="{FB6A622F-D5E8-A542-A918-C63253198378}"/>
              </a:ext>
            </a:extLst>
          </p:cNvPr>
          <p:cNvSpPr txBox="1"/>
          <p:nvPr/>
        </p:nvSpPr>
        <p:spPr>
          <a:xfrm>
            <a:off x="609600" y="6553200"/>
            <a:ext cx="8255000" cy="190500"/>
          </a:xfrm>
          <a:prstGeom prst="rect">
            <a:avLst/>
          </a:prstGeom>
          <a:noFill/>
        </p:spPr>
        <p:txBody>
          <a:bodyPr vert="horz" wrap="square" lIns="0" tIns="0" rIns="0" bIns="0" rtlCol="0" anchor="t">
            <a:noAutofit/>
          </a:bodyPr>
          <a:lstStyle/>
          <a:p>
            <a:r>
              <a:rPr lang="en-US" sz="900">
                <a:solidFill>
                  <a:srgbClr val="62756A"/>
                </a:solidFill>
                <a:latin typeface="Calibri" panose="020F0502020204030204" pitchFamily="34" charset="0"/>
              </a:rPr>
              <a:t>Reasoning with Food Knowledge Graphs</a:t>
            </a:r>
            <a:endParaRPr lang="en-IN" sz="900">
              <a:solidFill>
                <a:srgbClr val="62756A"/>
              </a:solidFill>
              <a:latin typeface="Calibri" panose="020F0502020204030204" pitchFamily="34" charset="0"/>
            </a:endParaRPr>
          </a:p>
        </p:txBody>
      </p:sp>
      <p:sp>
        <p:nvSpPr>
          <p:cNvPr id="7" name="s13-object6-text">
            <a:extLst>
              <a:ext uri="{FF2B5EF4-FFF2-40B4-BE49-F238E27FC236}">
                <a16:creationId xmlns:a16="http://schemas.microsoft.com/office/drawing/2014/main" id="{D105B7F1-6360-EEFC-81E7-8D54DFC97D2A}"/>
              </a:ext>
            </a:extLst>
          </p:cNvPr>
          <p:cNvSpPr txBox="1"/>
          <p:nvPr/>
        </p:nvSpPr>
        <p:spPr>
          <a:xfrm>
            <a:off x="11049000" y="6553200"/>
            <a:ext cx="533400" cy="190500"/>
          </a:xfrm>
          <a:prstGeom prst="rect">
            <a:avLst/>
          </a:prstGeom>
          <a:noFill/>
        </p:spPr>
        <p:txBody>
          <a:bodyPr vert="horz" wrap="square" lIns="0" tIns="0" rIns="0" bIns="0" rtlCol="0" anchor="t">
            <a:noAutofit/>
          </a:bodyPr>
          <a:lstStyle/>
          <a:p>
            <a:pPr algn="r"/>
            <a:r>
              <a:rPr lang="en-IN" sz="900">
                <a:solidFill>
                  <a:srgbClr val="62756A"/>
                </a:solidFill>
                <a:latin typeface="Calibri" panose="020F0502020204030204" pitchFamily="34" charset="0"/>
              </a:rPr>
              <a:t>13</a:t>
            </a:r>
          </a:p>
        </p:txBody>
      </p:sp>
      <p:sp>
        <p:nvSpPr>
          <p:cNvPr id="8" name="s13-object7-text">
            <a:extLst>
              <a:ext uri="{FF2B5EF4-FFF2-40B4-BE49-F238E27FC236}">
                <a16:creationId xmlns:a16="http://schemas.microsoft.com/office/drawing/2014/main" id="{DD39C092-EE3F-2AE3-76B1-82E6017DB126}"/>
              </a:ext>
            </a:extLst>
          </p:cNvPr>
          <p:cNvSpPr txBox="1"/>
          <p:nvPr/>
        </p:nvSpPr>
        <p:spPr>
          <a:xfrm>
            <a:off x="609600" y="2260600"/>
            <a:ext cx="4889500" cy="254000"/>
          </a:xfrm>
          <a:prstGeom prst="rect">
            <a:avLst/>
          </a:prstGeom>
          <a:noFill/>
        </p:spPr>
        <p:txBody>
          <a:bodyPr vert="horz" wrap="square" lIns="0" tIns="0" rIns="0" bIns="0" rtlCol="0" anchor="t">
            <a:noAutofit/>
          </a:bodyPr>
          <a:lstStyle/>
          <a:p>
            <a:r>
              <a:rPr lang="en-IN" sz="1200" b="1">
                <a:solidFill>
                  <a:srgbClr val="2D7257"/>
                </a:solidFill>
                <a:latin typeface="Calibri" panose="020F0502020204030204" pitchFamily="34" charset="0"/>
              </a:rPr>
              <a:t>WHAT HAPPENS</a:t>
            </a:r>
          </a:p>
        </p:txBody>
      </p:sp>
      <p:sp>
        <p:nvSpPr>
          <p:cNvPr id="9" name="s13-object8-text">
            <a:extLst>
              <a:ext uri="{FF2B5EF4-FFF2-40B4-BE49-F238E27FC236}">
                <a16:creationId xmlns:a16="http://schemas.microsoft.com/office/drawing/2014/main" id="{E44A031F-0210-749E-4F6A-42A1F2F18430}"/>
              </a:ext>
            </a:extLst>
          </p:cNvPr>
          <p:cNvSpPr txBox="1"/>
          <p:nvPr/>
        </p:nvSpPr>
        <p:spPr>
          <a:xfrm>
            <a:off x="609600" y="2628900"/>
            <a:ext cx="4889500" cy="1092200"/>
          </a:xfrm>
          <a:prstGeom prst="rect">
            <a:avLst/>
          </a:prstGeom>
          <a:noFill/>
        </p:spPr>
        <p:txBody>
          <a:bodyPr vert="horz" wrap="square" lIns="0" tIns="0" rIns="0" bIns="0" rtlCol="0" anchor="t">
            <a:noAutofit/>
          </a:bodyPr>
          <a:lstStyle/>
          <a:p>
            <a:r>
              <a:rPr lang="en-US">
                <a:solidFill>
                  <a:srgbClr val="193F35"/>
                </a:solidFill>
                <a:latin typeface="Calibri" panose="020F0502020204030204" pitchFamily="34" charset="0"/>
              </a:rPr>
              <a:t>Prepare identified chunks with source sentences and enough context to interpret them.</a:t>
            </a:r>
            <a:endParaRPr lang="en-IN">
              <a:solidFill>
                <a:srgbClr val="193F35"/>
              </a:solidFill>
              <a:latin typeface="Calibri" panose="020F0502020204030204" pitchFamily="34" charset="0"/>
            </a:endParaRPr>
          </a:p>
        </p:txBody>
      </p:sp>
      <p:sp>
        <p:nvSpPr>
          <p:cNvPr id="10" name="s13-object9-text">
            <a:extLst>
              <a:ext uri="{FF2B5EF4-FFF2-40B4-BE49-F238E27FC236}">
                <a16:creationId xmlns:a16="http://schemas.microsoft.com/office/drawing/2014/main" id="{368DFD80-6F39-FE5D-4131-7128524BBD1B}"/>
              </a:ext>
            </a:extLst>
          </p:cNvPr>
          <p:cNvSpPr txBox="1"/>
          <p:nvPr/>
        </p:nvSpPr>
        <p:spPr>
          <a:xfrm>
            <a:off x="609600" y="3924300"/>
            <a:ext cx="4889500" cy="1079500"/>
          </a:xfrm>
          <a:prstGeom prst="rect">
            <a:avLst/>
          </a:prstGeom>
          <a:noFill/>
        </p:spPr>
        <p:txBody>
          <a:bodyPr vert="horz" wrap="square" lIns="0" tIns="0" rIns="0" bIns="0" rtlCol="0" anchor="t">
            <a:noAutofit/>
          </a:bodyPr>
          <a:lstStyle/>
          <a:p>
            <a:r>
              <a:rPr lang="en-US">
                <a:solidFill>
                  <a:srgbClr val="193F35"/>
                </a:solidFill>
                <a:latin typeface="Calibri" panose="020F0502020204030204" pitchFamily="34" charset="0"/>
              </a:rPr>
              <a:t>BGE embeddings find candidates. MedCPT reranks them using the full claim, qualifiers and a neutral endpoint query.</a:t>
            </a:r>
            <a:endParaRPr lang="en-IN">
              <a:solidFill>
                <a:srgbClr val="193F35"/>
              </a:solidFill>
              <a:latin typeface="Calibri" panose="020F0502020204030204" pitchFamily="34" charset="0"/>
            </a:endParaRPr>
          </a:p>
        </p:txBody>
      </p:sp>
      <p:sp>
        <p:nvSpPr>
          <p:cNvPr id="11" name="s13-object10-text">
            <a:extLst>
              <a:ext uri="{FF2B5EF4-FFF2-40B4-BE49-F238E27FC236}">
                <a16:creationId xmlns:a16="http://schemas.microsoft.com/office/drawing/2014/main" id="{CC5EE567-8809-4D70-48F2-3A3ED09A0E1B}"/>
              </a:ext>
            </a:extLst>
          </p:cNvPr>
          <p:cNvSpPr txBox="1"/>
          <p:nvPr/>
        </p:nvSpPr>
        <p:spPr>
          <a:xfrm>
            <a:off x="609600" y="5194300"/>
            <a:ext cx="4889500" cy="254000"/>
          </a:xfrm>
          <a:prstGeom prst="rect">
            <a:avLst/>
          </a:prstGeom>
          <a:noFill/>
        </p:spPr>
        <p:txBody>
          <a:bodyPr vert="horz" wrap="square" lIns="0" tIns="0" rIns="0" bIns="0" rtlCol="0" anchor="t">
            <a:noAutofit/>
          </a:bodyPr>
          <a:lstStyle/>
          <a:p>
            <a:r>
              <a:rPr lang="en-IN" sz="1200" b="1">
                <a:solidFill>
                  <a:srgbClr val="2D7257"/>
                </a:solidFill>
                <a:latin typeface="Calibri" panose="020F0502020204030204" pitchFamily="34" charset="0"/>
              </a:rPr>
              <a:t>OUTPUT</a:t>
            </a:r>
          </a:p>
        </p:txBody>
      </p:sp>
      <p:sp>
        <p:nvSpPr>
          <p:cNvPr id="12" name="s13-object11-text">
            <a:extLst>
              <a:ext uri="{FF2B5EF4-FFF2-40B4-BE49-F238E27FC236}">
                <a16:creationId xmlns:a16="http://schemas.microsoft.com/office/drawing/2014/main" id="{BD161216-B37C-5EB2-622F-203EBAC8378F}"/>
              </a:ext>
            </a:extLst>
          </p:cNvPr>
          <p:cNvSpPr txBox="1"/>
          <p:nvPr/>
        </p:nvSpPr>
        <p:spPr>
          <a:xfrm>
            <a:off x="609600" y="5549900"/>
            <a:ext cx="4889500" cy="787400"/>
          </a:xfrm>
          <a:prstGeom prst="rect">
            <a:avLst/>
          </a:prstGeom>
          <a:noFill/>
        </p:spPr>
        <p:txBody>
          <a:bodyPr vert="horz" wrap="square" lIns="0" tIns="0" rIns="0" bIns="0" rtlCol="0" anchor="t">
            <a:noAutofit/>
          </a:bodyPr>
          <a:lstStyle/>
          <a:p>
            <a:r>
              <a:rPr lang="en-US" sz="1700">
                <a:solidFill>
                  <a:srgbClr val="62756A"/>
                </a:solidFill>
                <a:latin typeface="Calibri" panose="020F0502020204030204" pitchFamily="34" charset="0"/>
              </a:rPr>
              <a:t>Selected literal passages with paper, chunk and sentence identifiers.</a:t>
            </a:r>
            <a:endParaRPr lang="en-IN" sz="1700">
              <a:solidFill>
                <a:srgbClr val="62756A"/>
              </a:solidFill>
              <a:latin typeface="Calibri" panose="020F0502020204030204" pitchFamily="34" charset="0"/>
            </a:endParaRPr>
          </a:p>
        </p:txBody>
      </p:sp>
      <p:sp>
        <p:nvSpPr>
          <p:cNvPr id="13" name="s13-object12-text">
            <a:extLst>
              <a:ext uri="{FF2B5EF4-FFF2-40B4-BE49-F238E27FC236}">
                <a16:creationId xmlns:a16="http://schemas.microsoft.com/office/drawing/2014/main" id="{6740AA87-E5A0-39B7-6A8F-A99BEFA35DDE}"/>
              </a:ext>
            </a:extLst>
          </p:cNvPr>
          <p:cNvSpPr txBox="1"/>
          <p:nvPr/>
        </p:nvSpPr>
        <p:spPr>
          <a:xfrm>
            <a:off x="6146800" y="2260600"/>
            <a:ext cx="5435600" cy="254000"/>
          </a:xfrm>
          <a:prstGeom prst="rect">
            <a:avLst/>
          </a:prstGeom>
          <a:noFill/>
        </p:spPr>
        <p:txBody>
          <a:bodyPr vert="horz" wrap="square" lIns="0" tIns="0" rIns="0" bIns="0" rtlCol="0" anchor="t">
            <a:noAutofit/>
          </a:bodyPr>
          <a:lstStyle/>
          <a:p>
            <a:r>
              <a:rPr lang="en-US" sz="1200" b="1">
                <a:solidFill>
                  <a:srgbClr val="2D7257"/>
                </a:solidFill>
                <a:latin typeface="Calibri" panose="020F0502020204030204" pitchFamily="34" charset="0"/>
              </a:rPr>
              <a:t>EXAMPLE OF A PAPER EVIDENCE PACKET</a:t>
            </a:r>
            <a:endParaRPr lang="en-IN" sz="1200" b="1">
              <a:solidFill>
                <a:srgbClr val="2D7257"/>
              </a:solidFill>
              <a:latin typeface="Calibri" panose="020F0502020204030204" pitchFamily="34" charset="0"/>
            </a:endParaRPr>
          </a:p>
        </p:txBody>
      </p:sp>
      <p:sp>
        <p:nvSpPr>
          <p:cNvPr id="14" name="s13-object13-rect">
            <a:extLst>
              <a:ext uri="{FF2B5EF4-FFF2-40B4-BE49-F238E27FC236}">
                <a16:creationId xmlns:a16="http://schemas.microsoft.com/office/drawing/2014/main" id="{4B54C7F5-6F69-3720-C74C-EA384B853C0C}"/>
              </a:ext>
            </a:extLst>
          </p:cNvPr>
          <p:cNvSpPr/>
          <p:nvPr/>
        </p:nvSpPr>
        <p:spPr>
          <a:xfrm>
            <a:off x="6253480" y="2745740"/>
            <a:ext cx="320040" cy="396240"/>
          </a:xfrm>
          <a:prstGeom prst="rect">
            <a:avLst/>
          </a:prstGeom>
          <a:noFill/>
          <a:ln w="10160" cap="flat" cmpd="sng" algn="ctr">
            <a:solidFill>
              <a:srgbClr val="2D7257"/>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13-object14-line">
            <a:extLst>
              <a:ext uri="{FF2B5EF4-FFF2-40B4-BE49-F238E27FC236}">
                <a16:creationId xmlns:a16="http://schemas.microsoft.com/office/drawing/2014/main" id="{BE53F5D0-F9AF-794F-DDD0-051E7EEE5422}"/>
              </a:ext>
            </a:extLst>
          </p:cNvPr>
          <p:cNvCxnSpPr/>
          <p:nvPr/>
        </p:nvCxnSpPr>
        <p:spPr>
          <a:xfrm>
            <a:off x="6329680" y="2852420"/>
            <a:ext cx="16764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6" name="s13-object15-line">
            <a:extLst>
              <a:ext uri="{FF2B5EF4-FFF2-40B4-BE49-F238E27FC236}">
                <a16:creationId xmlns:a16="http://schemas.microsoft.com/office/drawing/2014/main" id="{93E9D9DA-DEC4-376B-025E-205BF09493F2}"/>
              </a:ext>
            </a:extLst>
          </p:cNvPr>
          <p:cNvCxnSpPr/>
          <p:nvPr/>
        </p:nvCxnSpPr>
        <p:spPr>
          <a:xfrm>
            <a:off x="6329680" y="2943860"/>
            <a:ext cx="16764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7" name="s13-object16-line">
            <a:extLst>
              <a:ext uri="{FF2B5EF4-FFF2-40B4-BE49-F238E27FC236}">
                <a16:creationId xmlns:a16="http://schemas.microsoft.com/office/drawing/2014/main" id="{1C086D93-E0E6-2F3F-DFCA-44323129EB78}"/>
              </a:ext>
            </a:extLst>
          </p:cNvPr>
          <p:cNvCxnSpPr/>
          <p:nvPr/>
        </p:nvCxnSpPr>
        <p:spPr>
          <a:xfrm>
            <a:off x="6329680" y="3035300"/>
            <a:ext cx="13716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18" name="s13-object17-text">
            <a:extLst>
              <a:ext uri="{FF2B5EF4-FFF2-40B4-BE49-F238E27FC236}">
                <a16:creationId xmlns:a16="http://schemas.microsoft.com/office/drawing/2014/main" id="{C15B3880-E4BE-8861-53E5-58F1C6393490}"/>
              </a:ext>
            </a:extLst>
          </p:cNvPr>
          <p:cNvSpPr txBox="1"/>
          <p:nvPr/>
        </p:nvSpPr>
        <p:spPr>
          <a:xfrm>
            <a:off x="6883400" y="2781300"/>
            <a:ext cx="4572000" cy="431800"/>
          </a:xfrm>
          <a:prstGeom prst="rect">
            <a:avLst/>
          </a:prstGeom>
          <a:noFill/>
        </p:spPr>
        <p:txBody>
          <a:bodyPr vert="horz" wrap="square" lIns="0" tIns="0" rIns="0" bIns="0" rtlCol="0" anchor="t">
            <a:noAutofit/>
          </a:bodyPr>
          <a:lstStyle/>
          <a:p>
            <a:r>
              <a:rPr lang="en-US" sz="2100" b="1">
                <a:solidFill>
                  <a:srgbClr val="193F35"/>
                </a:solidFill>
                <a:latin typeface="Calibri" panose="020F0502020204030204" pitchFamily="34" charset="0"/>
              </a:rPr>
              <a:t>Paper A · identified source text</a:t>
            </a:r>
            <a:endParaRPr lang="en-IN" sz="2100" b="1">
              <a:solidFill>
                <a:srgbClr val="193F35"/>
              </a:solidFill>
              <a:latin typeface="Calibri" panose="020F0502020204030204" pitchFamily="34" charset="0"/>
            </a:endParaRPr>
          </a:p>
        </p:txBody>
      </p:sp>
      <p:sp>
        <p:nvSpPr>
          <p:cNvPr id="19" name="s13-object18-rect">
            <a:extLst>
              <a:ext uri="{FF2B5EF4-FFF2-40B4-BE49-F238E27FC236}">
                <a16:creationId xmlns:a16="http://schemas.microsoft.com/office/drawing/2014/main" id="{69A28D0C-6C0F-7884-5D02-97638F3AC972}"/>
              </a:ext>
            </a:extLst>
          </p:cNvPr>
          <p:cNvSpPr/>
          <p:nvPr/>
        </p:nvSpPr>
        <p:spPr>
          <a:xfrm>
            <a:off x="6146800" y="3543300"/>
            <a:ext cx="5435600" cy="647700"/>
          </a:xfrm>
          <a:prstGeom prst="rect">
            <a:avLst/>
          </a:prstGeom>
          <a:solidFill>
            <a:srgbClr val="EDF4E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s13-object19-text">
            <a:extLst>
              <a:ext uri="{FF2B5EF4-FFF2-40B4-BE49-F238E27FC236}">
                <a16:creationId xmlns:a16="http://schemas.microsoft.com/office/drawing/2014/main" id="{E6126470-E321-C724-D976-0FD5E595772F}"/>
              </a:ext>
            </a:extLst>
          </p:cNvPr>
          <p:cNvSpPr txBox="1"/>
          <p:nvPr/>
        </p:nvSpPr>
        <p:spPr>
          <a:xfrm>
            <a:off x="6337300" y="3708400"/>
            <a:ext cx="635000" cy="342900"/>
          </a:xfrm>
          <a:prstGeom prst="rect">
            <a:avLst/>
          </a:prstGeom>
          <a:noFill/>
        </p:spPr>
        <p:txBody>
          <a:bodyPr vert="horz" wrap="square" lIns="0" tIns="0" rIns="0" bIns="0" rtlCol="0" anchor="t">
            <a:noAutofit/>
          </a:bodyPr>
          <a:lstStyle/>
          <a:p>
            <a:r>
              <a:rPr lang="en-IN" sz="1700" b="1">
                <a:solidFill>
                  <a:srgbClr val="2D7257"/>
                </a:solidFill>
                <a:latin typeface="Calibri" panose="020F0502020204030204" pitchFamily="34" charset="0"/>
              </a:rPr>
              <a:t>S12</a:t>
            </a:r>
          </a:p>
        </p:txBody>
      </p:sp>
      <p:sp>
        <p:nvSpPr>
          <p:cNvPr id="21" name="s13-object20-text">
            <a:extLst>
              <a:ext uri="{FF2B5EF4-FFF2-40B4-BE49-F238E27FC236}">
                <a16:creationId xmlns:a16="http://schemas.microsoft.com/office/drawing/2014/main" id="{D32458B5-0351-E80D-3DF7-EB756104E46C}"/>
              </a:ext>
            </a:extLst>
          </p:cNvPr>
          <p:cNvSpPr txBox="1"/>
          <p:nvPr/>
        </p:nvSpPr>
        <p:spPr>
          <a:xfrm>
            <a:off x="7099300" y="3695700"/>
            <a:ext cx="4305300" cy="355600"/>
          </a:xfrm>
          <a:prstGeom prst="rect">
            <a:avLst/>
          </a:prstGeom>
          <a:noFill/>
        </p:spPr>
        <p:txBody>
          <a:bodyPr vert="horz" wrap="square" lIns="0" tIns="0" rIns="0" bIns="0" rtlCol="0" anchor="t">
            <a:noAutofit/>
          </a:bodyPr>
          <a:lstStyle/>
          <a:p>
            <a:r>
              <a:rPr lang="en-IN">
                <a:solidFill>
                  <a:srgbClr val="193F35"/>
                </a:solidFill>
                <a:latin typeface="Calibri" panose="020F0502020204030204" pitchFamily="34" charset="0"/>
              </a:rPr>
              <a:t>Crop and disease context</a:t>
            </a:r>
          </a:p>
        </p:txBody>
      </p:sp>
      <p:sp>
        <p:nvSpPr>
          <p:cNvPr id="22" name="s13-object21-rect">
            <a:extLst>
              <a:ext uri="{FF2B5EF4-FFF2-40B4-BE49-F238E27FC236}">
                <a16:creationId xmlns:a16="http://schemas.microsoft.com/office/drawing/2014/main" id="{9ED4D512-8F29-7A74-3C8D-462F1DC2496B}"/>
              </a:ext>
            </a:extLst>
          </p:cNvPr>
          <p:cNvSpPr/>
          <p:nvPr/>
        </p:nvSpPr>
        <p:spPr>
          <a:xfrm>
            <a:off x="6146800" y="4318000"/>
            <a:ext cx="5435600" cy="647700"/>
          </a:xfrm>
          <a:prstGeom prst="rect">
            <a:avLst/>
          </a:prstGeom>
          <a:solidFill>
            <a:srgbClr val="EDF4E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s13-object22-text">
            <a:extLst>
              <a:ext uri="{FF2B5EF4-FFF2-40B4-BE49-F238E27FC236}">
                <a16:creationId xmlns:a16="http://schemas.microsoft.com/office/drawing/2014/main" id="{B7D47EF3-8679-D8A8-B374-5988E4424FE9}"/>
              </a:ext>
            </a:extLst>
          </p:cNvPr>
          <p:cNvSpPr txBox="1"/>
          <p:nvPr/>
        </p:nvSpPr>
        <p:spPr>
          <a:xfrm>
            <a:off x="6337300" y="4483100"/>
            <a:ext cx="635000" cy="342900"/>
          </a:xfrm>
          <a:prstGeom prst="rect">
            <a:avLst/>
          </a:prstGeom>
          <a:noFill/>
        </p:spPr>
        <p:txBody>
          <a:bodyPr vert="horz" wrap="square" lIns="0" tIns="0" rIns="0" bIns="0" rtlCol="0" anchor="t">
            <a:noAutofit/>
          </a:bodyPr>
          <a:lstStyle/>
          <a:p>
            <a:r>
              <a:rPr lang="en-IN" sz="1700" b="1">
                <a:solidFill>
                  <a:srgbClr val="2D7257"/>
                </a:solidFill>
                <a:latin typeface="Calibri" panose="020F0502020204030204" pitchFamily="34" charset="0"/>
              </a:rPr>
              <a:t>S13</a:t>
            </a:r>
          </a:p>
        </p:txBody>
      </p:sp>
      <p:sp>
        <p:nvSpPr>
          <p:cNvPr id="24" name="s13-object23-text">
            <a:extLst>
              <a:ext uri="{FF2B5EF4-FFF2-40B4-BE49-F238E27FC236}">
                <a16:creationId xmlns:a16="http://schemas.microsoft.com/office/drawing/2014/main" id="{80D8C256-4769-F903-716B-5CD099E020BB}"/>
              </a:ext>
            </a:extLst>
          </p:cNvPr>
          <p:cNvSpPr txBox="1"/>
          <p:nvPr/>
        </p:nvSpPr>
        <p:spPr>
          <a:xfrm>
            <a:off x="7099300" y="4470400"/>
            <a:ext cx="4305300" cy="355600"/>
          </a:xfrm>
          <a:prstGeom prst="rect">
            <a:avLst/>
          </a:prstGeom>
          <a:noFill/>
        </p:spPr>
        <p:txBody>
          <a:bodyPr vert="horz" wrap="square" lIns="0" tIns="0" rIns="0" bIns="0" rtlCol="0" anchor="t">
            <a:noAutofit/>
          </a:bodyPr>
          <a:lstStyle/>
          <a:p>
            <a:r>
              <a:rPr lang="en-IN">
                <a:solidFill>
                  <a:srgbClr val="193F35"/>
                </a:solidFill>
                <a:latin typeface="Calibri" panose="020F0502020204030204" pitchFamily="34" charset="0"/>
              </a:rPr>
              <a:t>Finding about grain mycotoxins</a:t>
            </a:r>
          </a:p>
        </p:txBody>
      </p:sp>
      <p:sp>
        <p:nvSpPr>
          <p:cNvPr id="25" name="s13-object24-rect">
            <a:extLst>
              <a:ext uri="{FF2B5EF4-FFF2-40B4-BE49-F238E27FC236}">
                <a16:creationId xmlns:a16="http://schemas.microsoft.com/office/drawing/2014/main" id="{E3DD0456-7C8F-7093-EAB4-15083E24C3A0}"/>
              </a:ext>
            </a:extLst>
          </p:cNvPr>
          <p:cNvSpPr/>
          <p:nvPr/>
        </p:nvSpPr>
        <p:spPr>
          <a:xfrm>
            <a:off x="6146800" y="5092700"/>
            <a:ext cx="5435600" cy="647700"/>
          </a:xfrm>
          <a:prstGeom prst="rect">
            <a:avLst/>
          </a:prstGeom>
          <a:solidFill>
            <a:srgbClr val="F7F1E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s13-object25-text">
            <a:extLst>
              <a:ext uri="{FF2B5EF4-FFF2-40B4-BE49-F238E27FC236}">
                <a16:creationId xmlns:a16="http://schemas.microsoft.com/office/drawing/2014/main" id="{88DF06E5-AE13-3367-5B0C-F1D062785D08}"/>
              </a:ext>
            </a:extLst>
          </p:cNvPr>
          <p:cNvSpPr txBox="1"/>
          <p:nvPr/>
        </p:nvSpPr>
        <p:spPr>
          <a:xfrm>
            <a:off x="6337300" y="5257800"/>
            <a:ext cx="635000" cy="342900"/>
          </a:xfrm>
          <a:prstGeom prst="rect">
            <a:avLst/>
          </a:prstGeom>
          <a:noFill/>
        </p:spPr>
        <p:txBody>
          <a:bodyPr vert="horz" wrap="square" lIns="0" tIns="0" rIns="0" bIns="0" rtlCol="0" anchor="t">
            <a:noAutofit/>
          </a:bodyPr>
          <a:lstStyle/>
          <a:p>
            <a:r>
              <a:rPr lang="en-IN" sz="1700" b="1">
                <a:solidFill>
                  <a:srgbClr val="2D7257"/>
                </a:solidFill>
                <a:latin typeface="Calibri" panose="020F0502020204030204" pitchFamily="34" charset="0"/>
              </a:rPr>
              <a:t>S14</a:t>
            </a:r>
          </a:p>
        </p:txBody>
      </p:sp>
      <p:sp>
        <p:nvSpPr>
          <p:cNvPr id="27" name="s13-object26-text">
            <a:extLst>
              <a:ext uri="{FF2B5EF4-FFF2-40B4-BE49-F238E27FC236}">
                <a16:creationId xmlns:a16="http://schemas.microsoft.com/office/drawing/2014/main" id="{85FEBA9E-9AEB-C5A1-7D06-CFA2411A24A9}"/>
              </a:ext>
            </a:extLst>
          </p:cNvPr>
          <p:cNvSpPr txBox="1"/>
          <p:nvPr/>
        </p:nvSpPr>
        <p:spPr>
          <a:xfrm>
            <a:off x="7099300" y="5245100"/>
            <a:ext cx="4305300" cy="355600"/>
          </a:xfrm>
          <a:prstGeom prst="rect">
            <a:avLst/>
          </a:prstGeom>
          <a:noFill/>
        </p:spPr>
        <p:txBody>
          <a:bodyPr vert="horz" wrap="square" lIns="0" tIns="0" rIns="0" bIns="0" rtlCol="0" anchor="t">
            <a:noAutofit/>
          </a:bodyPr>
          <a:lstStyle/>
          <a:p>
            <a:r>
              <a:rPr lang="en-IN">
                <a:solidFill>
                  <a:srgbClr val="193F35"/>
                </a:solidFill>
                <a:latin typeface="Calibri" panose="020F0502020204030204" pitchFamily="34" charset="0"/>
              </a:rPr>
              <a:t>Study conditions or limitations</a:t>
            </a:r>
          </a:p>
        </p:txBody>
      </p:sp>
      <p:sp>
        <p:nvSpPr>
          <p:cNvPr id="28" name="s13-object27-text">
            <a:extLst>
              <a:ext uri="{FF2B5EF4-FFF2-40B4-BE49-F238E27FC236}">
                <a16:creationId xmlns:a16="http://schemas.microsoft.com/office/drawing/2014/main" id="{0CF8C801-4A22-ABE2-AA1B-D4903088183D}"/>
              </a:ext>
            </a:extLst>
          </p:cNvPr>
          <p:cNvSpPr txBox="1"/>
          <p:nvPr/>
        </p:nvSpPr>
        <p:spPr>
          <a:xfrm>
            <a:off x="6146800" y="6019800"/>
            <a:ext cx="5435600" cy="355600"/>
          </a:xfrm>
          <a:prstGeom prst="rect">
            <a:avLst/>
          </a:prstGeom>
          <a:noFill/>
        </p:spPr>
        <p:txBody>
          <a:bodyPr vert="horz" wrap="square" lIns="0" tIns="0" rIns="0" bIns="0" rtlCol="0" anchor="t">
            <a:noAutofit/>
          </a:bodyPr>
          <a:lstStyle/>
          <a:p>
            <a:r>
              <a:rPr lang="en-US" sz="1600">
                <a:solidFill>
                  <a:srgbClr val="2D7257"/>
                </a:solidFill>
                <a:latin typeface="Calibri" panose="020F0502020204030204" pitchFamily="34" charset="0"/>
              </a:rPr>
              <a:t>Select evidence together with its relevant context.</a:t>
            </a:r>
            <a:endParaRPr lang="en-IN" sz="1600">
              <a:solidFill>
                <a:srgbClr val="2D7257"/>
              </a:solidFill>
              <a:latin typeface="Calibri" panose="020F0502020204030204" pitchFamily="34" charset="0"/>
            </a:endParaRPr>
          </a:p>
        </p:txBody>
      </p:sp>
    </p:spTree>
    <p:extLst>
      <p:ext uri="{BB962C8B-B14F-4D97-AF65-F5344CB8AC3E}">
        <p14:creationId xmlns:p14="http://schemas.microsoft.com/office/powerpoint/2010/main" val="2438721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CFDFB"/>
        </a:solidFill>
        <a:effectLst/>
      </p:bgPr>
    </p:bg>
    <p:spTree>
      <p:nvGrpSpPr>
        <p:cNvPr id="1" name=""/>
        <p:cNvGrpSpPr/>
        <p:nvPr/>
      </p:nvGrpSpPr>
      <p:grpSpPr>
        <a:xfrm>
          <a:off x="0" y="0"/>
          <a:ext cx="0" cy="0"/>
          <a:chOff x="0" y="0"/>
          <a:chExt cx="0" cy="0"/>
        </a:xfrm>
      </p:grpSpPr>
      <p:sp>
        <p:nvSpPr>
          <p:cNvPr id="2" name="s14-object1-text">
            <a:extLst>
              <a:ext uri="{FF2B5EF4-FFF2-40B4-BE49-F238E27FC236}">
                <a16:creationId xmlns:a16="http://schemas.microsoft.com/office/drawing/2014/main" id="{B7F7CD59-6CAC-64C3-B862-0D0F7F7E0F05}"/>
              </a:ext>
            </a:extLst>
          </p:cNvPr>
          <p:cNvSpPr txBox="1"/>
          <p:nvPr/>
        </p:nvSpPr>
        <p:spPr>
          <a:xfrm>
            <a:off x="609600" y="304800"/>
            <a:ext cx="10972800" cy="228600"/>
          </a:xfrm>
          <a:prstGeom prst="rect">
            <a:avLst/>
          </a:prstGeom>
          <a:noFill/>
        </p:spPr>
        <p:txBody>
          <a:bodyPr vert="horz" wrap="square" lIns="0" tIns="0" rIns="0" bIns="0" rtlCol="0" anchor="t">
            <a:noAutofit/>
          </a:bodyPr>
          <a:lstStyle/>
          <a:p>
            <a:r>
              <a:rPr lang="en-US" sz="1000" b="1">
                <a:solidFill>
                  <a:srgbClr val="2D7257"/>
                </a:solidFill>
                <a:latin typeface="Calibri" panose="020F0502020204030204" pitchFamily="34" charset="0"/>
              </a:rPr>
              <a:t>STAGE 8  /  PAPER ASSESSMENT · DEEPSEEK FLASH</a:t>
            </a:r>
            <a:endParaRPr lang="en-IN" sz="1000" b="1">
              <a:solidFill>
                <a:srgbClr val="2D7257"/>
              </a:solidFill>
              <a:latin typeface="Calibri" panose="020F0502020204030204" pitchFamily="34" charset="0"/>
            </a:endParaRPr>
          </a:p>
        </p:txBody>
      </p:sp>
      <p:sp>
        <p:nvSpPr>
          <p:cNvPr id="3" name="s14-object2-text">
            <a:extLst>
              <a:ext uri="{FF2B5EF4-FFF2-40B4-BE49-F238E27FC236}">
                <a16:creationId xmlns:a16="http://schemas.microsoft.com/office/drawing/2014/main" id="{78A8A4B5-7B24-6FA0-C56A-340221D6B9BF}"/>
              </a:ext>
            </a:extLst>
          </p:cNvPr>
          <p:cNvSpPr txBox="1"/>
          <p:nvPr/>
        </p:nvSpPr>
        <p:spPr>
          <a:xfrm>
            <a:off x="609600" y="647700"/>
            <a:ext cx="10972800" cy="622300"/>
          </a:xfrm>
          <a:prstGeom prst="rect">
            <a:avLst/>
          </a:prstGeom>
          <a:noFill/>
        </p:spPr>
        <p:txBody>
          <a:bodyPr vert="horz" wrap="square" lIns="0" tIns="0" rIns="0" bIns="0" rtlCol="0" anchor="t">
            <a:noAutofit/>
          </a:bodyPr>
          <a:lstStyle/>
          <a:p>
            <a:r>
              <a:rPr lang="en-IN" sz="3000" b="1">
                <a:solidFill>
                  <a:srgbClr val="193F35"/>
                </a:solidFill>
                <a:latin typeface="Calibri" panose="020F0502020204030204" pitchFamily="34" charset="0"/>
              </a:rPr>
              <a:t>Per-paper evidence judgement</a:t>
            </a:r>
          </a:p>
        </p:txBody>
      </p:sp>
      <p:sp>
        <p:nvSpPr>
          <p:cNvPr id="4" name="s14-object3-text">
            <a:extLst>
              <a:ext uri="{FF2B5EF4-FFF2-40B4-BE49-F238E27FC236}">
                <a16:creationId xmlns:a16="http://schemas.microsoft.com/office/drawing/2014/main" id="{83AF7A9C-92AA-8C5A-E17F-CE8A9FC6150C}"/>
              </a:ext>
            </a:extLst>
          </p:cNvPr>
          <p:cNvSpPr txBox="1"/>
          <p:nvPr/>
        </p:nvSpPr>
        <p:spPr>
          <a:xfrm>
            <a:off x="609600" y="1346200"/>
            <a:ext cx="10972800" cy="609600"/>
          </a:xfrm>
          <a:prstGeom prst="rect">
            <a:avLst/>
          </a:prstGeom>
          <a:noFill/>
        </p:spPr>
        <p:txBody>
          <a:bodyPr vert="horz" wrap="square" lIns="0" tIns="0" rIns="0" bIns="0" rtlCol="0" anchor="t">
            <a:noAutofit/>
          </a:bodyPr>
          <a:lstStyle/>
          <a:p>
            <a:r>
              <a:rPr lang="en-US" sz="1700">
                <a:solidFill>
                  <a:srgbClr val="2D7257"/>
                </a:solidFill>
                <a:latin typeface="Calibri" panose="020F0502020204030204" pitchFamily="34" charset="0"/>
              </a:rPr>
              <a:t>Purpose: Ask whether one paper supports, contradicts or does not address each related claim.</a:t>
            </a:r>
            <a:endParaRPr lang="en-IN" sz="1700">
              <a:solidFill>
                <a:srgbClr val="2D7257"/>
              </a:solidFill>
              <a:latin typeface="Calibri" panose="020F0502020204030204" pitchFamily="34" charset="0"/>
            </a:endParaRPr>
          </a:p>
        </p:txBody>
      </p:sp>
      <p:cxnSp>
        <p:nvCxnSpPr>
          <p:cNvPr id="5" name="s14-object4-line">
            <a:extLst>
              <a:ext uri="{FF2B5EF4-FFF2-40B4-BE49-F238E27FC236}">
                <a16:creationId xmlns:a16="http://schemas.microsoft.com/office/drawing/2014/main" id="{2A023401-D13F-39AC-9EA6-CF330552DE33}"/>
              </a:ext>
            </a:extLst>
          </p:cNvPr>
          <p:cNvCxnSpPr/>
          <p:nvPr/>
        </p:nvCxnSpPr>
        <p:spPr>
          <a:xfrm>
            <a:off x="609600" y="6477000"/>
            <a:ext cx="10972800" cy="0"/>
          </a:xfrm>
          <a:prstGeom prst="line">
            <a:avLst/>
          </a:prstGeom>
          <a:ln w="16510">
            <a:solidFill>
              <a:srgbClr val="D7E3DA"/>
            </a:solidFill>
          </a:ln>
        </p:spPr>
        <p:style>
          <a:lnRef idx="2">
            <a:schemeClr val="accent1"/>
          </a:lnRef>
          <a:fillRef idx="0">
            <a:schemeClr val="accent1"/>
          </a:fillRef>
          <a:effectRef idx="1">
            <a:schemeClr val="accent1"/>
          </a:effectRef>
          <a:fontRef idx="minor">
            <a:schemeClr val="tx1"/>
          </a:fontRef>
        </p:style>
      </p:cxnSp>
      <p:sp>
        <p:nvSpPr>
          <p:cNvPr id="6" name="s14-object5-text">
            <a:extLst>
              <a:ext uri="{FF2B5EF4-FFF2-40B4-BE49-F238E27FC236}">
                <a16:creationId xmlns:a16="http://schemas.microsoft.com/office/drawing/2014/main" id="{339F8A74-753B-642E-C698-610878128716}"/>
              </a:ext>
            </a:extLst>
          </p:cNvPr>
          <p:cNvSpPr txBox="1"/>
          <p:nvPr/>
        </p:nvSpPr>
        <p:spPr>
          <a:xfrm>
            <a:off x="609600" y="6553200"/>
            <a:ext cx="8255000" cy="190500"/>
          </a:xfrm>
          <a:prstGeom prst="rect">
            <a:avLst/>
          </a:prstGeom>
          <a:noFill/>
        </p:spPr>
        <p:txBody>
          <a:bodyPr vert="horz" wrap="square" lIns="0" tIns="0" rIns="0" bIns="0" rtlCol="0" anchor="t">
            <a:noAutofit/>
          </a:bodyPr>
          <a:lstStyle/>
          <a:p>
            <a:r>
              <a:rPr lang="en-US" sz="900">
                <a:solidFill>
                  <a:srgbClr val="62756A"/>
                </a:solidFill>
                <a:latin typeface="Calibri" panose="020F0502020204030204" pitchFamily="34" charset="0"/>
              </a:rPr>
              <a:t>Reasoning with Food Knowledge Graphs</a:t>
            </a:r>
            <a:endParaRPr lang="en-IN" sz="900">
              <a:solidFill>
                <a:srgbClr val="62756A"/>
              </a:solidFill>
              <a:latin typeface="Calibri" panose="020F0502020204030204" pitchFamily="34" charset="0"/>
            </a:endParaRPr>
          </a:p>
        </p:txBody>
      </p:sp>
      <p:sp>
        <p:nvSpPr>
          <p:cNvPr id="7" name="s14-object6-text">
            <a:extLst>
              <a:ext uri="{FF2B5EF4-FFF2-40B4-BE49-F238E27FC236}">
                <a16:creationId xmlns:a16="http://schemas.microsoft.com/office/drawing/2014/main" id="{139EC448-B38D-72E7-7334-687A0FF0A398}"/>
              </a:ext>
            </a:extLst>
          </p:cNvPr>
          <p:cNvSpPr txBox="1"/>
          <p:nvPr/>
        </p:nvSpPr>
        <p:spPr>
          <a:xfrm>
            <a:off x="11049000" y="6553200"/>
            <a:ext cx="533400" cy="190500"/>
          </a:xfrm>
          <a:prstGeom prst="rect">
            <a:avLst/>
          </a:prstGeom>
          <a:noFill/>
        </p:spPr>
        <p:txBody>
          <a:bodyPr vert="horz" wrap="square" lIns="0" tIns="0" rIns="0" bIns="0" rtlCol="0" anchor="t">
            <a:noAutofit/>
          </a:bodyPr>
          <a:lstStyle/>
          <a:p>
            <a:pPr algn="r"/>
            <a:r>
              <a:rPr lang="en-IN" sz="900">
                <a:solidFill>
                  <a:srgbClr val="62756A"/>
                </a:solidFill>
                <a:latin typeface="Calibri" panose="020F0502020204030204" pitchFamily="34" charset="0"/>
              </a:rPr>
              <a:t>14</a:t>
            </a:r>
          </a:p>
        </p:txBody>
      </p:sp>
      <p:sp>
        <p:nvSpPr>
          <p:cNvPr id="8" name="s14-object7-text">
            <a:extLst>
              <a:ext uri="{FF2B5EF4-FFF2-40B4-BE49-F238E27FC236}">
                <a16:creationId xmlns:a16="http://schemas.microsoft.com/office/drawing/2014/main" id="{EB253ED7-5819-E448-8184-649E1802174A}"/>
              </a:ext>
            </a:extLst>
          </p:cNvPr>
          <p:cNvSpPr txBox="1"/>
          <p:nvPr/>
        </p:nvSpPr>
        <p:spPr>
          <a:xfrm>
            <a:off x="609600" y="2260600"/>
            <a:ext cx="4889500" cy="254000"/>
          </a:xfrm>
          <a:prstGeom prst="rect">
            <a:avLst/>
          </a:prstGeom>
          <a:noFill/>
        </p:spPr>
        <p:txBody>
          <a:bodyPr vert="horz" wrap="square" lIns="0" tIns="0" rIns="0" bIns="0" rtlCol="0" anchor="t">
            <a:noAutofit/>
          </a:bodyPr>
          <a:lstStyle/>
          <a:p>
            <a:r>
              <a:rPr lang="en-IN" sz="1200" b="1">
                <a:solidFill>
                  <a:srgbClr val="2D7257"/>
                </a:solidFill>
                <a:latin typeface="Calibri" panose="020F0502020204030204" pitchFamily="34" charset="0"/>
              </a:rPr>
              <a:t>WHAT HAPPENS</a:t>
            </a:r>
          </a:p>
        </p:txBody>
      </p:sp>
      <p:sp>
        <p:nvSpPr>
          <p:cNvPr id="9" name="s14-object8-text">
            <a:extLst>
              <a:ext uri="{FF2B5EF4-FFF2-40B4-BE49-F238E27FC236}">
                <a16:creationId xmlns:a16="http://schemas.microsoft.com/office/drawing/2014/main" id="{965606AE-0A03-31FB-150E-5BAD331D2657}"/>
              </a:ext>
            </a:extLst>
          </p:cNvPr>
          <p:cNvSpPr txBox="1"/>
          <p:nvPr/>
        </p:nvSpPr>
        <p:spPr>
          <a:xfrm>
            <a:off x="609600" y="2628900"/>
            <a:ext cx="4889500" cy="1092200"/>
          </a:xfrm>
          <a:prstGeom prst="rect">
            <a:avLst/>
          </a:prstGeom>
          <a:noFill/>
        </p:spPr>
        <p:txBody>
          <a:bodyPr vert="horz" wrap="square" lIns="0" tIns="0" rIns="0" bIns="0" rtlCol="0" anchor="t">
            <a:noAutofit/>
          </a:bodyPr>
          <a:lstStyle/>
          <a:p>
            <a:r>
              <a:rPr lang="en-US">
                <a:solidFill>
                  <a:srgbClr val="193F35"/>
                </a:solidFill>
                <a:latin typeface="Calibri" panose="020F0502020204030204" pitchFamily="34" charset="0"/>
              </a:rPr>
              <a:t>DeepSeek Flash reads selected passages from one paper against the related claims.</a:t>
            </a:r>
            <a:endParaRPr lang="en-IN">
              <a:solidFill>
                <a:srgbClr val="193F35"/>
              </a:solidFill>
              <a:latin typeface="Calibri" panose="020F0502020204030204" pitchFamily="34" charset="0"/>
            </a:endParaRPr>
          </a:p>
        </p:txBody>
      </p:sp>
      <p:sp>
        <p:nvSpPr>
          <p:cNvPr id="10" name="s14-object9-text">
            <a:extLst>
              <a:ext uri="{FF2B5EF4-FFF2-40B4-BE49-F238E27FC236}">
                <a16:creationId xmlns:a16="http://schemas.microsoft.com/office/drawing/2014/main" id="{DC4E2E77-06F7-C45C-4230-C9845C69664C}"/>
              </a:ext>
            </a:extLst>
          </p:cNvPr>
          <p:cNvSpPr txBox="1"/>
          <p:nvPr/>
        </p:nvSpPr>
        <p:spPr>
          <a:xfrm>
            <a:off x="609600" y="3924300"/>
            <a:ext cx="4889500" cy="1079500"/>
          </a:xfrm>
          <a:prstGeom prst="rect">
            <a:avLst/>
          </a:prstGeom>
          <a:noFill/>
        </p:spPr>
        <p:txBody>
          <a:bodyPr vert="horz" wrap="square" lIns="0" tIns="0" rIns="0" bIns="0" rtlCol="0" anchor="t">
            <a:noAutofit/>
          </a:bodyPr>
          <a:lstStyle/>
          <a:p>
            <a:r>
              <a:rPr lang="en-US">
                <a:solidFill>
                  <a:srgbClr val="193F35"/>
                </a:solidFill>
                <a:latin typeface="Calibri" panose="020F0502020204030204" pitchFamily="34" charset="0"/>
              </a:rPr>
              <a:t>Judge the endpoints, relation, conditions and certainty separately for every claim. Return the selected evidence.</a:t>
            </a:r>
            <a:endParaRPr lang="en-IN">
              <a:solidFill>
                <a:srgbClr val="193F35"/>
              </a:solidFill>
              <a:latin typeface="Calibri" panose="020F0502020204030204" pitchFamily="34" charset="0"/>
            </a:endParaRPr>
          </a:p>
        </p:txBody>
      </p:sp>
      <p:sp>
        <p:nvSpPr>
          <p:cNvPr id="11" name="s14-object10-text">
            <a:extLst>
              <a:ext uri="{FF2B5EF4-FFF2-40B4-BE49-F238E27FC236}">
                <a16:creationId xmlns:a16="http://schemas.microsoft.com/office/drawing/2014/main" id="{D3E68B4C-ADDA-6952-A303-8364F74D82B5}"/>
              </a:ext>
            </a:extLst>
          </p:cNvPr>
          <p:cNvSpPr txBox="1"/>
          <p:nvPr/>
        </p:nvSpPr>
        <p:spPr>
          <a:xfrm>
            <a:off x="609600" y="5194300"/>
            <a:ext cx="4889500" cy="254000"/>
          </a:xfrm>
          <a:prstGeom prst="rect">
            <a:avLst/>
          </a:prstGeom>
          <a:noFill/>
        </p:spPr>
        <p:txBody>
          <a:bodyPr vert="horz" wrap="square" lIns="0" tIns="0" rIns="0" bIns="0" rtlCol="0" anchor="t">
            <a:noAutofit/>
          </a:bodyPr>
          <a:lstStyle/>
          <a:p>
            <a:r>
              <a:rPr lang="en-IN" sz="1200" b="1">
                <a:solidFill>
                  <a:srgbClr val="2D7257"/>
                </a:solidFill>
                <a:latin typeface="Calibri" panose="020F0502020204030204" pitchFamily="34" charset="0"/>
              </a:rPr>
              <a:t>OUTPUT</a:t>
            </a:r>
          </a:p>
        </p:txBody>
      </p:sp>
      <p:sp>
        <p:nvSpPr>
          <p:cNvPr id="12" name="s14-object11-text">
            <a:extLst>
              <a:ext uri="{FF2B5EF4-FFF2-40B4-BE49-F238E27FC236}">
                <a16:creationId xmlns:a16="http://schemas.microsoft.com/office/drawing/2014/main" id="{27974A5B-BF00-445D-508F-30F4EA4041A2}"/>
              </a:ext>
            </a:extLst>
          </p:cNvPr>
          <p:cNvSpPr txBox="1"/>
          <p:nvPr/>
        </p:nvSpPr>
        <p:spPr>
          <a:xfrm>
            <a:off x="609600" y="5549900"/>
            <a:ext cx="4889500" cy="787400"/>
          </a:xfrm>
          <a:prstGeom prst="rect">
            <a:avLst/>
          </a:prstGeom>
          <a:noFill/>
        </p:spPr>
        <p:txBody>
          <a:bodyPr vert="horz" wrap="square" lIns="0" tIns="0" rIns="0" bIns="0" rtlCol="0" anchor="t">
            <a:noAutofit/>
          </a:bodyPr>
          <a:lstStyle/>
          <a:p>
            <a:r>
              <a:rPr lang="en-US" sz="1700">
                <a:solidFill>
                  <a:srgbClr val="62756A"/>
                </a:solidFill>
                <a:latin typeface="Calibri" panose="020F0502020204030204" pitchFamily="34" charset="0"/>
              </a:rPr>
              <a:t>Each claim’s verdict, paper finding and selected proof, with reasons for review.</a:t>
            </a:r>
            <a:endParaRPr lang="en-IN" sz="1700">
              <a:solidFill>
                <a:srgbClr val="62756A"/>
              </a:solidFill>
              <a:latin typeface="Calibri" panose="020F0502020204030204" pitchFamily="34" charset="0"/>
            </a:endParaRPr>
          </a:p>
        </p:txBody>
      </p:sp>
      <p:sp>
        <p:nvSpPr>
          <p:cNvPr id="13" name="s14-object12-text">
            <a:extLst>
              <a:ext uri="{FF2B5EF4-FFF2-40B4-BE49-F238E27FC236}">
                <a16:creationId xmlns:a16="http://schemas.microsoft.com/office/drawing/2014/main" id="{CFE59C4A-782C-5627-8F02-C89F1172FDBD}"/>
              </a:ext>
            </a:extLst>
          </p:cNvPr>
          <p:cNvSpPr txBox="1"/>
          <p:nvPr/>
        </p:nvSpPr>
        <p:spPr>
          <a:xfrm>
            <a:off x="6146800" y="2260600"/>
            <a:ext cx="5435600" cy="254000"/>
          </a:xfrm>
          <a:prstGeom prst="rect">
            <a:avLst/>
          </a:prstGeom>
          <a:noFill/>
        </p:spPr>
        <p:txBody>
          <a:bodyPr vert="horz" wrap="square" lIns="0" tIns="0" rIns="0" bIns="0" rtlCol="0" anchor="t">
            <a:noAutofit/>
          </a:bodyPr>
          <a:lstStyle/>
          <a:p>
            <a:r>
              <a:rPr lang="en-IN" sz="1200" b="1">
                <a:solidFill>
                  <a:srgbClr val="2D7257"/>
                </a:solidFill>
                <a:latin typeface="Calibri" panose="020F0502020204030204" pitchFamily="34" charset="0"/>
              </a:rPr>
              <a:t>ILLUSTRATIVE SHARED-PAPER ASSESSMENT</a:t>
            </a:r>
          </a:p>
        </p:txBody>
      </p:sp>
      <p:cxnSp>
        <p:nvCxnSpPr>
          <p:cNvPr id="14" name="s14-object13-line">
            <a:extLst>
              <a:ext uri="{FF2B5EF4-FFF2-40B4-BE49-F238E27FC236}">
                <a16:creationId xmlns:a16="http://schemas.microsoft.com/office/drawing/2014/main" id="{BE9C5D53-5E49-6C50-CDD0-C314D28B90DE}"/>
              </a:ext>
            </a:extLst>
          </p:cNvPr>
          <p:cNvCxnSpPr/>
          <p:nvPr/>
        </p:nvCxnSpPr>
        <p:spPr>
          <a:xfrm>
            <a:off x="6305550" y="2851150"/>
            <a:ext cx="0" cy="3810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5" name="s14-object14-line">
            <a:extLst>
              <a:ext uri="{FF2B5EF4-FFF2-40B4-BE49-F238E27FC236}">
                <a16:creationId xmlns:a16="http://schemas.microsoft.com/office/drawing/2014/main" id="{61EDD87A-9C50-63C6-2B34-C2086094A207}"/>
              </a:ext>
            </a:extLst>
          </p:cNvPr>
          <p:cNvCxnSpPr/>
          <p:nvPr/>
        </p:nvCxnSpPr>
        <p:spPr>
          <a:xfrm>
            <a:off x="6724650" y="2851150"/>
            <a:ext cx="0" cy="3810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6" name="s14-object15-line">
            <a:extLst>
              <a:ext uri="{FF2B5EF4-FFF2-40B4-BE49-F238E27FC236}">
                <a16:creationId xmlns:a16="http://schemas.microsoft.com/office/drawing/2014/main" id="{AF407E4B-DDCB-279E-081C-50B73E5B6F75}"/>
              </a:ext>
            </a:extLst>
          </p:cNvPr>
          <p:cNvCxnSpPr/>
          <p:nvPr/>
        </p:nvCxnSpPr>
        <p:spPr>
          <a:xfrm>
            <a:off x="6515100" y="2908300"/>
            <a:ext cx="0" cy="36195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7" name="s14-object16-line">
            <a:extLst>
              <a:ext uri="{FF2B5EF4-FFF2-40B4-BE49-F238E27FC236}">
                <a16:creationId xmlns:a16="http://schemas.microsoft.com/office/drawing/2014/main" id="{3095C896-BAF3-CA36-D365-6A9CFF31623D}"/>
              </a:ext>
            </a:extLst>
          </p:cNvPr>
          <p:cNvCxnSpPr/>
          <p:nvPr/>
        </p:nvCxnSpPr>
        <p:spPr>
          <a:xfrm>
            <a:off x="6305550" y="2851150"/>
            <a:ext cx="13335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8" name="s14-object17-line">
            <a:extLst>
              <a:ext uri="{FF2B5EF4-FFF2-40B4-BE49-F238E27FC236}">
                <a16:creationId xmlns:a16="http://schemas.microsoft.com/office/drawing/2014/main" id="{45E7A50F-5D68-5C59-420B-17AD7873BD37}"/>
              </a:ext>
            </a:extLst>
          </p:cNvPr>
          <p:cNvCxnSpPr/>
          <p:nvPr/>
        </p:nvCxnSpPr>
        <p:spPr>
          <a:xfrm>
            <a:off x="6438900" y="2851150"/>
            <a:ext cx="76200" cy="5715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9" name="s14-object18-line">
            <a:extLst>
              <a:ext uri="{FF2B5EF4-FFF2-40B4-BE49-F238E27FC236}">
                <a16:creationId xmlns:a16="http://schemas.microsoft.com/office/drawing/2014/main" id="{34F506EF-B510-52DC-4C61-AC672CD7BA49}"/>
              </a:ext>
            </a:extLst>
          </p:cNvPr>
          <p:cNvCxnSpPr/>
          <p:nvPr/>
        </p:nvCxnSpPr>
        <p:spPr>
          <a:xfrm flipV="1">
            <a:off x="6515100" y="2851150"/>
            <a:ext cx="76200" cy="5715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0" name="s14-object19-line">
            <a:extLst>
              <a:ext uri="{FF2B5EF4-FFF2-40B4-BE49-F238E27FC236}">
                <a16:creationId xmlns:a16="http://schemas.microsoft.com/office/drawing/2014/main" id="{5ADA7AB6-3F14-4CB5-C774-D573E5F0EBE6}"/>
              </a:ext>
            </a:extLst>
          </p:cNvPr>
          <p:cNvCxnSpPr/>
          <p:nvPr/>
        </p:nvCxnSpPr>
        <p:spPr>
          <a:xfrm>
            <a:off x="6591300" y="2851150"/>
            <a:ext cx="13335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1" name="s14-object20-line">
            <a:extLst>
              <a:ext uri="{FF2B5EF4-FFF2-40B4-BE49-F238E27FC236}">
                <a16:creationId xmlns:a16="http://schemas.microsoft.com/office/drawing/2014/main" id="{EFE44882-1043-5CD6-672A-8DD319287B7F}"/>
              </a:ext>
            </a:extLst>
          </p:cNvPr>
          <p:cNvCxnSpPr/>
          <p:nvPr/>
        </p:nvCxnSpPr>
        <p:spPr>
          <a:xfrm>
            <a:off x="6305550" y="3232150"/>
            <a:ext cx="13335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2" name="s14-object21-line">
            <a:extLst>
              <a:ext uri="{FF2B5EF4-FFF2-40B4-BE49-F238E27FC236}">
                <a16:creationId xmlns:a16="http://schemas.microsoft.com/office/drawing/2014/main" id="{CEB52088-E75C-F91B-9A52-4B20E23006B1}"/>
              </a:ext>
            </a:extLst>
          </p:cNvPr>
          <p:cNvCxnSpPr/>
          <p:nvPr/>
        </p:nvCxnSpPr>
        <p:spPr>
          <a:xfrm>
            <a:off x="6438900" y="3232150"/>
            <a:ext cx="76200" cy="381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3" name="s14-object22-line">
            <a:extLst>
              <a:ext uri="{FF2B5EF4-FFF2-40B4-BE49-F238E27FC236}">
                <a16:creationId xmlns:a16="http://schemas.microsoft.com/office/drawing/2014/main" id="{1DDDCD3E-EBFD-94EB-2DBE-E8956701E2CF}"/>
              </a:ext>
            </a:extLst>
          </p:cNvPr>
          <p:cNvCxnSpPr/>
          <p:nvPr/>
        </p:nvCxnSpPr>
        <p:spPr>
          <a:xfrm flipV="1">
            <a:off x="6515100" y="3232150"/>
            <a:ext cx="76200" cy="381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4" name="s14-object23-line">
            <a:extLst>
              <a:ext uri="{FF2B5EF4-FFF2-40B4-BE49-F238E27FC236}">
                <a16:creationId xmlns:a16="http://schemas.microsoft.com/office/drawing/2014/main" id="{350B8B4D-DD29-0851-9E4B-D1473A56AE3B}"/>
              </a:ext>
            </a:extLst>
          </p:cNvPr>
          <p:cNvCxnSpPr/>
          <p:nvPr/>
        </p:nvCxnSpPr>
        <p:spPr>
          <a:xfrm>
            <a:off x="6591300" y="3232150"/>
            <a:ext cx="13335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25" name="s14-object24-text">
            <a:extLst>
              <a:ext uri="{FF2B5EF4-FFF2-40B4-BE49-F238E27FC236}">
                <a16:creationId xmlns:a16="http://schemas.microsoft.com/office/drawing/2014/main" id="{0E8FC899-4FFD-6EF2-3543-F86EA071751C}"/>
              </a:ext>
            </a:extLst>
          </p:cNvPr>
          <p:cNvSpPr txBox="1"/>
          <p:nvPr/>
        </p:nvSpPr>
        <p:spPr>
          <a:xfrm>
            <a:off x="7010400" y="2882900"/>
            <a:ext cx="4406900" cy="635000"/>
          </a:xfrm>
          <a:prstGeom prst="rect">
            <a:avLst/>
          </a:prstGeom>
          <a:noFill/>
        </p:spPr>
        <p:txBody>
          <a:bodyPr vert="horz" wrap="square" lIns="0" tIns="0" rIns="0" bIns="0" rtlCol="0" anchor="t">
            <a:noAutofit/>
          </a:bodyPr>
          <a:lstStyle/>
          <a:p>
            <a:r>
              <a:rPr lang="en-US" sz="2200" b="1">
                <a:solidFill>
                  <a:srgbClr val="193F35"/>
                </a:solidFill>
                <a:latin typeface="Calibri" panose="020F0502020204030204" pitchFamily="34" charset="0"/>
              </a:rPr>
              <a:t>Paper A + claims C1 and C2</a:t>
            </a:r>
            <a:endParaRPr lang="en-IN" sz="2200" b="1">
              <a:solidFill>
                <a:srgbClr val="193F35"/>
              </a:solidFill>
              <a:latin typeface="Calibri" panose="020F0502020204030204" pitchFamily="34" charset="0"/>
            </a:endParaRPr>
          </a:p>
        </p:txBody>
      </p:sp>
      <p:cxnSp>
        <p:nvCxnSpPr>
          <p:cNvPr id="26" name="s14-object25-line">
            <a:extLst>
              <a:ext uri="{FF2B5EF4-FFF2-40B4-BE49-F238E27FC236}">
                <a16:creationId xmlns:a16="http://schemas.microsoft.com/office/drawing/2014/main" id="{1385D6E6-9783-9EF8-0459-DFFF8BBC00BF}"/>
              </a:ext>
            </a:extLst>
          </p:cNvPr>
          <p:cNvCxnSpPr/>
          <p:nvPr/>
        </p:nvCxnSpPr>
        <p:spPr>
          <a:xfrm>
            <a:off x="8902700" y="3556000"/>
            <a:ext cx="0" cy="381000"/>
          </a:xfrm>
          <a:prstGeom prst="line">
            <a:avLst/>
          </a:prstGeom>
          <a:ln w="19050">
            <a:solidFill>
              <a:srgbClr val="2D7257"/>
            </a:solidFill>
            <a:tailEnd type="arrow"/>
          </a:ln>
        </p:spPr>
        <p:style>
          <a:lnRef idx="2">
            <a:schemeClr val="accent1"/>
          </a:lnRef>
          <a:fillRef idx="0">
            <a:schemeClr val="accent1"/>
          </a:fillRef>
          <a:effectRef idx="1">
            <a:schemeClr val="accent1"/>
          </a:effectRef>
          <a:fontRef idx="minor">
            <a:schemeClr val="tx1"/>
          </a:fontRef>
        </p:style>
      </p:cxnSp>
      <p:sp>
        <p:nvSpPr>
          <p:cNvPr id="27" name="s14-object26-rect">
            <a:extLst>
              <a:ext uri="{FF2B5EF4-FFF2-40B4-BE49-F238E27FC236}">
                <a16:creationId xmlns:a16="http://schemas.microsoft.com/office/drawing/2014/main" id="{04F01BB1-5BFB-C179-55BB-5343F1A3954B}"/>
              </a:ext>
            </a:extLst>
          </p:cNvPr>
          <p:cNvSpPr/>
          <p:nvPr/>
        </p:nvSpPr>
        <p:spPr>
          <a:xfrm>
            <a:off x="6794500" y="4038600"/>
            <a:ext cx="4203700" cy="685800"/>
          </a:xfrm>
          <a:prstGeom prst="rect">
            <a:avLst/>
          </a:prstGeom>
          <a:solidFill>
            <a:srgbClr val="EDF4E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s14-object27-text">
            <a:extLst>
              <a:ext uri="{FF2B5EF4-FFF2-40B4-BE49-F238E27FC236}">
                <a16:creationId xmlns:a16="http://schemas.microsoft.com/office/drawing/2014/main" id="{0D8A9DE0-6879-C1E0-3125-79E177DAD618}"/>
              </a:ext>
            </a:extLst>
          </p:cNvPr>
          <p:cNvSpPr txBox="1"/>
          <p:nvPr/>
        </p:nvSpPr>
        <p:spPr>
          <a:xfrm>
            <a:off x="6985000" y="4229100"/>
            <a:ext cx="3822700" cy="342900"/>
          </a:xfrm>
          <a:prstGeom prst="rect">
            <a:avLst/>
          </a:prstGeom>
          <a:noFill/>
        </p:spPr>
        <p:txBody>
          <a:bodyPr vert="horz" wrap="square" lIns="0" tIns="0" rIns="0" bIns="0" rtlCol="0" anchor="t">
            <a:noAutofit/>
          </a:bodyPr>
          <a:lstStyle/>
          <a:p>
            <a:pPr algn="ctr"/>
            <a:r>
              <a:rPr lang="en-IN" sz="2000" b="1">
                <a:solidFill>
                  <a:srgbClr val="2D7257"/>
                </a:solidFill>
                <a:latin typeface="Calibri" panose="020F0502020204030204" pitchFamily="34" charset="0"/>
              </a:rPr>
              <a:t>DeepSeek Flash assessment</a:t>
            </a:r>
          </a:p>
        </p:txBody>
      </p:sp>
      <p:sp>
        <p:nvSpPr>
          <p:cNvPr id="29" name="s14-object28-text">
            <a:extLst>
              <a:ext uri="{FF2B5EF4-FFF2-40B4-BE49-F238E27FC236}">
                <a16:creationId xmlns:a16="http://schemas.microsoft.com/office/drawing/2014/main" id="{18E679E4-9C16-B310-75B6-82189D8AD2C5}"/>
              </a:ext>
            </a:extLst>
          </p:cNvPr>
          <p:cNvSpPr txBox="1"/>
          <p:nvPr/>
        </p:nvSpPr>
        <p:spPr>
          <a:xfrm>
            <a:off x="6223000" y="5118100"/>
            <a:ext cx="596900" cy="355600"/>
          </a:xfrm>
          <a:prstGeom prst="rect">
            <a:avLst/>
          </a:prstGeom>
          <a:noFill/>
        </p:spPr>
        <p:txBody>
          <a:bodyPr vert="horz" wrap="square" lIns="0" tIns="0" rIns="0" bIns="0" rtlCol="0" anchor="t">
            <a:noAutofit/>
          </a:bodyPr>
          <a:lstStyle/>
          <a:p>
            <a:r>
              <a:rPr lang="en-IN" sz="1900" b="1">
                <a:solidFill>
                  <a:srgbClr val="2D7257"/>
                </a:solidFill>
                <a:latin typeface="Calibri" panose="020F0502020204030204" pitchFamily="34" charset="0"/>
              </a:rPr>
              <a:t>C1</a:t>
            </a:r>
          </a:p>
        </p:txBody>
      </p:sp>
      <p:sp>
        <p:nvSpPr>
          <p:cNvPr id="30" name="s14-object29-text">
            <a:extLst>
              <a:ext uri="{FF2B5EF4-FFF2-40B4-BE49-F238E27FC236}">
                <a16:creationId xmlns:a16="http://schemas.microsoft.com/office/drawing/2014/main" id="{3B9C0C5E-00CA-1A15-BD41-2EDCA4AC65D2}"/>
              </a:ext>
            </a:extLst>
          </p:cNvPr>
          <p:cNvSpPr txBox="1"/>
          <p:nvPr/>
        </p:nvSpPr>
        <p:spPr>
          <a:xfrm>
            <a:off x="6896100" y="5118100"/>
            <a:ext cx="4559300" cy="558800"/>
          </a:xfrm>
          <a:prstGeom prst="rect">
            <a:avLst/>
          </a:prstGeom>
          <a:noFill/>
        </p:spPr>
        <p:txBody>
          <a:bodyPr vert="horz" wrap="square" lIns="0" tIns="0" rIns="0" bIns="0" rtlCol="0" anchor="t">
            <a:noAutofit/>
          </a:bodyPr>
          <a:lstStyle/>
          <a:p>
            <a:r>
              <a:rPr lang="en-US">
                <a:solidFill>
                  <a:srgbClr val="2D7257"/>
                </a:solidFill>
                <a:latin typeface="Calibri" panose="020F0502020204030204" pitchFamily="34" charset="0"/>
              </a:rPr>
              <a:t>Support with its own evidence</a:t>
            </a:r>
            <a:endParaRPr lang="en-IN">
              <a:solidFill>
                <a:srgbClr val="2D7257"/>
              </a:solidFill>
              <a:latin typeface="Calibri" panose="020F0502020204030204" pitchFamily="34" charset="0"/>
            </a:endParaRPr>
          </a:p>
        </p:txBody>
      </p:sp>
      <p:sp>
        <p:nvSpPr>
          <p:cNvPr id="31" name="s14-object30-text">
            <a:extLst>
              <a:ext uri="{FF2B5EF4-FFF2-40B4-BE49-F238E27FC236}">
                <a16:creationId xmlns:a16="http://schemas.microsoft.com/office/drawing/2014/main" id="{CE67E928-AE31-33DB-F115-75BFE3FB0C9C}"/>
              </a:ext>
            </a:extLst>
          </p:cNvPr>
          <p:cNvSpPr txBox="1"/>
          <p:nvPr/>
        </p:nvSpPr>
        <p:spPr>
          <a:xfrm>
            <a:off x="6223000" y="5702300"/>
            <a:ext cx="596900" cy="355600"/>
          </a:xfrm>
          <a:prstGeom prst="rect">
            <a:avLst/>
          </a:prstGeom>
          <a:noFill/>
        </p:spPr>
        <p:txBody>
          <a:bodyPr vert="horz" wrap="square" lIns="0" tIns="0" rIns="0" bIns="0" rtlCol="0" anchor="t">
            <a:noAutofit/>
          </a:bodyPr>
          <a:lstStyle/>
          <a:p>
            <a:r>
              <a:rPr lang="en-IN" sz="1900" b="1">
                <a:solidFill>
                  <a:srgbClr val="AE644E"/>
                </a:solidFill>
                <a:latin typeface="Calibri" panose="020F0502020204030204" pitchFamily="34" charset="0"/>
              </a:rPr>
              <a:t>C2</a:t>
            </a:r>
          </a:p>
        </p:txBody>
      </p:sp>
      <p:sp>
        <p:nvSpPr>
          <p:cNvPr id="32" name="s14-object31-text">
            <a:extLst>
              <a:ext uri="{FF2B5EF4-FFF2-40B4-BE49-F238E27FC236}">
                <a16:creationId xmlns:a16="http://schemas.microsoft.com/office/drawing/2014/main" id="{704FEA27-8856-6F92-B522-3F9977165EAB}"/>
              </a:ext>
            </a:extLst>
          </p:cNvPr>
          <p:cNvSpPr txBox="1"/>
          <p:nvPr/>
        </p:nvSpPr>
        <p:spPr>
          <a:xfrm>
            <a:off x="6896100" y="5702300"/>
            <a:ext cx="4559300" cy="558800"/>
          </a:xfrm>
          <a:prstGeom prst="rect">
            <a:avLst/>
          </a:prstGeom>
          <a:noFill/>
        </p:spPr>
        <p:txBody>
          <a:bodyPr vert="horz" wrap="square" lIns="0" tIns="0" rIns="0" bIns="0" rtlCol="0" anchor="t">
            <a:noAutofit/>
          </a:bodyPr>
          <a:lstStyle/>
          <a:p>
            <a:r>
              <a:rPr lang="en-US">
                <a:solidFill>
                  <a:srgbClr val="AE644E"/>
                </a:solidFill>
                <a:latin typeface="Calibri" panose="020F0502020204030204" pitchFamily="34" charset="0"/>
              </a:rPr>
              <a:t>Insufficient evidence in this paper</a:t>
            </a:r>
            <a:endParaRPr lang="en-IN">
              <a:solidFill>
                <a:srgbClr val="AE644E"/>
              </a:solidFill>
              <a:latin typeface="Calibri" panose="020F0502020204030204" pitchFamily="34" charset="0"/>
            </a:endParaRPr>
          </a:p>
        </p:txBody>
      </p:sp>
    </p:spTree>
    <p:extLst>
      <p:ext uri="{BB962C8B-B14F-4D97-AF65-F5344CB8AC3E}">
        <p14:creationId xmlns:p14="http://schemas.microsoft.com/office/powerpoint/2010/main" val="1282619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CFDFB"/>
        </a:solidFill>
        <a:effectLst/>
      </p:bgPr>
    </p:bg>
    <p:spTree>
      <p:nvGrpSpPr>
        <p:cNvPr id="1" name=""/>
        <p:cNvGrpSpPr/>
        <p:nvPr/>
      </p:nvGrpSpPr>
      <p:grpSpPr>
        <a:xfrm>
          <a:off x="0" y="0"/>
          <a:ext cx="0" cy="0"/>
          <a:chOff x="0" y="0"/>
          <a:chExt cx="0" cy="0"/>
        </a:xfrm>
      </p:grpSpPr>
      <p:sp>
        <p:nvSpPr>
          <p:cNvPr id="2" name="s15-object1-text">
            <a:extLst>
              <a:ext uri="{FF2B5EF4-FFF2-40B4-BE49-F238E27FC236}">
                <a16:creationId xmlns:a16="http://schemas.microsoft.com/office/drawing/2014/main" id="{7D7F5C6C-80DC-2045-0D61-11EA9B3C024C}"/>
              </a:ext>
            </a:extLst>
          </p:cNvPr>
          <p:cNvSpPr txBox="1"/>
          <p:nvPr/>
        </p:nvSpPr>
        <p:spPr>
          <a:xfrm>
            <a:off x="609600" y="304800"/>
            <a:ext cx="10972800" cy="228600"/>
          </a:xfrm>
          <a:prstGeom prst="rect">
            <a:avLst/>
          </a:prstGeom>
          <a:noFill/>
        </p:spPr>
        <p:txBody>
          <a:bodyPr vert="horz" wrap="square" lIns="0" tIns="0" rIns="0" bIns="0" rtlCol="0" anchor="t">
            <a:noAutofit/>
          </a:bodyPr>
          <a:lstStyle/>
          <a:p>
            <a:r>
              <a:rPr lang="en-US" sz="1000" b="1">
                <a:solidFill>
                  <a:srgbClr val="2D7257"/>
                </a:solidFill>
                <a:latin typeface="Calibri" panose="020F0502020204030204" pitchFamily="34" charset="0"/>
              </a:rPr>
              <a:t>STAGE 9  /  EXACT PROOF CHECKS · DEBERTA NLI</a:t>
            </a:r>
            <a:endParaRPr lang="en-IN" sz="1000" b="1">
              <a:solidFill>
                <a:srgbClr val="2D7257"/>
              </a:solidFill>
              <a:latin typeface="Calibri" panose="020F0502020204030204" pitchFamily="34" charset="0"/>
            </a:endParaRPr>
          </a:p>
        </p:txBody>
      </p:sp>
      <p:sp>
        <p:nvSpPr>
          <p:cNvPr id="3" name="s15-object2-text">
            <a:extLst>
              <a:ext uri="{FF2B5EF4-FFF2-40B4-BE49-F238E27FC236}">
                <a16:creationId xmlns:a16="http://schemas.microsoft.com/office/drawing/2014/main" id="{2EDD0165-9A96-AEEA-E96A-9647409E75C0}"/>
              </a:ext>
            </a:extLst>
          </p:cNvPr>
          <p:cNvSpPr txBox="1"/>
          <p:nvPr/>
        </p:nvSpPr>
        <p:spPr>
          <a:xfrm>
            <a:off x="609600" y="647700"/>
            <a:ext cx="10972800" cy="622300"/>
          </a:xfrm>
          <a:prstGeom prst="rect">
            <a:avLst/>
          </a:prstGeom>
          <a:noFill/>
        </p:spPr>
        <p:txBody>
          <a:bodyPr vert="horz" wrap="square" lIns="0" tIns="0" rIns="0" bIns="0" rtlCol="0" anchor="t">
            <a:noAutofit/>
          </a:bodyPr>
          <a:lstStyle/>
          <a:p>
            <a:r>
              <a:rPr lang="en-US" sz="3000" b="1">
                <a:solidFill>
                  <a:srgbClr val="193F35"/>
                </a:solidFill>
                <a:latin typeface="Calibri" panose="020F0502020204030204" pitchFamily="34" charset="0"/>
              </a:rPr>
              <a:t>Evidence traceability and NLI diagnostics</a:t>
            </a:r>
            <a:endParaRPr lang="en-IN" sz="3000" b="1">
              <a:solidFill>
                <a:srgbClr val="193F35"/>
              </a:solidFill>
              <a:latin typeface="Calibri" panose="020F0502020204030204" pitchFamily="34" charset="0"/>
            </a:endParaRPr>
          </a:p>
        </p:txBody>
      </p:sp>
      <p:sp>
        <p:nvSpPr>
          <p:cNvPr id="4" name="s15-object3-text">
            <a:extLst>
              <a:ext uri="{FF2B5EF4-FFF2-40B4-BE49-F238E27FC236}">
                <a16:creationId xmlns:a16="http://schemas.microsoft.com/office/drawing/2014/main" id="{34148B6E-E6C6-8909-EE38-FE231EDCDB64}"/>
              </a:ext>
            </a:extLst>
          </p:cNvPr>
          <p:cNvSpPr txBox="1"/>
          <p:nvPr/>
        </p:nvSpPr>
        <p:spPr>
          <a:xfrm>
            <a:off x="609600" y="1346200"/>
            <a:ext cx="10972800" cy="609600"/>
          </a:xfrm>
          <a:prstGeom prst="rect">
            <a:avLst/>
          </a:prstGeom>
          <a:noFill/>
        </p:spPr>
        <p:txBody>
          <a:bodyPr vert="horz" wrap="square" lIns="0" tIns="0" rIns="0" bIns="0" rtlCol="0" anchor="t">
            <a:noAutofit/>
          </a:bodyPr>
          <a:lstStyle/>
          <a:p>
            <a:r>
              <a:rPr lang="en-US" sz="1700">
                <a:solidFill>
                  <a:srgbClr val="2D7257"/>
                </a:solidFill>
                <a:latin typeface="Calibri" panose="020F0502020204030204" pitchFamily="34" charset="0"/>
              </a:rPr>
              <a:t>Purpose: Attach findings to their actual source and add a language-consistency diagnostic.</a:t>
            </a:r>
            <a:endParaRPr lang="en-IN" sz="1700">
              <a:solidFill>
                <a:srgbClr val="2D7257"/>
              </a:solidFill>
              <a:latin typeface="Calibri" panose="020F0502020204030204" pitchFamily="34" charset="0"/>
            </a:endParaRPr>
          </a:p>
        </p:txBody>
      </p:sp>
      <p:cxnSp>
        <p:nvCxnSpPr>
          <p:cNvPr id="5" name="s15-object4-line">
            <a:extLst>
              <a:ext uri="{FF2B5EF4-FFF2-40B4-BE49-F238E27FC236}">
                <a16:creationId xmlns:a16="http://schemas.microsoft.com/office/drawing/2014/main" id="{85738E24-A24E-05EC-22EB-5D174242AA4D}"/>
              </a:ext>
            </a:extLst>
          </p:cNvPr>
          <p:cNvCxnSpPr/>
          <p:nvPr/>
        </p:nvCxnSpPr>
        <p:spPr>
          <a:xfrm>
            <a:off x="609600" y="6477000"/>
            <a:ext cx="10972800" cy="0"/>
          </a:xfrm>
          <a:prstGeom prst="line">
            <a:avLst/>
          </a:prstGeom>
          <a:ln w="16510">
            <a:solidFill>
              <a:srgbClr val="D7E3DA"/>
            </a:solidFill>
          </a:ln>
        </p:spPr>
        <p:style>
          <a:lnRef idx="2">
            <a:schemeClr val="accent1"/>
          </a:lnRef>
          <a:fillRef idx="0">
            <a:schemeClr val="accent1"/>
          </a:fillRef>
          <a:effectRef idx="1">
            <a:schemeClr val="accent1"/>
          </a:effectRef>
          <a:fontRef idx="minor">
            <a:schemeClr val="tx1"/>
          </a:fontRef>
        </p:style>
      </p:cxnSp>
      <p:sp>
        <p:nvSpPr>
          <p:cNvPr id="6" name="s15-object5-text">
            <a:extLst>
              <a:ext uri="{FF2B5EF4-FFF2-40B4-BE49-F238E27FC236}">
                <a16:creationId xmlns:a16="http://schemas.microsoft.com/office/drawing/2014/main" id="{63B74AEF-2FA2-32F7-433E-B5202B1B074E}"/>
              </a:ext>
            </a:extLst>
          </p:cNvPr>
          <p:cNvSpPr txBox="1"/>
          <p:nvPr/>
        </p:nvSpPr>
        <p:spPr>
          <a:xfrm>
            <a:off x="609600" y="6553200"/>
            <a:ext cx="8255000" cy="190500"/>
          </a:xfrm>
          <a:prstGeom prst="rect">
            <a:avLst/>
          </a:prstGeom>
          <a:noFill/>
        </p:spPr>
        <p:txBody>
          <a:bodyPr vert="horz" wrap="square" lIns="0" tIns="0" rIns="0" bIns="0" rtlCol="0" anchor="t">
            <a:noAutofit/>
          </a:bodyPr>
          <a:lstStyle/>
          <a:p>
            <a:r>
              <a:rPr lang="en-US" sz="900">
                <a:solidFill>
                  <a:srgbClr val="62756A"/>
                </a:solidFill>
                <a:latin typeface="Calibri" panose="020F0502020204030204" pitchFamily="34" charset="0"/>
              </a:rPr>
              <a:t>Reasoning with Food Knowledge Graphs</a:t>
            </a:r>
            <a:endParaRPr lang="en-IN" sz="900">
              <a:solidFill>
                <a:srgbClr val="62756A"/>
              </a:solidFill>
              <a:latin typeface="Calibri" panose="020F0502020204030204" pitchFamily="34" charset="0"/>
            </a:endParaRPr>
          </a:p>
        </p:txBody>
      </p:sp>
      <p:sp>
        <p:nvSpPr>
          <p:cNvPr id="7" name="s15-object6-text">
            <a:extLst>
              <a:ext uri="{FF2B5EF4-FFF2-40B4-BE49-F238E27FC236}">
                <a16:creationId xmlns:a16="http://schemas.microsoft.com/office/drawing/2014/main" id="{394E70C0-3215-84E4-5CB1-7C1CEA1A1817}"/>
              </a:ext>
            </a:extLst>
          </p:cNvPr>
          <p:cNvSpPr txBox="1"/>
          <p:nvPr/>
        </p:nvSpPr>
        <p:spPr>
          <a:xfrm>
            <a:off x="11049000" y="6553200"/>
            <a:ext cx="533400" cy="190500"/>
          </a:xfrm>
          <a:prstGeom prst="rect">
            <a:avLst/>
          </a:prstGeom>
          <a:noFill/>
        </p:spPr>
        <p:txBody>
          <a:bodyPr vert="horz" wrap="square" lIns="0" tIns="0" rIns="0" bIns="0" rtlCol="0" anchor="t">
            <a:noAutofit/>
          </a:bodyPr>
          <a:lstStyle/>
          <a:p>
            <a:pPr algn="r"/>
            <a:r>
              <a:rPr lang="en-IN" sz="900">
                <a:solidFill>
                  <a:srgbClr val="62756A"/>
                </a:solidFill>
                <a:latin typeface="Calibri" panose="020F0502020204030204" pitchFamily="34" charset="0"/>
              </a:rPr>
              <a:t>15</a:t>
            </a:r>
          </a:p>
        </p:txBody>
      </p:sp>
      <p:sp>
        <p:nvSpPr>
          <p:cNvPr id="8" name="s15-object7-text">
            <a:extLst>
              <a:ext uri="{FF2B5EF4-FFF2-40B4-BE49-F238E27FC236}">
                <a16:creationId xmlns:a16="http://schemas.microsoft.com/office/drawing/2014/main" id="{E5CD0AAD-3513-45EB-BFC0-89095F5F5CA7}"/>
              </a:ext>
            </a:extLst>
          </p:cNvPr>
          <p:cNvSpPr txBox="1"/>
          <p:nvPr/>
        </p:nvSpPr>
        <p:spPr>
          <a:xfrm>
            <a:off x="609600" y="2260600"/>
            <a:ext cx="4889500" cy="254000"/>
          </a:xfrm>
          <a:prstGeom prst="rect">
            <a:avLst/>
          </a:prstGeom>
          <a:noFill/>
        </p:spPr>
        <p:txBody>
          <a:bodyPr vert="horz" wrap="square" lIns="0" tIns="0" rIns="0" bIns="0" rtlCol="0" anchor="t">
            <a:noAutofit/>
          </a:bodyPr>
          <a:lstStyle/>
          <a:p>
            <a:r>
              <a:rPr lang="en-IN" sz="1200" b="1">
                <a:solidFill>
                  <a:srgbClr val="2D7257"/>
                </a:solidFill>
                <a:latin typeface="Calibri" panose="020F0502020204030204" pitchFamily="34" charset="0"/>
              </a:rPr>
              <a:t>WHAT HAPPENS</a:t>
            </a:r>
          </a:p>
        </p:txBody>
      </p:sp>
      <p:sp>
        <p:nvSpPr>
          <p:cNvPr id="9" name="s15-object8-text">
            <a:extLst>
              <a:ext uri="{FF2B5EF4-FFF2-40B4-BE49-F238E27FC236}">
                <a16:creationId xmlns:a16="http://schemas.microsoft.com/office/drawing/2014/main" id="{2F817589-8647-3E09-E4CE-DD73A55AE71F}"/>
              </a:ext>
            </a:extLst>
          </p:cNvPr>
          <p:cNvSpPr txBox="1"/>
          <p:nvPr/>
        </p:nvSpPr>
        <p:spPr>
          <a:xfrm>
            <a:off x="609600" y="2628900"/>
            <a:ext cx="4889500" cy="1092200"/>
          </a:xfrm>
          <a:prstGeom prst="rect">
            <a:avLst/>
          </a:prstGeom>
          <a:noFill/>
        </p:spPr>
        <p:txBody>
          <a:bodyPr vert="horz" wrap="square" lIns="0" tIns="0" rIns="0" bIns="0" rtlCol="0" anchor="t">
            <a:noAutofit/>
          </a:bodyPr>
          <a:lstStyle/>
          <a:p>
            <a:r>
              <a:rPr lang="en-US">
                <a:solidFill>
                  <a:srgbClr val="193F35"/>
                </a:solidFill>
                <a:latin typeface="Calibri" panose="020F0502020204030204" pitchFamily="34" charset="0"/>
              </a:rPr>
              <a:t>Code checks paper, chunk and sentence identities, then reconstructs the exact source quotations.</a:t>
            </a:r>
            <a:endParaRPr lang="en-IN">
              <a:solidFill>
                <a:srgbClr val="193F35"/>
              </a:solidFill>
              <a:latin typeface="Calibri" panose="020F0502020204030204" pitchFamily="34" charset="0"/>
            </a:endParaRPr>
          </a:p>
        </p:txBody>
      </p:sp>
      <p:sp>
        <p:nvSpPr>
          <p:cNvPr id="10" name="s15-object9-text">
            <a:extLst>
              <a:ext uri="{FF2B5EF4-FFF2-40B4-BE49-F238E27FC236}">
                <a16:creationId xmlns:a16="http://schemas.microsoft.com/office/drawing/2014/main" id="{D4AB82CF-926B-2FC0-10B3-1F57105D8DAD}"/>
              </a:ext>
            </a:extLst>
          </p:cNvPr>
          <p:cNvSpPr txBox="1"/>
          <p:nvPr/>
        </p:nvSpPr>
        <p:spPr>
          <a:xfrm>
            <a:off x="609600" y="3924300"/>
            <a:ext cx="4889500" cy="1079500"/>
          </a:xfrm>
          <a:prstGeom prst="rect">
            <a:avLst/>
          </a:prstGeom>
          <a:noFill/>
        </p:spPr>
        <p:txBody>
          <a:bodyPr vert="horz" wrap="square" lIns="0" tIns="0" rIns="0" bIns="0" rtlCol="0" anchor="t">
            <a:noAutofit/>
          </a:bodyPr>
          <a:lstStyle/>
          <a:p>
            <a:r>
              <a:rPr lang="en-US">
                <a:solidFill>
                  <a:srgbClr val="193F35"/>
                </a:solidFill>
                <a:latin typeface="Calibri" panose="020F0502020204030204" pitchFamily="34" charset="0"/>
              </a:rPr>
              <a:t>DeBERTa NLI adds entailment, neutral or contradiction scores for the admitted evidence and the fixed claim.</a:t>
            </a:r>
            <a:endParaRPr lang="en-IN">
              <a:solidFill>
                <a:srgbClr val="193F35"/>
              </a:solidFill>
              <a:latin typeface="Calibri" panose="020F0502020204030204" pitchFamily="34" charset="0"/>
            </a:endParaRPr>
          </a:p>
        </p:txBody>
      </p:sp>
      <p:sp>
        <p:nvSpPr>
          <p:cNvPr id="11" name="s15-object10-text">
            <a:extLst>
              <a:ext uri="{FF2B5EF4-FFF2-40B4-BE49-F238E27FC236}">
                <a16:creationId xmlns:a16="http://schemas.microsoft.com/office/drawing/2014/main" id="{BED5E7D9-3A36-5582-D3D9-D3EFBD62B5D2}"/>
              </a:ext>
            </a:extLst>
          </p:cNvPr>
          <p:cNvSpPr txBox="1"/>
          <p:nvPr/>
        </p:nvSpPr>
        <p:spPr>
          <a:xfrm>
            <a:off x="609600" y="5194300"/>
            <a:ext cx="4889500" cy="254000"/>
          </a:xfrm>
          <a:prstGeom prst="rect">
            <a:avLst/>
          </a:prstGeom>
          <a:noFill/>
        </p:spPr>
        <p:txBody>
          <a:bodyPr vert="horz" wrap="square" lIns="0" tIns="0" rIns="0" bIns="0" rtlCol="0" anchor="t">
            <a:noAutofit/>
          </a:bodyPr>
          <a:lstStyle/>
          <a:p>
            <a:r>
              <a:rPr lang="en-IN" sz="1200" b="1">
                <a:solidFill>
                  <a:srgbClr val="2D7257"/>
                </a:solidFill>
                <a:latin typeface="Calibri" panose="020F0502020204030204" pitchFamily="34" charset="0"/>
              </a:rPr>
              <a:t>OUTPUT</a:t>
            </a:r>
          </a:p>
        </p:txBody>
      </p:sp>
      <p:sp>
        <p:nvSpPr>
          <p:cNvPr id="12" name="s15-object11-text">
            <a:extLst>
              <a:ext uri="{FF2B5EF4-FFF2-40B4-BE49-F238E27FC236}">
                <a16:creationId xmlns:a16="http://schemas.microsoft.com/office/drawing/2014/main" id="{04D2BA2E-9EE0-AB97-40E6-71C2620472A3}"/>
              </a:ext>
            </a:extLst>
          </p:cNvPr>
          <p:cNvSpPr txBox="1"/>
          <p:nvPr/>
        </p:nvSpPr>
        <p:spPr>
          <a:xfrm>
            <a:off x="609600" y="5549900"/>
            <a:ext cx="4889500" cy="787400"/>
          </a:xfrm>
          <a:prstGeom prst="rect">
            <a:avLst/>
          </a:prstGeom>
          <a:noFill/>
        </p:spPr>
        <p:txBody>
          <a:bodyPr vert="horz" wrap="square" lIns="0" tIns="0" rIns="0" bIns="0" rtlCol="0" anchor="t">
            <a:noAutofit/>
          </a:bodyPr>
          <a:lstStyle/>
          <a:p>
            <a:r>
              <a:rPr lang="en-US" sz="1700">
                <a:solidFill>
                  <a:srgbClr val="62756A"/>
                </a:solidFill>
                <a:latin typeface="Calibri" panose="020F0502020204030204" pitchFamily="34" charset="0"/>
              </a:rPr>
              <a:t>Traceable proof and diagnostic scores. The LLM retains the scientific judgement.</a:t>
            </a:r>
            <a:endParaRPr lang="en-IN" sz="1700">
              <a:solidFill>
                <a:srgbClr val="62756A"/>
              </a:solidFill>
              <a:latin typeface="Calibri" panose="020F0502020204030204" pitchFamily="34" charset="0"/>
            </a:endParaRPr>
          </a:p>
        </p:txBody>
      </p:sp>
      <p:sp>
        <p:nvSpPr>
          <p:cNvPr id="13" name="s15-object12-text">
            <a:extLst>
              <a:ext uri="{FF2B5EF4-FFF2-40B4-BE49-F238E27FC236}">
                <a16:creationId xmlns:a16="http://schemas.microsoft.com/office/drawing/2014/main" id="{9F3B7462-FB4F-B838-7B40-74EE89E27A9D}"/>
              </a:ext>
            </a:extLst>
          </p:cNvPr>
          <p:cNvSpPr txBox="1"/>
          <p:nvPr/>
        </p:nvSpPr>
        <p:spPr>
          <a:xfrm>
            <a:off x="6146800" y="2260600"/>
            <a:ext cx="5435600" cy="254000"/>
          </a:xfrm>
          <a:prstGeom prst="rect">
            <a:avLst/>
          </a:prstGeom>
          <a:noFill/>
        </p:spPr>
        <p:txBody>
          <a:bodyPr vert="horz" wrap="square" lIns="0" tIns="0" rIns="0" bIns="0" rtlCol="0" anchor="t">
            <a:noAutofit/>
          </a:bodyPr>
          <a:lstStyle/>
          <a:p>
            <a:r>
              <a:rPr lang="en-US" sz="1200" b="1">
                <a:solidFill>
                  <a:srgbClr val="2D7257"/>
                </a:solidFill>
                <a:latin typeface="Calibri" panose="020F0502020204030204" pitchFamily="34" charset="0"/>
              </a:rPr>
              <a:t>EXAMPLE: KEEPING A QUOTE WITH ITS PAPER</a:t>
            </a:r>
            <a:endParaRPr lang="en-IN" sz="1200" b="1">
              <a:solidFill>
                <a:srgbClr val="2D7257"/>
              </a:solidFill>
              <a:latin typeface="Calibri" panose="020F0502020204030204" pitchFamily="34" charset="0"/>
            </a:endParaRPr>
          </a:p>
        </p:txBody>
      </p:sp>
      <p:cxnSp>
        <p:nvCxnSpPr>
          <p:cNvPr id="14" name="s15-object13-line">
            <a:extLst>
              <a:ext uri="{FF2B5EF4-FFF2-40B4-BE49-F238E27FC236}">
                <a16:creationId xmlns:a16="http://schemas.microsoft.com/office/drawing/2014/main" id="{7BDAFE92-A4FA-ABD3-494A-CF8DC2FA3458}"/>
              </a:ext>
            </a:extLst>
          </p:cNvPr>
          <p:cNvCxnSpPr/>
          <p:nvPr/>
        </p:nvCxnSpPr>
        <p:spPr>
          <a:xfrm>
            <a:off x="6299200" y="3060700"/>
            <a:ext cx="76200" cy="762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5" name="s15-object14-line">
            <a:extLst>
              <a:ext uri="{FF2B5EF4-FFF2-40B4-BE49-F238E27FC236}">
                <a16:creationId xmlns:a16="http://schemas.microsoft.com/office/drawing/2014/main" id="{05EACE4B-90D2-EF18-9D59-5710E7455380}"/>
              </a:ext>
            </a:extLst>
          </p:cNvPr>
          <p:cNvCxnSpPr/>
          <p:nvPr/>
        </p:nvCxnSpPr>
        <p:spPr>
          <a:xfrm flipV="1">
            <a:off x="6375400" y="2933700"/>
            <a:ext cx="177800" cy="20320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16" name="s15-object15-text">
            <a:extLst>
              <a:ext uri="{FF2B5EF4-FFF2-40B4-BE49-F238E27FC236}">
                <a16:creationId xmlns:a16="http://schemas.microsoft.com/office/drawing/2014/main" id="{DED61146-DBE8-9777-CAC5-D176DC9A6403}"/>
              </a:ext>
            </a:extLst>
          </p:cNvPr>
          <p:cNvSpPr txBox="1"/>
          <p:nvPr/>
        </p:nvSpPr>
        <p:spPr>
          <a:xfrm>
            <a:off x="6832600" y="2781300"/>
            <a:ext cx="4635500" cy="431800"/>
          </a:xfrm>
          <a:prstGeom prst="rect">
            <a:avLst/>
          </a:prstGeom>
          <a:noFill/>
        </p:spPr>
        <p:txBody>
          <a:bodyPr vert="horz" wrap="square" lIns="0" tIns="0" rIns="0" bIns="0" rtlCol="0" anchor="t">
            <a:noAutofit/>
          </a:bodyPr>
          <a:lstStyle/>
          <a:p>
            <a:r>
              <a:rPr lang="en-IN" sz="2200" b="1">
                <a:solidFill>
                  <a:srgbClr val="2D7257"/>
                </a:solidFill>
                <a:latin typeface="Calibri" panose="020F0502020204030204" pitchFamily="34" charset="0"/>
              </a:rPr>
              <a:t>Paper A → Paper A</a:t>
            </a:r>
          </a:p>
        </p:txBody>
      </p:sp>
      <p:sp>
        <p:nvSpPr>
          <p:cNvPr id="17" name="s15-object16-text">
            <a:extLst>
              <a:ext uri="{FF2B5EF4-FFF2-40B4-BE49-F238E27FC236}">
                <a16:creationId xmlns:a16="http://schemas.microsoft.com/office/drawing/2014/main" id="{4E893B04-EB9A-91AB-3BE5-3DCD98ECB4C0}"/>
              </a:ext>
            </a:extLst>
          </p:cNvPr>
          <p:cNvSpPr txBox="1"/>
          <p:nvPr/>
        </p:nvSpPr>
        <p:spPr>
          <a:xfrm>
            <a:off x="6832600" y="3327400"/>
            <a:ext cx="4635500" cy="673100"/>
          </a:xfrm>
          <a:prstGeom prst="rect">
            <a:avLst/>
          </a:prstGeom>
          <a:noFill/>
        </p:spPr>
        <p:txBody>
          <a:bodyPr vert="horz" wrap="square" lIns="0" tIns="0" rIns="0" bIns="0" rtlCol="0" anchor="t">
            <a:noAutofit/>
          </a:bodyPr>
          <a:lstStyle/>
          <a:p>
            <a:r>
              <a:rPr lang="en-US">
                <a:solidFill>
                  <a:srgbClr val="62756A"/>
                </a:solidFill>
                <a:latin typeface="Calibri" panose="020F0502020204030204" pitchFamily="34" charset="0"/>
              </a:rPr>
              <a:t>Sentence IDs and quote belong together.</a:t>
            </a:r>
            <a:endParaRPr lang="en-IN">
              <a:solidFill>
                <a:srgbClr val="62756A"/>
              </a:solidFill>
              <a:latin typeface="Calibri" panose="020F0502020204030204" pitchFamily="34" charset="0"/>
            </a:endParaRPr>
          </a:p>
        </p:txBody>
      </p:sp>
      <p:cxnSp>
        <p:nvCxnSpPr>
          <p:cNvPr id="18" name="s15-object17-line">
            <a:extLst>
              <a:ext uri="{FF2B5EF4-FFF2-40B4-BE49-F238E27FC236}">
                <a16:creationId xmlns:a16="http://schemas.microsoft.com/office/drawing/2014/main" id="{2086C73C-E007-FBFA-4E17-C911351CA560}"/>
              </a:ext>
            </a:extLst>
          </p:cNvPr>
          <p:cNvCxnSpPr/>
          <p:nvPr/>
        </p:nvCxnSpPr>
        <p:spPr>
          <a:xfrm>
            <a:off x="6311900" y="4191000"/>
            <a:ext cx="228600" cy="228600"/>
          </a:xfrm>
          <a:prstGeom prst="line">
            <a:avLst/>
          </a:prstGeom>
          <a:ln w="19050">
            <a:solidFill>
              <a:srgbClr val="AE644E"/>
            </a:solidFill>
          </a:ln>
        </p:spPr>
        <p:style>
          <a:lnRef idx="2">
            <a:schemeClr val="accent1"/>
          </a:lnRef>
          <a:fillRef idx="0">
            <a:schemeClr val="accent1"/>
          </a:fillRef>
          <a:effectRef idx="1">
            <a:schemeClr val="accent1"/>
          </a:effectRef>
          <a:fontRef idx="minor">
            <a:schemeClr val="tx1"/>
          </a:fontRef>
        </p:style>
      </p:cxnSp>
      <p:cxnSp>
        <p:nvCxnSpPr>
          <p:cNvPr id="19" name="s15-object18-line">
            <a:extLst>
              <a:ext uri="{FF2B5EF4-FFF2-40B4-BE49-F238E27FC236}">
                <a16:creationId xmlns:a16="http://schemas.microsoft.com/office/drawing/2014/main" id="{EFBB23A3-F95D-E866-17AA-5088DB8AE202}"/>
              </a:ext>
            </a:extLst>
          </p:cNvPr>
          <p:cNvCxnSpPr/>
          <p:nvPr/>
        </p:nvCxnSpPr>
        <p:spPr>
          <a:xfrm flipV="1">
            <a:off x="6311900" y="4191000"/>
            <a:ext cx="228600" cy="228600"/>
          </a:xfrm>
          <a:prstGeom prst="line">
            <a:avLst/>
          </a:prstGeom>
          <a:ln w="19050">
            <a:solidFill>
              <a:srgbClr val="AE644E"/>
            </a:solidFill>
          </a:ln>
        </p:spPr>
        <p:style>
          <a:lnRef idx="2">
            <a:schemeClr val="accent1"/>
          </a:lnRef>
          <a:fillRef idx="0">
            <a:schemeClr val="accent1"/>
          </a:fillRef>
          <a:effectRef idx="1">
            <a:schemeClr val="accent1"/>
          </a:effectRef>
          <a:fontRef idx="minor">
            <a:schemeClr val="tx1"/>
          </a:fontRef>
        </p:style>
      </p:cxnSp>
      <p:sp>
        <p:nvSpPr>
          <p:cNvPr id="20" name="s15-object19-text">
            <a:extLst>
              <a:ext uri="{FF2B5EF4-FFF2-40B4-BE49-F238E27FC236}">
                <a16:creationId xmlns:a16="http://schemas.microsoft.com/office/drawing/2014/main" id="{718572E6-6252-7705-B7D1-A3383C10E4A7}"/>
              </a:ext>
            </a:extLst>
          </p:cNvPr>
          <p:cNvSpPr txBox="1"/>
          <p:nvPr/>
        </p:nvSpPr>
        <p:spPr>
          <a:xfrm>
            <a:off x="6832600" y="4038600"/>
            <a:ext cx="4635500" cy="431800"/>
          </a:xfrm>
          <a:prstGeom prst="rect">
            <a:avLst/>
          </a:prstGeom>
          <a:noFill/>
        </p:spPr>
        <p:txBody>
          <a:bodyPr vert="horz" wrap="square" lIns="0" tIns="0" rIns="0" bIns="0" rtlCol="0" anchor="t">
            <a:noAutofit/>
          </a:bodyPr>
          <a:lstStyle/>
          <a:p>
            <a:r>
              <a:rPr lang="en-IN" sz="2200" b="1">
                <a:solidFill>
                  <a:srgbClr val="AE644E"/>
                </a:solidFill>
                <a:latin typeface="Calibri" panose="020F0502020204030204" pitchFamily="34" charset="0"/>
              </a:rPr>
              <a:t>Paper A → Paper B</a:t>
            </a:r>
          </a:p>
        </p:txBody>
      </p:sp>
      <p:sp>
        <p:nvSpPr>
          <p:cNvPr id="21" name="s15-object20-text">
            <a:extLst>
              <a:ext uri="{FF2B5EF4-FFF2-40B4-BE49-F238E27FC236}">
                <a16:creationId xmlns:a16="http://schemas.microsoft.com/office/drawing/2014/main" id="{816FBE94-A5E8-A857-860C-FD4B1997850B}"/>
              </a:ext>
            </a:extLst>
          </p:cNvPr>
          <p:cNvSpPr txBox="1"/>
          <p:nvPr/>
        </p:nvSpPr>
        <p:spPr>
          <a:xfrm>
            <a:off x="6832600" y="4584700"/>
            <a:ext cx="4635500" cy="673100"/>
          </a:xfrm>
          <a:prstGeom prst="rect">
            <a:avLst/>
          </a:prstGeom>
          <a:noFill/>
        </p:spPr>
        <p:txBody>
          <a:bodyPr vert="horz" wrap="square" lIns="0" tIns="0" rIns="0" bIns="0" rtlCol="0" anchor="t">
            <a:noAutofit/>
          </a:bodyPr>
          <a:lstStyle/>
          <a:p>
            <a:r>
              <a:rPr lang="en-US">
                <a:solidFill>
                  <a:srgbClr val="62756A"/>
                </a:solidFill>
                <a:latin typeface="Calibri" panose="020F0502020204030204" pitchFamily="34" charset="0"/>
              </a:rPr>
              <a:t>A quote cannot move to another paper.</a:t>
            </a:r>
            <a:endParaRPr lang="en-IN">
              <a:solidFill>
                <a:srgbClr val="62756A"/>
              </a:solidFill>
              <a:latin typeface="Calibri" panose="020F0502020204030204" pitchFamily="34" charset="0"/>
            </a:endParaRPr>
          </a:p>
        </p:txBody>
      </p:sp>
      <p:cxnSp>
        <p:nvCxnSpPr>
          <p:cNvPr id="22" name="s15-object21-line">
            <a:extLst>
              <a:ext uri="{FF2B5EF4-FFF2-40B4-BE49-F238E27FC236}">
                <a16:creationId xmlns:a16="http://schemas.microsoft.com/office/drawing/2014/main" id="{FC05B495-EB0F-7D5A-C179-FC19CCA004DA}"/>
              </a:ext>
            </a:extLst>
          </p:cNvPr>
          <p:cNvCxnSpPr/>
          <p:nvPr/>
        </p:nvCxnSpPr>
        <p:spPr>
          <a:xfrm>
            <a:off x="6146800" y="5321300"/>
            <a:ext cx="5435600" cy="0"/>
          </a:xfrm>
          <a:prstGeom prst="line">
            <a:avLst/>
          </a:prstGeom>
          <a:ln w="16510">
            <a:solidFill>
              <a:srgbClr val="D7E3DA"/>
            </a:solidFill>
          </a:ln>
        </p:spPr>
        <p:style>
          <a:lnRef idx="2">
            <a:schemeClr val="accent1"/>
          </a:lnRef>
          <a:fillRef idx="0">
            <a:schemeClr val="accent1"/>
          </a:fillRef>
          <a:effectRef idx="1">
            <a:schemeClr val="accent1"/>
          </a:effectRef>
          <a:fontRef idx="minor">
            <a:schemeClr val="tx1"/>
          </a:fontRef>
        </p:style>
      </p:cxnSp>
      <p:sp>
        <p:nvSpPr>
          <p:cNvPr id="23" name="s15-object22-text">
            <a:extLst>
              <a:ext uri="{FF2B5EF4-FFF2-40B4-BE49-F238E27FC236}">
                <a16:creationId xmlns:a16="http://schemas.microsoft.com/office/drawing/2014/main" id="{1CE83624-2663-3467-CB10-F4AD0A814B4D}"/>
              </a:ext>
            </a:extLst>
          </p:cNvPr>
          <p:cNvSpPr txBox="1"/>
          <p:nvPr/>
        </p:nvSpPr>
        <p:spPr>
          <a:xfrm>
            <a:off x="6146800" y="5575300"/>
            <a:ext cx="5435600" cy="660400"/>
          </a:xfrm>
          <a:prstGeom prst="rect">
            <a:avLst/>
          </a:prstGeom>
          <a:noFill/>
        </p:spPr>
        <p:txBody>
          <a:bodyPr vert="horz" wrap="square" lIns="0" tIns="0" rIns="0" bIns="0" rtlCol="0" anchor="t">
            <a:noAutofit/>
          </a:bodyPr>
          <a:lstStyle/>
          <a:p>
            <a:r>
              <a:rPr lang="en-IN" sz="1700">
                <a:solidFill>
                  <a:srgbClr val="527C91"/>
                </a:solidFill>
                <a:latin typeface="Calibri" panose="020F0502020204030204" pitchFamily="34" charset="0"/>
              </a:rPr>
              <a:t>Natural Language Inference (NLI)
Entailment / neutral / contradiction</a:t>
            </a:r>
          </a:p>
        </p:txBody>
      </p:sp>
    </p:spTree>
    <p:extLst>
      <p:ext uri="{BB962C8B-B14F-4D97-AF65-F5344CB8AC3E}">
        <p14:creationId xmlns:p14="http://schemas.microsoft.com/office/powerpoint/2010/main" val="24033092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CFDFB"/>
        </a:solidFill>
        <a:effectLst/>
      </p:bgPr>
    </p:bg>
    <p:spTree>
      <p:nvGrpSpPr>
        <p:cNvPr id="1" name=""/>
        <p:cNvGrpSpPr/>
        <p:nvPr/>
      </p:nvGrpSpPr>
      <p:grpSpPr>
        <a:xfrm>
          <a:off x="0" y="0"/>
          <a:ext cx="0" cy="0"/>
          <a:chOff x="0" y="0"/>
          <a:chExt cx="0" cy="0"/>
        </a:xfrm>
      </p:grpSpPr>
      <p:sp>
        <p:nvSpPr>
          <p:cNvPr id="2" name="s16-object1-text">
            <a:extLst>
              <a:ext uri="{FF2B5EF4-FFF2-40B4-BE49-F238E27FC236}">
                <a16:creationId xmlns:a16="http://schemas.microsoft.com/office/drawing/2014/main" id="{81710526-D906-7DB9-AD27-22E741B1EBB5}"/>
              </a:ext>
            </a:extLst>
          </p:cNvPr>
          <p:cNvSpPr txBox="1"/>
          <p:nvPr/>
        </p:nvSpPr>
        <p:spPr>
          <a:xfrm>
            <a:off x="609600" y="304800"/>
            <a:ext cx="10972800" cy="228600"/>
          </a:xfrm>
          <a:prstGeom prst="rect">
            <a:avLst/>
          </a:prstGeom>
          <a:noFill/>
        </p:spPr>
        <p:txBody>
          <a:bodyPr vert="horz" wrap="square" lIns="0" tIns="0" rIns="0" bIns="0" rtlCol="0" anchor="t">
            <a:noAutofit/>
          </a:bodyPr>
          <a:lstStyle/>
          <a:p>
            <a:r>
              <a:rPr lang="en-US" sz="1000" b="1">
                <a:solidFill>
                  <a:srgbClr val="2D7257"/>
                </a:solidFill>
                <a:latin typeface="Calibri" panose="020F0502020204030204" pitchFamily="34" charset="0"/>
              </a:rPr>
              <a:t>STAGE 10  /  EVIDENCE SYNTHESIS · MIMO PRO</a:t>
            </a:r>
            <a:endParaRPr lang="en-IN" sz="1000" b="1">
              <a:solidFill>
                <a:srgbClr val="2D7257"/>
              </a:solidFill>
              <a:latin typeface="Calibri" panose="020F0502020204030204" pitchFamily="34" charset="0"/>
            </a:endParaRPr>
          </a:p>
        </p:txBody>
      </p:sp>
      <p:sp>
        <p:nvSpPr>
          <p:cNvPr id="3" name="s16-object2-text">
            <a:extLst>
              <a:ext uri="{FF2B5EF4-FFF2-40B4-BE49-F238E27FC236}">
                <a16:creationId xmlns:a16="http://schemas.microsoft.com/office/drawing/2014/main" id="{D8BF0B67-1B91-3D58-D73F-26C382150EBB}"/>
              </a:ext>
            </a:extLst>
          </p:cNvPr>
          <p:cNvSpPr txBox="1"/>
          <p:nvPr/>
        </p:nvSpPr>
        <p:spPr>
          <a:xfrm>
            <a:off x="609600" y="647700"/>
            <a:ext cx="10972800" cy="622300"/>
          </a:xfrm>
          <a:prstGeom prst="rect">
            <a:avLst/>
          </a:prstGeom>
          <a:noFill/>
        </p:spPr>
        <p:txBody>
          <a:bodyPr vert="horz" wrap="square" lIns="0" tIns="0" rIns="0" bIns="0" rtlCol="0" anchor="t">
            <a:noAutofit/>
          </a:bodyPr>
          <a:lstStyle/>
          <a:p>
            <a:r>
              <a:rPr lang="en-IN" sz="3000" b="1">
                <a:solidFill>
                  <a:srgbClr val="193F35"/>
                </a:solidFill>
                <a:latin typeface="Calibri" panose="020F0502020204030204" pitchFamily="34" charset="0"/>
              </a:rPr>
              <a:t>Cross-paper synthesis</a:t>
            </a:r>
          </a:p>
        </p:txBody>
      </p:sp>
      <p:sp>
        <p:nvSpPr>
          <p:cNvPr id="4" name="s16-object3-text">
            <a:extLst>
              <a:ext uri="{FF2B5EF4-FFF2-40B4-BE49-F238E27FC236}">
                <a16:creationId xmlns:a16="http://schemas.microsoft.com/office/drawing/2014/main" id="{6867585E-B556-8AF3-A083-2817DFE77DA5}"/>
              </a:ext>
            </a:extLst>
          </p:cNvPr>
          <p:cNvSpPr txBox="1"/>
          <p:nvPr/>
        </p:nvSpPr>
        <p:spPr>
          <a:xfrm>
            <a:off x="609600" y="1346200"/>
            <a:ext cx="10972800" cy="609600"/>
          </a:xfrm>
          <a:prstGeom prst="rect">
            <a:avLst/>
          </a:prstGeom>
          <a:noFill/>
        </p:spPr>
        <p:txBody>
          <a:bodyPr vert="horz" wrap="square" lIns="0" tIns="0" rIns="0" bIns="0" rtlCol="0" anchor="t">
            <a:noAutofit/>
          </a:bodyPr>
          <a:lstStyle/>
          <a:p>
            <a:r>
              <a:rPr lang="en-US" sz="1700">
                <a:solidFill>
                  <a:srgbClr val="2D7257"/>
                </a:solidFill>
                <a:latin typeface="Calibri" panose="020F0502020204030204" pitchFamily="34" charset="0"/>
              </a:rPr>
              <a:t>Purpose: Reconcile paper findings and assess the compatibility of neighbouring claim edges.</a:t>
            </a:r>
            <a:endParaRPr lang="en-IN" sz="1700">
              <a:solidFill>
                <a:srgbClr val="2D7257"/>
              </a:solidFill>
              <a:latin typeface="Calibri" panose="020F0502020204030204" pitchFamily="34" charset="0"/>
            </a:endParaRPr>
          </a:p>
        </p:txBody>
      </p:sp>
      <p:cxnSp>
        <p:nvCxnSpPr>
          <p:cNvPr id="5" name="s16-object4-line">
            <a:extLst>
              <a:ext uri="{FF2B5EF4-FFF2-40B4-BE49-F238E27FC236}">
                <a16:creationId xmlns:a16="http://schemas.microsoft.com/office/drawing/2014/main" id="{298F1CD4-8F6F-D57F-1656-EA0A81470707}"/>
              </a:ext>
            </a:extLst>
          </p:cNvPr>
          <p:cNvCxnSpPr/>
          <p:nvPr/>
        </p:nvCxnSpPr>
        <p:spPr>
          <a:xfrm>
            <a:off x="609600" y="6477000"/>
            <a:ext cx="10972800" cy="0"/>
          </a:xfrm>
          <a:prstGeom prst="line">
            <a:avLst/>
          </a:prstGeom>
          <a:ln w="16510">
            <a:solidFill>
              <a:srgbClr val="D7E3DA"/>
            </a:solidFill>
          </a:ln>
        </p:spPr>
        <p:style>
          <a:lnRef idx="2">
            <a:schemeClr val="accent1"/>
          </a:lnRef>
          <a:fillRef idx="0">
            <a:schemeClr val="accent1"/>
          </a:fillRef>
          <a:effectRef idx="1">
            <a:schemeClr val="accent1"/>
          </a:effectRef>
          <a:fontRef idx="minor">
            <a:schemeClr val="tx1"/>
          </a:fontRef>
        </p:style>
      </p:cxnSp>
      <p:sp>
        <p:nvSpPr>
          <p:cNvPr id="6" name="s16-object5-text">
            <a:extLst>
              <a:ext uri="{FF2B5EF4-FFF2-40B4-BE49-F238E27FC236}">
                <a16:creationId xmlns:a16="http://schemas.microsoft.com/office/drawing/2014/main" id="{D3D447CE-1858-AD91-4F16-8361CCF6E9A2}"/>
              </a:ext>
            </a:extLst>
          </p:cNvPr>
          <p:cNvSpPr txBox="1"/>
          <p:nvPr/>
        </p:nvSpPr>
        <p:spPr>
          <a:xfrm>
            <a:off x="609600" y="6553200"/>
            <a:ext cx="8255000" cy="190500"/>
          </a:xfrm>
          <a:prstGeom prst="rect">
            <a:avLst/>
          </a:prstGeom>
          <a:noFill/>
        </p:spPr>
        <p:txBody>
          <a:bodyPr vert="horz" wrap="square" lIns="0" tIns="0" rIns="0" bIns="0" rtlCol="0" anchor="t">
            <a:noAutofit/>
          </a:bodyPr>
          <a:lstStyle/>
          <a:p>
            <a:r>
              <a:rPr lang="en-US" sz="900">
                <a:solidFill>
                  <a:srgbClr val="62756A"/>
                </a:solidFill>
                <a:latin typeface="Calibri" panose="020F0502020204030204" pitchFamily="34" charset="0"/>
              </a:rPr>
              <a:t>Reasoning with Food Knowledge Graphs</a:t>
            </a:r>
            <a:endParaRPr lang="en-IN" sz="900">
              <a:solidFill>
                <a:srgbClr val="62756A"/>
              </a:solidFill>
              <a:latin typeface="Calibri" panose="020F0502020204030204" pitchFamily="34" charset="0"/>
            </a:endParaRPr>
          </a:p>
        </p:txBody>
      </p:sp>
      <p:sp>
        <p:nvSpPr>
          <p:cNvPr id="7" name="s16-object6-text">
            <a:extLst>
              <a:ext uri="{FF2B5EF4-FFF2-40B4-BE49-F238E27FC236}">
                <a16:creationId xmlns:a16="http://schemas.microsoft.com/office/drawing/2014/main" id="{EB91CF0D-4CCB-27D7-1588-28FF71EB434A}"/>
              </a:ext>
            </a:extLst>
          </p:cNvPr>
          <p:cNvSpPr txBox="1"/>
          <p:nvPr/>
        </p:nvSpPr>
        <p:spPr>
          <a:xfrm>
            <a:off x="11049000" y="6553200"/>
            <a:ext cx="533400" cy="190500"/>
          </a:xfrm>
          <a:prstGeom prst="rect">
            <a:avLst/>
          </a:prstGeom>
          <a:noFill/>
        </p:spPr>
        <p:txBody>
          <a:bodyPr vert="horz" wrap="square" lIns="0" tIns="0" rIns="0" bIns="0" rtlCol="0" anchor="t">
            <a:noAutofit/>
          </a:bodyPr>
          <a:lstStyle/>
          <a:p>
            <a:pPr algn="r"/>
            <a:r>
              <a:rPr lang="en-IN" sz="900">
                <a:solidFill>
                  <a:srgbClr val="62756A"/>
                </a:solidFill>
                <a:latin typeface="Calibri" panose="020F0502020204030204" pitchFamily="34" charset="0"/>
              </a:rPr>
              <a:t>16</a:t>
            </a:r>
          </a:p>
        </p:txBody>
      </p:sp>
      <p:sp>
        <p:nvSpPr>
          <p:cNvPr id="8" name="s16-object7-text">
            <a:extLst>
              <a:ext uri="{FF2B5EF4-FFF2-40B4-BE49-F238E27FC236}">
                <a16:creationId xmlns:a16="http://schemas.microsoft.com/office/drawing/2014/main" id="{702E7F4E-37F1-118A-5A3E-B9F755C8A339}"/>
              </a:ext>
            </a:extLst>
          </p:cNvPr>
          <p:cNvSpPr txBox="1"/>
          <p:nvPr/>
        </p:nvSpPr>
        <p:spPr>
          <a:xfrm>
            <a:off x="609600" y="2260600"/>
            <a:ext cx="4889500" cy="254000"/>
          </a:xfrm>
          <a:prstGeom prst="rect">
            <a:avLst/>
          </a:prstGeom>
          <a:noFill/>
        </p:spPr>
        <p:txBody>
          <a:bodyPr vert="horz" wrap="square" lIns="0" tIns="0" rIns="0" bIns="0" rtlCol="0" anchor="t">
            <a:noAutofit/>
          </a:bodyPr>
          <a:lstStyle/>
          <a:p>
            <a:r>
              <a:rPr lang="en-IN" sz="1200" b="1">
                <a:solidFill>
                  <a:srgbClr val="2D7257"/>
                </a:solidFill>
                <a:latin typeface="Calibri" panose="020F0502020204030204" pitchFamily="34" charset="0"/>
              </a:rPr>
              <a:t>WHAT HAPPENS</a:t>
            </a:r>
          </a:p>
        </p:txBody>
      </p:sp>
      <p:sp>
        <p:nvSpPr>
          <p:cNvPr id="9" name="s16-object8-text">
            <a:extLst>
              <a:ext uri="{FF2B5EF4-FFF2-40B4-BE49-F238E27FC236}">
                <a16:creationId xmlns:a16="http://schemas.microsoft.com/office/drawing/2014/main" id="{3C842BC1-2D2A-88F1-30E9-4E2B5E307AB7}"/>
              </a:ext>
            </a:extLst>
          </p:cNvPr>
          <p:cNvSpPr txBox="1"/>
          <p:nvPr/>
        </p:nvSpPr>
        <p:spPr>
          <a:xfrm>
            <a:off x="609600" y="2628900"/>
            <a:ext cx="4889500" cy="1092200"/>
          </a:xfrm>
          <a:prstGeom prst="rect">
            <a:avLst/>
          </a:prstGeom>
          <a:noFill/>
        </p:spPr>
        <p:txBody>
          <a:bodyPr vert="horz" wrap="square" lIns="0" tIns="0" rIns="0" bIns="0" rtlCol="0" anchor="t">
            <a:noAutofit/>
          </a:bodyPr>
          <a:lstStyle/>
          <a:p>
            <a:r>
              <a:rPr lang="en-US">
                <a:solidFill>
                  <a:srgbClr val="193F35"/>
                </a:solidFill>
                <a:latin typeface="Calibri" panose="020F0502020204030204" pitchFamily="34" charset="0"/>
              </a:rPr>
              <a:t>MiMo Pro reads the admitted findings together, with each paper’s evidence and conditions.</a:t>
            </a:r>
            <a:endParaRPr lang="en-IN">
              <a:solidFill>
                <a:srgbClr val="193F35"/>
              </a:solidFill>
              <a:latin typeface="Calibri" panose="020F0502020204030204" pitchFamily="34" charset="0"/>
            </a:endParaRPr>
          </a:p>
        </p:txBody>
      </p:sp>
      <p:sp>
        <p:nvSpPr>
          <p:cNvPr id="10" name="s16-object9-text">
            <a:extLst>
              <a:ext uri="{FF2B5EF4-FFF2-40B4-BE49-F238E27FC236}">
                <a16:creationId xmlns:a16="http://schemas.microsoft.com/office/drawing/2014/main" id="{42A6ED15-050A-5F83-6915-D3187EB5C954}"/>
              </a:ext>
            </a:extLst>
          </p:cNvPr>
          <p:cNvSpPr txBox="1"/>
          <p:nvPr/>
        </p:nvSpPr>
        <p:spPr>
          <a:xfrm>
            <a:off x="609600" y="3924300"/>
            <a:ext cx="4889500" cy="1079500"/>
          </a:xfrm>
          <a:prstGeom prst="rect">
            <a:avLst/>
          </a:prstGeom>
          <a:noFill/>
        </p:spPr>
        <p:txBody>
          <a:bodyPr vert="horz" wrap="square" lIns="0" tIns="0" rIns="0" bIns="0" rtlCol="0" anchor="t">
            <a:noAutofit/>
          </a:bodyPr>
          <a:lstStyle/>
          <a:p>
            <a:r>
              <a:rPr lang="en-US">
                <a:solidFill>
                  <a:srgbClr val="193F35"/>
                </a:solidFill>
                <a:latin typeface="Calibri" panose="020F0502020204030204" pitchFamily="34" charset="0"/>
              </a:rPr>
              <a:t>Reconcile support and conflict for each edge. Check project scope, contextual entity roles and compatible adjacent links.</a:t>
            </a:r>
            <a:endParaRPr lang="en-IN">
              <a:solidFill>
                <a:srgbClr val="193F35"/>
              </a:solidFill>
              <a:latin typeface="Calibri" panose="020F0502020204030204" pitchFamily="34" charset="0"/>
            </a:endParaRPr>
          </a:p>
        </p:txBody>
      </p:sp>
      <p:sp>
        <p:nvSpPr>
          <p:cNvPr id="11" name="s16-object10-text">
            <a:extLst>
              <a:ext uri="{FF2B5EF4-FFF2-40B4-BE49-F238E27FC236}">
                <a16:creationId xmlns:a16="http://schemas.microsoft.com/office/drawing/2014/main" id="{9DBFA600-6324-E834-70EE-582FF5998E2C}"/>
              </a:ext>
            </a:extLst>
          </p:cNvPr>
          <p:cNvSpPr txBox="1"/>
          <p:nvPr/>
        </p:nvSpPr>
        <p:spPr>
          <a:xfrm>
            <a:off x="609600" y="5194300"/>
            <a:ext cx="4889500" cy="254000"/>
          </a:xfrm>
          <a:prstGeom prst="rect">
            <a:avLst/>
          </a:prstGeom>
          <a:noFill/>
        </p:spPr>
        <p:txBody>
          <a:bodyPr vert="horz" wrap="square" lIns="0" tIns="0" rIns="0" bIns="0" rtlCol="0" anchor="t">
            <a:noAutofit/>
          </a:bodyPr>
          <a:lstStyle/>
          <a:p>
            <a:r>
              <a:rPr lang="en-IN" sz="1200" b="1">
                <a:solidFill>
                  <a:srgbClr val="2D7257"/>
                </a:solidFill>
                <a:latin typeface="Calibri" panose="020F0502020204030204" pitchFamily="34" charset="0"/>
              </a:rPr>
              <a:t>OUTPUT</a:t>
            </a:r>
          </a:p>
        </p:txBody>
      </p:sp>
      <p:sp>
        <p:nvSpPr>
          <p:cNvPr id="12" name="s16-object11-text">
            <a:extLst>
              <a:ext uri="{FF2B5EF4-FFF2-40B4-BE49-F238E27FC236}">
                <a16:creationId xmlns:a16="http://schemas.microsoft.com/office/drawing/2014/main" id="{09641724-8226-5757-EBA0-179C8B07B932}"/>
              </a:ext>
            </a:extLst>
          </p:cNvPr>
          <p:cNvSpPr txBox="1"/>
          <p:nvPr/>
        </p:nvSpPr>
        <p:spPr>
          <a:xfrm>
            <a:off x="609600" y="5549900"/>
            <a:ext cx="4889500" cy="787400"/>
          </a:xfrm>
          <a:prstGeom prst="rect">
            <a:avLst/>
          </a:prstGeom>
          <a:noFill/>
        </p:spPr>
        <p:txBody>
          <a:bodyPr vert="horz" wrap="square" lIns="0" tIns="0" rIns="0" bIns="0" rtlCol="0" anchor="t">
            <a:noAutofit/>
          </a:bodyPr>
          <a:lstStyle/>
          <a:p>
            <a:r>
              <a:rPr lang="en-US" sz="1700">
                <a:solidFill>
                  <a:srgbClr val="62756A"/>
                </a:solidFill>
                <a:latin typeface="Calibri" panose="020F0502020204030204" pitchFamily="34" charset="0"/>
              </a:rPr>
              <a:t>Evidence decisions for each claim and a separate assessment of connection compatibility.</a:t>
            </a:r>
            <a:endParaRPr lang="en-IN" sz="1700">
              <a:solidFill>
                <a:srgbClr val="62756A"/>
              </a:solidFill>
              <a:latin typeface="Calibri" panose="020F0502020204030204" pitchFamily="34" charset="0"/>
            </a:endParaRPr>
          </a:p>
        </p:txBody>
      </p:sp>
      <p:sp>
        <p:nvSpPr>
          <p:cNvPr id="13" name="s16-object12-text">
            <a:extLst>
              <a:ext uri="{FF2B5EF4-FFF2-40B4-BE49-F238E27FC236}">
                <a16:creationId xmlns:a16="http://schemas.microsoft.com/office/drawing/2014/main" id="{A5F997FD-3CF7-4F44-05C8-4EE42E824BC7}"/>
              </a:ext>
            </a:extLst>
          </p:cNvPr>
          <p:cNvSpPr txBox="1"/>
          <p:nvPr/>
        </p:nvSpPr>
        <p:spPr>
          <a:xfrm>
            <a:off x="6146800" y="2260600"/>
            <a:ext cx="5435600" cy="254000"/>
          </a:xfrm>
          <a:prstGeom prst="rect">
            <a:avLst/>
          </a:prstGeom>
          <a:noFill/>
        </p:spPr>
        <p:txBody>
          <a:bodyPr vert="horz" wrap="square" lIns="0" tIns="0" rIns="0" bIns="0" rtlCol="0" anchor="t">
            <a:noAutofit/>
          </a:bodyPr>
          <a:lstStyle/>
          <a:p>
            <a:r>
              <a:rPr lang="en-IN" sz="1200" b="1">
                <a:solidFill>
                  <a:srgbClr val="2D7257"/>
                </a:solidFill>
                <a:latin typeface="Calibri" panose="020F0502020204030204" pitchFamily="34" charset="0"/>
              </a:rPr>
              <a:t>ILLUSTRATIVE CROSS-PAPER COMPARISON</a:t>
            </a:r>
          </a:p>
        </p:txBody>
      </p:sp>
      <p:sp>
        <p:nvSpPr>
          <p:cNvPr id="14" name="s16-object13-rect">
            <a:extLst>
              <a:ext uri="{FF2B5EF4-FFF2-40B4-BE49-F238E27FC236}">
                <a16:creationId xmlns:a16="http://schemas.microsoft.com/office/drawing/2014/main" id="{0A9A0B44-AA5D-C965-D327-8216098767F5}"/>
              </a:ext>
            </a:extLst>
          </p:cNvPr>
          <p:cNvSpPr/>
          <p:nvPr/>
        </p:nvSpPr>
        <p:spPr>
          <a:xfrm>
            <a:off x="6798310" y="2745105"/>
            <a:ext cx="306705" cy="379730"/>
          </a:xfrm>
          <a:prstGeom prst="rect">
            <a:avLst/>
          </a:prstGeom>
          <a:noFill/>
          <a:ln w="10160" cap="flat" cmpd="sng" algn="ctr">
            <a:solidFill>
              <a:srgbClr val="2D7257"/>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16-object14-line">
            <a:extLst>
              <a:ext uri="{FF2B5EF4-FFF2-40B4-BE49-F238E27FC236}">
                <a16:creationId xmlns:a16="http://schemas.microsoft.com/office/drawing/2014/main" id="{5939BBFD-A95D-B12F-BB7C-AE2F5FAC85F8}"/>
              </a:ext>
            </a:extLst>
          </p:cNvPr>
          <p:cNvCxnSpPr/>
          <p:nvPr/>
        </p:nvCxnSpPr>
        <p:spPr>
          <a:xfrm>
            <a:off x="6871335" y="2847340"/>
            <a:ext cx="160655"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6" name="s16-object15-line">
            <a:extLst>
              <a:ext uri="{FF2B5EF4-FFF2-40B4-BE49-F238E27FC236}">
                <a16:creationId xmlns:a16="http://schemas.microsoft.com/office/drawing/2014/main" id="{F700C347-2ADA-BFA6-7CAD-B3D7B5A924CC}"/>
              </a:ext>
            </a:extLst>
          </p:cNvPr>
          <p:cNvCxnSpPr/>
          <p:nvPr/>
        </p:nvCxnSpPr>
        <p:spPr>
          <a:xfrm>
            <a:off x="6871335" y="2934970"/>
            <a:ext cx="160655"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7" name="s16-object16-line">
            <a:extLst>
              <a:ext uri="{FF2B5EF4-FFF2-40B4-BE49-F238E27FC236}">
                <a16:creationId xmlns:a16="http://schemas.microsoft.com/office/drawing/2014/main" id="{0F63AB5C-ED77-9706-FD36-EB27AD51D465}"/>
              </a:ext>
            </a:extLst>
          </p:cNvPr>
          <p:cNvCxnSpPr/>
          <p:nvPr/>
        </p:nvCxnSpPr>
        <p:spPr>
          <a:xfrm>
            <a:off x="6871335" y="3022600"/>
            <a:ext cx="131445"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18" name="s16-object17-text">
            <a:extLst>
              <a:ext uri="{FF2B5EF4-FFF2-40B4-BE49-F238E27FC236}">
                <a16:creationId xmlns:a16="http://schemas.microsoft.com/office/drawing/2014/main" id="{E06BA52D-38DD-1AFD-209B-547F74065BEC}"/>
              </a:ext>
            </a:extLst>
          </p:cNvPr>
          <p:cNvSpPr txBox="1"/>
          <p:nvPr/>
        </p:nvSpPr>
        <p:spPr>
          <a:xfrm>
            <a:off x="6235700" y="3263900"/>
            <a:ext cx="1447800" cy="330200"/>
          </a:xfrm>
          <a:prstGeom prst="rect">
            <a:avLst/>
          </a:prstGeom>
          <a:noFill/>
        </p:spPr>
        <p:txBody>
          <a:bodyPr vert="horz" wrap="square" lIns="0" tIns="0" rIns="0" bIns="0" rtlCol="0" anchor="t">
            <a:noAutofit/>
          </a:bodyPr>
          <a:lstStyle/>
          <a:p>
            <a:pPr algn="ctr"/>
            <a:r>
              <a:rPr lang="en-IN" sz="1700" b="1">
                <a:solidFill>
                  <a:srgbClr val="193F35"/>
                </a:solidFill>
                <a:latin typeface="Calibri" panose="020F0502020204030204" pitchFamily="34" charset="0"/>
              </a:rPr>
              <a:t>Paper A</a:t>
            </a:r>
          </a:p>
        </p:txBody>
      </p:sp>
      <p:sp>
        <p:nvSpPr>
          <p:cNvPr id="19" name="s16-object18-text">
            <a:extLst>
              <a:ext uri="{FF2B5EF4-FFF2-40B4-BE49-F238E27FC236}">
                <a16:creationId xmlns:a16="http://schemas.microsoft.com/office/drawing/2014/main" id="{B8343A02-325F-D2DA-7519-F2670B69B20D}"/>
              </a:ext>
            </a:extLst>
          </p:cNvPr>
          <p:cNvSpPr txBox="1"/>
          <p:nvPr/>
        </p:nvSpPr>
        <p:spPr>
          <a:xfrm>
            <a:off x="6108700" y="3670300"/>
            <a:ext cx="1701800" cy="508000"/>
          </a:xfrm>
          <a:prstGeom prst="rect">
            <a:avLst/>
          </a:prstGeom>
          <a:noFill/>
        </p:spPr>
        <p:txBody>
          <a:bodyPr vert="horz" wrap="square" lIns="0" tIns="0" rIns="0" bIns="0" rtlCol="0" anchor="t">
            <a:noAutofit/>
          </a:bodyPr>
          <a:lstStyle/>
          <a:p>
            <a:pPr algn="ctr"/>
            <a:r>
              <a:rPr lang="en-IN" sz="1500">
                <a:solidFill>
                  <a:srgbClr val="62756A"/>
                </a:solidFill>
                <a:latin typeface="Calibri" panose="020F0502020204030204" pitchFamily="34" charset="0"/>
              </a:rPr>
              <a:t>Supports</a:t>
            </a:r>
          </a:p>
        </p:txBody>
      </p:sp>
      <p:cxnSp>
        <p:nvCxnSpPr>
          <p:cNvPr id="20" name="s16-object19-line">
            <a:extLst>
              <a:ext uri="{FF2B5EF4-FFF2-40B4-BE49-F238E27FC236}">
                <a16:creationId xmlns:a16="http://schemas.microsoft.com/office/drawing/2014/main" id="{8D6EEE4B-78C7-954B-7769-9CC40A2AE0AE}"/>
              </a:ext>
            </a:extLst>
          </p:cNvPr>
          <p:cNvCxnSpPr/>
          <p:nvPr/>
        </p:nvCxnSpPr>
        <p:spPr>
          <a:xfrm>
            <a:off x="6959600" y="4229100"/>
            <a:ext cx="1905000" cy="419100"/>
          </a:xfrm>
          <a:prstGeom prst="line">
            <a:avLst/>
          </a:prstGeom>
          <a:ln w="17780">
            <a:solidFill>
              <a:srgbClr val="2D7257"/>
            </a:solidFill>
            <a:tailEnd type="arrow"/>
          </a:ln>
        </p:spPr>
        <p:style>
          <a:lnRef idx="2">
            <a:schemeClr val="accent1"/>
          </a:lnRef>
          <a:fillRef idx="0">
            <a:schemeClr val="accent1"/>
          </a:fillRef>
          <a:effectRef idx="1">
            <a:schemeClr val="accent1"/>
          </a:effectRef>
          <a:fontRef idx="minor">
            <a:schemeClr val="tx1"/>
          </a:fontRef>
        </p:style>
      </p:cxnSp>
      <p:sp>
        <p:nvSpPr>
          <p:cNvPr id="21" name="s16-object20-rect">
            <a:extLst>
              <a:ext uri="{FF2B5EF4-FFF2-40B4-BE49-F238E27FC236}">
                <a16:creationId xmlns:a16="http://schemas.microsoft.com/office/drawing/2014/main" id="{44C7D63D-8AB2-5E28-5549-9871479B8AC1}"/>
              </a:ext>
            </a:extLst>
          </p:cNvPr>
          <p:cNvSpPr/>
          <p:nvPr/>
        </p:nvSpPr>
        <p:spPr>
          <a:xfrm>
            <a:off x="8703310" y="2745105"/>
            <a:ext cx="306705" cy="379730"/>
          </a:xfrm>
          <a:prstGeom prst="rect">
            <a:avLst/>
          </a:prstGeom>
          <a:noFill/>
          <a:ln w="10160" cap="flat" cmpd="sng" algn="ctr">
            <a:solidFill>
              <a:srgbClr val="2D7257"/>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16-object21-line">
            <a:extLst>
              <a:ext uri="{FF2B5EF4-FFF2-40B4-BE49-F238E27FC236}">
                <a16:creationId xmlns:a16="http://schemas.microsoft.com/office/drawing/2014/main" id="{837608F0-4A71-7F7E-1848-07ABE0AAF0A4}"/>
              </a:ext>
            </a:extLst>
          </p:cNvPr>
          <p:cNvCxnSpPr/>
          <p:nvPr/>
        </p:nvCxnSpPr>
        <p:spPr>
          <a:xfrm>
            <a:off x="8776335" y="2847340"/>
            <a:ext cx="160655"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3" name="s16-object22-line">
            <a:extLst>
              <a:ext uri="{FF2B5EF4-FFF2-40B4-BE49-F238E27FC236}">
                <a16:creationId xmlns:a16="http://schemas.microsoft.com/office/drawing/2014/main" id="{D05994C0-6906-4B66-3A16-40307A2661FB}"/>
              </a:ext>
            </a:extLst>
          </p:cNvPr>
          <p:cNvCxnSpPr/>
          <p:nvPr/>
        </p:nvCxnSpPr>
        <p:spPr>
          <a:xfrm>
            <a:off x="8776335" y="2934970"/>
            <a:ext cx="160655"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4" name="s16-object23-line">
            <a:extLst>
              <a:ext uri="{FF2B5EF4-FFF2-40B4-BE49-F238E27FC236}">
                <a16:creationId xmlns:a16="http://schemas.microsoft.com/office/drawing/2014/main" id="{4C98AFC6-071C-F9C1-6F3E-5DE05B3E7E3C}"/>
              </a:ext>
            </a:extLst>
          </p:cNvPr>
          <p:cNvCxnSpPr/>
          <p:nvPr/>
        </p:nvCxnSpPr>
        <p:spPr>
          <a:xfrm>
            <a:off x="8776335" y="3022600"/>
            <a:ext cx="131445"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25" name="s16-object24-text">
            <a:extLst>
              <a:ext uri="{FF2B5EF4-FFF2-40B4-BE49-F238E27FC236}">
                <a16:creationId xmlns:a16="http://schemas.microsoft.com/office/drawing/2014/main" id="{C33C5901-E8F3-3BF1-1CBC-694EE5A5ED55}"/>
              </a:ext>
            </a:extLst>
          </p:cNvPr>
          <p:cNvSpPr txBox="1"/>
          <p:nvPr/>
        </p:nvSpPr>
        <p:spPr>
          <a:xfrm>
            <a:off x="8140700" y="3263900"/>
            <a:ext cx="1447800" cy="330200"/>
          </a:xfrm>
          <a:prstGeom prst="rect">
            <a:avLst/>
          </a:prstGeom>
          <a:noFill/>
        </p:spPr>
        <p:txBody>
          <a:bodyPr vert="horz" wrap="square" lIns="0" tIns="0" rIns="0" bIns="0" rtlCol="0" anchor="t">
            <a:noAutofit/>
          </a:bodyPr>
          <a:lstStyle/>
          <a:p>
            <a:pPr algn="ctr"/>
            <a:r>
              <a:rPr lang="en-IN" sz="1700" b="1">
                <a:solidFill>
                  <a:srgbClr val="193F35"/>
                </a:solidFill>
                <a:latin typeface="Calibri" panose="020F0502020204030204" pitchFamily="34" charset="0"/>
              </a:rPr>
              <a:t>Paper B</a:t>
            </a:r>
          </a:p>
        </p:txBody>
      </p:sp>
      <p:sp>
        <p:nvSpPr>
          <p:cNvPr id="26" name="s16-object25-text">
            <a:extLst>
              <a:ext uri="{FF2B5EF4-FFF2-40B4-BE49-F238E27FC236}">
                <a16:creationId xmlns:a16="http://schemas.microsoft.com/office/drawing/2014/main" id="{939699EC-E520-5C7C-68CA-282932E8CACB}"/>
              </a:ext>
            </a:extLst>
          </p:cNvPr>
          <p:cNvSpPr txBox="1"/>
          <p:nvPr/>
        </p:nvSpPr>
        <p:spPr>
          <a:xfrm>
            <a:off x="8013700" y="3670300"/>
            <a:ext cx="1701800" cy="508000"/>
          </a:xfrm>
          <a:prstGeom prst="rect">
            <a:avLst/>
          </a:prstGeom>
          <a:noFill/>
        </p:spPr>
        <p:txBody>
          <a:bodyPr vert="horz" wrap="square" lIns="0" tIns="0" rIns="0" bIns="0" rtlCol="0" anchor="t">
            <a:noAutofit/>
          </a:bodyPr>
          <a:lstStyle/>
          <a:p>
            <a:pPr algn="ctr"/>
            <a:r>
              <a:rPr lang="en-IN" sz="1500">
                <a:solidFill>
                  <a:srgbClr val="62756A"/>
                </a:solidFill>
                <a:latin typeface="Calibri" panose="020F0502020204030204" pitchFamily="34" charset="0"/>
              </a:rPr>
              <a:t>Other conditions</a:t>
            </a:r>
          </a:p>
        </p:txBody>
      </p:sp>
      <p:cxnSp>
        <p:nvCxnSpPr>
          <p:cNvPr id="27" name="s16-object26-line">
            <a:extLst>
              <a:ext uri="{FF2B5EF4-FFF2-40B4-BE49-F238E27FC236}">
                <a16:creationId xmlns:a16="http://schemas.microsoft.com/office/drawing/2014/main" id="{83F0AC03-0727-8AF7-55BE-D8AD6BECD85C}"/>
              </a:ext>
            </a:extLst>
          </p:cNvPr>
          <p:cNvCxnSpPr/>
          <p:nvPr/>
        </p:nvCxnSpPr>
        <p:spPr>
          <a:xfrm>
            <a:off x="8864600" y="4229100"/>
            <a:ext cx="0" cy="419100"/>
          </a:xfrm>
          <a:prstGeom prst="line">
            <a:avLst/>
          </a:prstGeom>
          <a:ln w="17780">
            <a:solidFill>
              <a:srgbClr val="2D7257"/>
            </a:solidFill>
            <a:tailEnd type="arrow"/>
          </a:ln>
        </p:spPr>
        <p:style>
          <a:lnRef idx="2">
            <a:schemeClr val="accent1"/>
          </a:lnRef>
          <a:fillRef idx="0">
            <a:schemeClr val="accent1"/>
          </a:fillRef>
          <a:effectRef idx="1">
            <a:schemeClr val="accent1"/>
          </a:effectRef>
          <a:fontRef idx="minor">
            <a:schemeClr val="tx1"/>
          </a:fontRef>
        </p:style>
      </p:cxnSp>
      <p:sp>
        <p:nvSpPr>
          <p:cNvPr id="28" name="s16-object27-rect">
            <a:extLst>
              <a:ext uri="{FF2B5EF4-FFF2-40B4-BE49-F238E27FC236}">
                <a16:creationId xmlns:a16="http://schemas.microsoft.com/office/drawing/2014/main" id="{C5C71316-DEB2-95DA-C1CD-F32E420B0DB1}"/>
              </a:ext>
            </a:extLst>
          </p:cNvPr>
          <p:cNvSpPr/>
          <p:nvPr/>
        </p:nvSpPr>
        <p:spPr>
          <a:xfrm>
            <a:off x="10608310" y="2745105"/>
            <a:ext cx="306705" cy="379730"/>
          </a:xfrm>
          <a:prstGeom prst="rect">
            <a:avLst/>
          </a:prstGeom>
          <a:noFill/>
          <a:ln w="10160" cap="flat" cmpd="sng" algn="ctr">
            <a:solidFill>
              <a:srgbClr val="2D7257"/>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9" name="s16-object28-line">
            <a:extLst>
              <a:ext uri="{FF2B5EF4-FFF2-40B4-BE49-F238E27FC236}">
                <a16:creationId xmlns:a16="http://schemas.microsoft.com/office/drawing/2014/main" id="{96CF0847-DE2E-CA74-BB49-B96D239610A9}"/>
              </a:ext>
            </a:extLst>
          </p:cNvPr>
          <p:cNvCxnSpPr/>
          <p:nvPr/>
        </p:nvCxnSpPr>
        <p:spPr>
          <a:xfrm>
            <a:off x="10681335" y="2847340"/>
            <a:ext cx="160655"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0" name="s16-object29-line">
            <a:extLst>
              <a:ext uri="{FF2B5EF4-FFF2-40B4-BE49-F238E27FC236}">
                <a16:creationId xmlns:a16="http://schemas.microsoft.com/office/drawing/2014/main" id="{A094559B-9706-DABE-0C25-68EF3F7BB6FE}"/>
              </a:ext>
            </a:extLst>
          </p:cNvPr>
          <p:cNvCxnSpPr/>
          <p:nvPr/>
        </p:nvCxnSpPr>
        <p:spPr>
          <a:xfrm>
            <a:off x="10681335" y="2934970"/>
            <a:ext cx="160655"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31" name="s16-object30-line">
            <a:extLst>
              <a:ext uri="{FF2B5EF4-FFF2-40B4-BE49-F238E27FC236}">
                <a16:creationId xmlns:a16="http://schemas.microsoft.com/office/drawing/2014/main" id="{5D390B78-B74A-19F5-30BC-B9041F5A1558}"/>
              </a:ext>
            </a:extLst>
          </p:cNvPr>
          <p:cNvCxnSpPr/>
          <p:nvPr/>
        </p:nvCxnSpPr>
        <p:spPr>
          <a:xfrm>
            <a:off x="10681335" y="3022600"/>
            <a:ext cx="131445"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32" name="s16-object31-text">
            <a:extLst>
              <a:ext uri="{FF2B5EF4-FFF2-40B4-BE49-F238E27FC236}">
                <a16:creationId xmlns:a16="http://schemas.microsoft.com/office/drawing/2014/main" id="{8B975FA0-D289-BF21-CD63-59560A2E25CB}"/>
              </a:ext>
            </a:extLst>
          </p:cNvPr>
          <p:cNvSpPr txBox="1"/>
          <p:nvPr/>
        </p:nvSpPr>
        <p:spPr>
          <a:xfrm>
            <a:off x="10045700" y="3263900"/>
            <a:ext cx="1447800" cy="330200"/>
          </a:xfrm>
          <a:prstGeom prst="rect">
            <a:avLst/>
          </a:prstGeom>
          <a:noFill/>
        </p:spPr>
        <p:txBody>
          <a:bodyPr vert="horz" wrap="square" lIns="0" tIns="0" rIns="0" bIns="0" rtlCol="0" anchor="t">
            <a:noAutofit/>
          </a:bodyPr>
          <a:lstStyle/>
          <a:p>
            <a:pPr algn="ctr"/>
            <a:r>
              <a:rPr lang="en-IN" sz="1700" b="1">
                <a:solidFill>
                  <a:srgbClr val="193F35"/>
                </a:solidFill>
                <a:latin typeface="Calibri" panose="020F0502020204030204" pitchFamily="34" charset="0"/>
              </a:rPr>
              <a:t>Paper C</a:t>
            </a:r>
          </a:p>
        </p:txBody>
      </p:sp>
      <p:sp>
        <p:nvSpPr>
          <p:cNvPr id="33" name="s16-object32-text">
            <a:extLst>
              <a:ext uri="{FF2B5EF4-FFF2-40B4-BE49-F238E27FC236}">
                <a16:creationId xmlns:a16="http://schemas.microsoft.com/office/drawing/2014/main" id="{D61359F4-B7AC-CDE3-ED77-8B91A51E270B}"/>
              </a:ext>
            </a:extLst>
          </p:cNvPr>
          <p:cNvSpPr txBox="1"/>
          <p:nvPr/>
        </p:nvSpPr>
        <p:spPr>
          <a:xfrm>
            <a:off x="9918700" y="3670300"/>
            <a:ext cx="1701800" cy="508000"/>
          </a:xfrm>
          <a:prstGeom prst="rect">
            <a:avLst/>
          </a:prstGeom>
          <a:noFill/>
        </p:spPr>
        <p:txBody>
          <a:bodyPr vert="horz" wrap="square" lIns="0" tIns="0" rIns="0" bIns="0" rtlCol="0" anchor="t">
            <a:noAutofit/>
          </a:bodyPr>
          <a:lstStyle/>
          <a:p>
            <a:pPr algn="ctr"/>
            <a:r>
              <a:rPr lang="en-IN" sz="1500">
                <a:solidFill>
                  <a:srgbClr val="62756A"/>
                </a:solidFill>
                <a:latin typeface="Calibri" panose="020F0502020204030204" pitchFamily="34" charset="0"/>
              </a:rPr>
              <a:t>Conflicts</a:t>
            </a:r>
          </a:p>
        </p:txBody>
      </p:sp>
      <p:cxnSp>
        <p:nvCxnSpPr>
          <p:cNvPr id="34" name="s16-object33-line">
            <a:extLst>
              <a:ext uri="{FF2B5EF4-FFF2-40B4-BE49-F238E27FC236}">
                <a16:creationId xmlns:a16="http://schemas.microsoft.com/office/drawing/2014/main" id="{362206E5-B384-41E8-54E0-16F3384EEB7B}"/>
              </a:ext>
            </a:extLst>
          </p:cNvPr>
          <p:cNvCxnSpPr/>
          <p:nvPr/>
        </p:nvCxnSpPr>
        <p:spPr>
          <a:xfrm flipH="1">
            <a:off x="8864600" y="4229100"/>
            <a:ext cx="1905000" cy="419100"/>
          </a:xfrm>
          <a:prstGeom prst="line">
            <a:avLst/>
          </a:prstGeom>
          <a:ln w="17780">
            <a:solidFill>
              <a:srgbClr val="2D7257"/>
            </a:solidFill>
            <a:tailEnd type="arrow"/>
          </a:ln>
        </p:spPr>
        <p:style>
          <a:lnRef idx="2">
            <a:schemeClr val="accent1"/>
          </a:lnRef>
          <a:fillRef idx="0">
            <a:schemeClr val="accent1"/>
          </a:fillRef>
          <a:effectRef idx="1">
            <a:schemeClr val="accent1"/>
          </a:effectRef>
          <a:fontRef idx="minor">
            <a:schemeClr val="tx1"/>
          </a:fontRef>
        </p:style>
      </p:cxnSp>
      <p:sp>
        <p:nvSpPr>
          <p:cNvPr id="35" name="s16-object34-ellipse">
            <a:extLst>
              <a:ext uri="{FF2B5EF4-FFF2-40B4-BE49-F238E27FC236}">
                <a16:creationId xmlns:a16="http://schemas.microsoft.com/office/drawing/2014/main" id="{C02E496E-5C92-231D-A317-AFD511447BCA}"/>
              </a:ext>
            </a:extLst>
          </p:cNvPr>
          <p:cNvSpPr/>
          <p:nvPr/>
        </p:nvSpPr>
        <p:spPr>
          <a:xfrm>
            <a:off x="8445500" y="4559300"/>
            <a:ext cx="838200" cy="838200"/>
          </a:xfrm>
          <a:prstGeom prst="ellipse">
            <a:avLst/>
          </a:prstGeom>
          <a:solidFill>
            <a:srgbClr val="EDF4EF"/>
          </a:solidFill>
          <a:ln w="10160">
            <a:solidFill>
              <a:srgbClr val="D7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s16-object35-ellipse">
            <a:extLst>
              <a:ext uri="{FF2B5EF4-FFF2-40B4-BE49-F238E27FC236}">
                <a16:creationId xmlns:a16="http://schemas.microsoft.com/office/drawing/2014/main" id="{53B72DA6-E775-EE57-9447-A007075CE0D9}"/>
              </a:ext>
            </a:extLst>
          </p:cNvPr>
          <p:cNvSpPr/>
          <p:nvPr/>
        </p:nvSpPr>
        <p:spPr>
          <a:xfrm>
            <a:off x="8689340" y="4805680"/>
            <a:ext cx="91440" cy="91440"/>
          </a:xfrm>
          <a:prstGeom prst="ellipse">
            <a:avLst/>
          </a:prstGeom>
          <a:solidFill>
            <a:srgbClr val="FFFFFF"/>
          </a:solidFill>
          <a:ln w="10160">
            <a:solidFill>
              <a:srgbClr val="2D725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s16-object36-ellipse">
            <a:extLst>
              <a:ext uri="{FF2B5EF4-FFF2-40B4-BE49-F238E27FC236}">
                <a16:creationId xmlns:a16="http://schemas.microsoft.com/office/drawing/2014/main" id="{E215374C-440F-1931-D9B1-08EC433719A8}"/>
              </a:ext>
            </a:extLst>
          </p:cNvPr>
          <p:cNvSpPr/>
          <p:nvPr/>
        </p:nvSpPr>
        <p:spPr>
          <a:xfrm>
            <a:off x="8948420" y="4805680"/>
            <a:ext cx="91440" cy="91440"/>
          </a:xfrm>
          <a:prstGeom prst="ellipse">
            <a:avLst/>
          </a:prstGeom>
          <a:solidFill>
            <a:srgbClr val="FFFFFF"/>
          </a:solidFill>
          <a:ln w="10160">
            <a:solidFill>
              <a:srgbClr val="2D725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s16-object37-ellipse">
            <a:extLst>
              <a:ext uri="{FF2B5EF4-FFF2-40B4-BE49-F238E27FC236}">
                <a16:creationId xmlns:a16="http://schemas.microsoft.com/office/drawing/2014/main" id="{29E8322D-7FB0-CB14-FAF7-F77511C89A55}"/>
              </a:ext>
            </a:extLst>
          </p:cNvPr>
          <p:cNvSpPr/>
          <p:nvPr/>
        </p:nvSpPr>
        <p:spPr>
          <a:xfrm>
            <a:off x="8811260" y="5080000"/>
            <a:ext cx="91440" cy="91440"/>
          </a:xfrm>
          <a:prstGeom prst="ellipse">
            <a:avLst/>
          </a:prstGeom>
          <a:solidFill>
            <a:srgbClr val="FFFFFF"/>
          </a:solidFill>
          <a:ln w="10160">
            <a:solidFill>
              <a:srgbClr val="2D725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9" name="s16-object38-line">
            <a:extLst>
              <a:ext uri="{FF2B5EF4-FFF2-40B4-BE49-F238E27FC236}">
                <a16:creationId xmlns:a16="http://schemas.microsoft.com/office/drawing/2014/main" id="{F49EA686-978A-1FCD-F186-CC16884CA123}"/>
              </a:ext>
            </a:extLst>
          </p:cNvPr>
          <p:cNvCxnSpPr/>
          <p:nvPr/>
        </p:nvCxnSpPr>
        <p:spPr>
          <a:xfrm>
            <a:off x="8780780" y="4851400"/>
            <a:ext cx="16764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40" name="s16-object39-line">
            <a:extLst>
              <a:ext uri="{FF2B5EF4-FFF2-40B4-BE49-F238E27FC236}">
                <a16:creationId xmlns:a16="http://schemas.microsoft.com/office/drawing/2014/main" id="{236C1FA9-5CA0-216D-6161-0231B5B768FC}"/>
              </a:ext>
            </a:extLst>
          </p:cNvPr>
          <p:cNvCxnSpPr/>
          <p:nvPr/>
        </p:nvCxnSpPr>
        <p:spPr>
          <a:xfrm>
            <a:off x="8750300" y="4897120"/>
            <a:ext cx="76200" cy="18288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41" name="s16-object40-line">
            <a:extLst>
              <a:ext uri="{FF2B5EF4-FFF2-40B4-BE49-F238E27FC236}">
                <a16:creationId xmlns:a16="http://schemas.microsoft.com/office/drawing/2014/main" id="{219BEF8E-AE9E-759F-B557-42B9C4E928C5}"/>
              </a:ext>
            </a:extLst>
          </p:cNvPr>
          <p:cNvCxnSpPr/>
          <p:nvPr/>
        </p:nvCxnSpPr>
        <p:spPr>
          <a:xfrm flipH="1">
            <a:off x="8887460" y="4897120"/>
            <a:ext cx="76200" cy="18288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42" name="s16-object41-text">
            <a:extLst>
              <a:ext uri="{FF2B5EF4-FFF2-40B4-BE49-F238E27FC236}">
                <a16:creationId xmlns:a16="http://schemas.microsoft.com/office/drawing/2014/main" id="{9E626E93-386B-E054-8F38-5C97D5FCBB4F}"/>
              </a:ext>
            </a:extLst>
          </p:cNvPr>
          <p:cNvSpPr txBox="1"/>
          <p:nvPr/>
        </p:nvSpPr>
        <p:spPr>
          <a:xfrm>
            <a:off x="6832600" y="5537200"/>
            <a:ext cx="4076700" cy="393700"/>
          </a:xfrm>
          <a:prstGeom prst="rect">
            <a:avLst/>
          </a:prstGeom>
          <a:noFill/>
        </p:spPr>
        <p:txBody>
          <a:bodyPr vert="horz" wrap="square" lIns="0" tIns="0" rIns="0" bIns="0" rtlCol="0" anchor="t">
            <a:noAutofit/>
          </a:bodyPr>
          <a:lstStyle/>
          <a:p>
            <a:pPr algn="ctr"/>
            <a:r>
              <a:rPr lang="en-IN" sz="2200" b="1">
                <a:solidFill>
                  <a:srgbClr val="2D7257"/>
                </a:solidFill>
                <a:latin typeface="Calibri" panose="020F0502020204030204" pitchFamily="34" charset="0"/>
              </a:rPr>
              <a:t>MiMo v2.6 Pro</a:t>
            </a:r>
          </a:p>
        </p:txBody>
      </p:sp>
      <p:sp>
        <p:nvSpPr>
          <p:cNvPr id="43" name="s16-object42-text">
            <a:extLst>
              <a:ext uri="{FF2B5EF4-FFF2-40B4-BE49-F238E27FC236}">
                <a16:creationId xmlns:a16="http://schemas.microsoft.com/office/drawing/2014/main" id="{E348E4E0-1865-B21B-99CB-49686CFF184D}"/>
              </a:ext>
            </a:extLst>
          </p:cNvPr>
          <p:cNvSpPr txBox="1"/>
          <p:nvPr/>
        </p:nvSpPr>
        <p:spPr>
          <a:xfrm>
            <a:off x="6146800" y="6057900"/>
            <a:ext cx="5435600" cy="355600"/>
          </a:xfrm>
          <a:prstGeom prst="rect">
            <a:avLst/>
          </a:prstGeom>
          <a:noFill/>
        </p:spPr>
        <p:txBody>
          <a:bodyPr vert="horz" wrap="square" lIns="0" tIns="0" rIns="0" bIns="0" rtlCol="0" anchor="t">
            <a:noAutofit/>
          </a:bodyPr>
          <a:lstStyle/>
          <a:p>
            <a:pPr algn="ctr"/>
            <a:r>
              <a:rPr lang="en-US" sz="1700">
                <a:solidFill>
                  <a:srgbClr val="62756A"/>
                </a:solidFill>
                <a:latin typeface="Calibri" panose="020F0502020204030204" pitchFamily="34" charset="0"/>
              </a:rPr>
              <a:t>Every edge keeps its own conclusion.</a:t>
            </a:r>
            <a:endParaRPr lang="en-IN" sz="1700">
              <a:solidFill>
                <a:srgbClr val="62756A"/>
              </a:solidFill>
              <a:latin typeface="Calibri" panose="020F0502020204030204" pitchFamily="34" charset="0"/>
            </a:endParaRPr>
          </a:p>
        </p:txBody>
      </p:sp>
    </p:spTree>
    <p:extLst>
      <p:ext uri="{BB962C8B-B14F-4D97-AF65-F5344CB8AC3E}">
        <p14:creationId xmlns:p14="http://schemas.microsoft.com/office/powerpoint/2010/main" val="1896998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CFDFB"/>
        </a:solidFill>
        <a:effectLst/>
      </p:bgPr>
    </p:bg>
    <p:spTree>
      <p:nvGrpSpPr>
        <p:cNvPr id="1" name=""/>
        <p:cNvGrpSpPr/>
        <p:nvPr/>
      </p:nvGrpSpPr>
      <p:grpSpPr>
        <a:xfrm>
          <a:off x="0" y="0"/>
          <a:ext cx="0" cy="0"/>
          <a:chOff x="0" y="0"/>
          <a:chExt cx="0" cy="0"/>
        </a:xfrm>
      </p:grpSpPr>
      <p:sp>
        <p:nvSpPr>
          <p:cNvPr id="2" name="s17-object1-text">
            <a:extLst>
              <a:ext uri="{FF2B5EF4-FFF2-40B4-BE49-F238E27FC236}">
                <a16:creationId xmlns:a16="http://schemas.microsoft.com/office/drawing/2014/main" id="{9915C840-D270-B0B1-657E-1F1CD7173F97}"/>
              </a:ext>
            </a:extLst>
          </p:cNvPr>
          <p:cNvSpPr txBox="1"/>
          <p:nvPr/>
        </p:nvSpPr>
        <p:spPr>
          <a:xfrm>
            <a:off x="609600" y="304800"/>
            <a:ext cx="10160000" cy="228600"/>
          </a:xfrm>
          <a:prstGeom prst="rect">
            <a:avLst/>
          </a:prstGeom>
          <a:noFill/>
        </p:spPr>
        <p:txBody>
          <a:bodyPr vert="horz" wrap="square" lIns="0" tIns="0" rIns="0" bIns="0" rtlCol="0" anchor="t">
            <a:noAutofit/>
          </a:bodyPr>
          <a:lstStyle/>
          <a:p>
            <a:r>
              <a:rPr lang="en-US" sz="1000" b="1">
                <a:solidFill>
                  <a:srgbClr val="2D7257"/>
                </a:solidFill>
                <a:latin typeface="Calibri" panose="020F0502020204030204" pitchFamily="34" charset="0"/>
              </a:rPr>
              <a:t>STAGE 11  /  TRUST EVIDENCE AND GRAPH OUTPUT</a:t>
            </a:r>
            <a:endParaRPr lang="en-IN" sz="1000" b="1">
              <a:solidFill>
                <a:srgbClr val="2D7257"/>
              </a:solidFill>
              <a:latin typeface="Calibri" panose="020F0502020204030204" pitchFamily="34" charset="0"/>
            </a:endParaRPr>
          </a:p>
        </p:txBody>
      </p:sp>
      <p:sp>
        <p:nvSpPr>
          <p:cNvPr id="3" name="s17-object2-text">
            <a:extLst>
              <a:ext uri="{FF2B5EF4-FFF2-40B4-BE49-F238E27FC236}">
                <a16:creationId xmlns:a16="http://schemas.microsoft.com/office/drawing/2014/main" id="{1E300714-79BC-AF1E-A4B8-D3752461CA68}"/>
              </a:ext>
            </a:extLst>
          </p:cNvPr>
          <p:cNvSpPr txBox="1"/>
          <p:nvPr/>
        </p:nvSpPr>
        <p:spPr>
          <a:xfrm>
            <a:off x="609600" y="647700"/>
            <a:ext cx="10972800" cy="622300"/>
          </a:xfrm>
          <a:prstGeom prst="rect">
            <a:avLst/>
          </a:prstGeom>
          <a:noFill/>
        </p:spPr>
        <p:txBody>
          <a:bodyPr vert="horz" wrap="square" lIns="0" tIns="0" rIns="0" bIns="0" rtlCol="0" anchor="t">
            <a:noAutofit/>
          </a:bodyPr>
          <a:lstStyle/>
          <a:p>
            <a:r>
              <a:rPr lang="en-US" sz="3000" b="1">
                <a:solidFill>
                  <a:srgbClr val="193F35"/>
                </a:solidFill>
                <a:latin typeface="Calibri" panose="020F0502020204030204" pitchFamily="34" charset="0"/>
              </a:rPr>
              <a:t>Trust evidence and the final graph</a:t>
            </a:r>
            <a:endParaRPr lang="en-IN" sz="3000" b="1">
              <a:solidFill>
                <a:srgbClr val="193F35"/>
              </a:solidFill>
              <a:latin typeface="Calibri" panose="020F0502020204030204" pitchFamily="34" charset="0"/>
            </a:endParaRPr>
          </a:p>
        </p:txBody>
      </p:sp>
      <p:sp>
        <p:nvSpPr>
          <p:cNvPr id="4" name="s17-object3-text">
            <a:extLst>
              <a:ext uri="{FF2B5EF4-FFF2-40B4-BE49-F238E27FC236}">
                <a16:creationId xmlns:a16="http://schemas.microsoft.com/office/drawing/2014/main" id="{A3C8910E-900E-FA45-7CC9-A288F4CEC502}"/>
              </a:ext>
            </a:extLst>
          </p:cNvPr>
          <p:cNvSpPr txBox="1"/>
          <p:nvPr/>
        </p:nvSpPr>
        <p:spPr>
          <a:xfrm>
            <a:off x="609600" y="1346200"/>
            <a:ext cx="10972800" cy="584200"/>
          </a:xfrm>
          <a:prstGeom prst="rect">
            <a:avLst/>
          </a:prstGeom>
          <a:noFill/>
        </p:spPr>
        <p:txBody>
          <a:bodyPr vert="horz" wrap="square" lIns="0" tIns="0" rIns="0" bIns="0" rtlCol="0" anchor="t">
            <a:noAutofit/>
          </a:bodyPr>
          <a:lstStyle/>
          <a:p>
            <a:r>
              <a:rPr lang="en-US" sz="1700">
                <a:solidFill>
                  <a:srgbClr val="2D7257"/>
                </a:solidFill>
                <a:latin typeface="Calibri" panose="020F0502020204030204" pitchFamily="34" charset="0"/>
              </a:rPr>
              <a:t>Purpose: Record distinct study evidence per edge and select eligible edges for the final graph.</a:t>
            </a:r>
            <a:endParaRPr lang="en-IN" sz="1700">
              <a:solidFill>
                <a:srgbClr val="2D7257"/>
              </a:solidFill>
              <a:latin typeface="Calibri" panose="020F0502020204030204" pitchFamily="34" charset="0"/>
            </a:endParaRPr>
          </a:p>
        </p:txBody>
      </p:sp>
      <p:cxnSp>
        <p:nvCxnSpPr>
          <p:cNvPr id="5" name="s17-object4-line">
            <a:extLst>
              <a:ext uri="{FF2B5EF4-FFF2-40B4-BE49-F238E27FC236}">
                <a16:creationId xmlns:a16="http://schemas.microsoft.com/office/drawing/2014/main" id="{CFEDB86B-A1F7-64BC-B816-F52F825E1B83}"/>
              </a:ext>
            </a:extLst>
          </p:cNvPr>
          <p:cNvCxnSpPr/>
          <p:nvPr/>
        </p:nvCxnSpPr>
        <p:spPr>
          <a:xfrm>
            <a:off x="609600" y="6477000"/>
            <a:ext cx="10972800" cy="0"/>
          </a:xfrm>
          <a:prstGeom prst="line">
            <a:avLst/>
          </a:prstGeom>
          <a:ln w="15240">
            <a:solidFill>
              <a:srgbClr val="D7E3DA"/>
            </a:solidFill>
          </a:ln>
        </p:spPr>
        <p:style>
          <a:lnRef idx="2">
            <a:schemeClr val="accent1"/>
          </a:lnRef>
          <a:fillRef idx="0">
            <a:schemeClr val="accent1"/>
          </a:fillRef>
          <a:effectRef idx="1">
            <a:schemeClr val="accent1"/>
          </a:effectRef>
          <a:fontRef idx="minor">
            <a:schemeClr val="tx1"/>
          </a:fontRef>
        </p:style>
      </p:cxnSp>
      <p:sp>
        <p:nvSpPr>
          <p:cNvPr id="6" name="s17-object5-text">
            <a:extLst>
              <a:ext uri="{FF2B5EF4-FFF2-40B4-BE49-F238E27FC236}">
                <a16:creationId xmlns:a16="http://schemas.microsoft.com/office/drawing/2014/main" id="{BBC32942-1AC7-98A5-C24E-551425C42EF9}"/>
              </a:ext>
            </a:extLst>
          </p:cNvPr>
          <p:cNvSpPr txBox="1"/>
          <p:nvPr/>
        </p:nvSpPr>
        <p:spPr>
          <a:xfrm>
            <a:off x="609600" y="6553200"/>
            <a:ext cx="8255000" cy="190500"/>
          </a:xfrm>
          <a:prstGeom prst="rect">
            <a:avLst/>
          </a:prstGeom>
          <a:noFill/>
        </p:spPr>
        <p:txBody>
          <a:bodyPr vert="horz" wrap="square" lIns="0" tIns="0" rIns="0" bIns="0" rtlCol="0" anchor="t">
            <a:noAutofit/>
          </a:bodyPr>
          <a:lstStyle/>
          <a:p>
            <a:r>
              <a:rPr lang="en-US" sz="900">
                <a:solidFill>
                  <a:srgbClr val="62756A"/>
                </a:solidFill>
                <a:latin typeface="Calibri" panose="020F0502020204030204" pitchFamily="34" charset="0"/>
              </a:rPr>
              <a:t>Reasoning with Food Knowledge Graphs</a:t>
            </a:r>
            <a:endParaRPr lang="en-IN" sz="900">
              <a:solidFill>
                <a:srgbClr val="62756A"/>
              </a:solidFill>
              <a:latin typeface="Calibri" panose="020F0502020204030204" pitchFamily="34" charset="0"/>
            </a:endParaRPr>
          </a:p>
        </p:txBody>
      </p:sp>
      <p:sp>
        <p:nvSpPr>
          <p:cNvPr id="7" name="s17-object6-text">
            <a:extLst>
              <a:ext uri="{FF2B5EF4-FFF2-40B4-BE49-F238E27FC236}">
                <a16:creationId xmlns:a16="http://schemas.microsoft.com/office/drawing/2014/main" id="{F408CE44-9A71-EA06-23E4-06B3D4356672}"/>
              </a:ext>
            </a:extLst>
          </p:cNvPr>
          <p:cNvSpPr txBox="1"/>
          <p:nvPr/>
        </p:nvSpPr>
        <p:spPr>
          <a:xfrm>
            <a:off x="11049000" y="6553200"/>
            <a:ext cx="533400" cy="190500"/>
          </a:xfrm>
          <a:prstGeom prst="rect">
            <a:avLst/>
          </a:prstGeom>
          <a:noFill/>
        </p:spPr>
        <p:txBody>
          <a:bodyPr vert="horz" wrap="square" lIns="0" tIns="0" rIns="0" bIns="0" rtlCol="0" anchor="t">
            <a:noAutofit/>
          </a:bodyPr>
          <a:lstStyle/>
          <a:p>
            <a:pPr algn="r"/>
            <a:r>
              <a:rPr lang="en-IN" sz="900">
                <a:solidFill>
                  <a:srgbClr val="62756A"/>
                </a:solidFill>
                <a:latin typeface="Calibri" panose="020F0502020204030204" pitchFamily="34" charset="0"/>
              </a:rPr>
              <a:t>17</a:t>
            </a:r>
          </a:p>
        </p:txBody>
      </p:sp>
      <p:sp>
        <p:nvSpPr>
          <p:cNvPr id="8" name="s17-object7-text">
            <a:extLst>
              <a:ext uri="{FF2B5EF4-FFF2-40B4-BE49-F238E27FC236}">
                <a16:creationId xmlns:a16="http://schemas.microsoft.com/office/drawing/2014/main" id="{EA565001-A9FE-4C9B-3947-BB53884642BE}"/>
              </a:ext>
            </a:extLst>
          </p:cNvPr>
          <p:cNvSpPr txBox="1"/>
          <p:nvPr/>
        </p:nvSpPr>
        <p:spPr>
          <a:xfrm>
            <a:off x="609600" y="2095500"/>
            <a:ext cx="10972800" cy="279400"/>
          </a:xfrm>
          <a:prstGeom prst="rect">
            <a:avLst/>
          </a:prstGeom>
          <a:noFill/>
        </p:spPr>
        <p:txBody>
          <a:bodyPr vert="horz" wrap="square" lIns="0" tIns="0" rIns="0" bIns="0" rtlCol="0" anchor="t">
            <a:noAutofit/>
          </a:bodyPr>
          <a:lstStyle/>
          <a:p>
            <a:r>
              <a:rPr lang="en-IN" sz="1200" b="1">
                <a:solidFill>
                  <a:srgbClr val="2D7257"/>
                </a:solidFill>
                <a:latin typeface="Calibri" panose="020F0502020204030204" pitchFamily="34" charset="0"/>
              </a:rPr>
              <a:t>WHEAT-GRAIN / MYCOTOXIN CLAIM</a:t>
            </a:r>
          </a:p>
        </p:txBody>
      </p:sp>
      <p:sp>
        <p:nvSpPr>
          <p:cNvPr id="9" name="s17-object8-text">
            <a:extLst>
              <a:ext uri="{FF2B5EF4-FFF2-40B4-BE49-F238E27FC236}">
                <a16:creationId xmlns:a16="http://schemas.microsoft.com/office/drawing/2014/main" id="{04A9756F-EC58-5224-B0BD-AA963DDF271B}"/>
              </a:ext>
            </a:extLst>
          </p:cNvPr>
          <p:cNvSpPr txBox="1"/>
          <p:nvPr/>
        </p:nvSpPr>
        <p:spPr>
          <a:xfrm>
            <a:off x="609600" y="2692400"/>
            <a:ext cx="2603500" cy="1244600"/>
          </a:xfrm>
          <a:prstGeom prst="rect">
            <a:avLst/>
          </a:prstGeom>
          <a:noFill/>
        </p:spPr>
        <p:txBody>
          <a:bodyPr vert="horz" wrap="square" lIns="0" tIns="0" rIns="0" bIns="0" rtlCol="0" anchor="t">
            <a:noAutofit/>
          </a:bodyPr>
          <a:lstStyle/>
          <a:p>
            <a:r>
              <a:rPr lang="en-IN" sz="7200" b="1">
                <a:solidFill>
                  <a:srgbClr val="2D7257"/>
                </a:solidFill>
                <a:latin typeface="Calibri" panose="020F0502020204030204" pitchFamily="34" charset="0"/>
              </a:rPr>
              <a:t>+3</a:t>
            </a:r>
          </a:p>
        </p:txBody>
      </p:sp>
      <p:sp>
        <p:nvSpPr>
          <p:cNvPr id="10" name="s17-object9-text">
            <a:extLst>
              <a:ext uri="{FF2B5EF4-FFF2-40B4-BE49-F238E27FC236}">
                <a16:creationId xmlns:a16="http://schemas.microsoft.com/office/drawing/2014/main" id="{1C708E8C-0A9F-F939-99BF-13541ACF85AC}"/>
              </a:ext>
            </a:extLst>
          </p:cNvPr>
          <p:cNvSpPr txBox="1"/>
          <p:nvPr/>
        </p:nvSpPr>
        <p:spPr>
          <a:xfrm>
            <a:off x="635000" y="4013200"/>
            <a:ext cx="3810000" cy="355600"/>
          </a:xfrm>
          <a:prstGeom prst="rect">
            <a:avLst/>
          </a:prstGeom>
          <a:noFill/>
        </p:spPr>
        <p:txBody>
          <a:bodyPr vert="horz" wrap="square" lIns="0" tIns="0" rIns="0" bIns="0" rtlCol="0" anchor="t">
            <a:noAutofit/>
          </a:bodyPr>
          <a:lstStyle/>
          <a:p>
            <a:r>
              <a:rPr lang="en-IN">
                <a:solidFill>
                  <a:srgbClr val="62756A"/>
                </a:solidFill>
                <a:latin typeface="Calibri" panose="020F0502020204030204" pitchFamily="34" charset="0"/>
              </a:rPr>
              <a:t>Recorded evidence balance</a:t>
            </a:r>
          </a:p>
        </p:txBody>
      </p:sp>
      <p:sp>
        <p:nvSpPr>
          <p:cNvPr id="11" name="s17-object10-text">
            <a:extLst>
              <a:ext uri="{FF2B5EF4-FFF2-40B4-BE49-F238E27FC236}">
                <a16:creationId xmlns:a16="http://schemas.microsoft.com/office/drawing/2014/main" id="{5E834737-1716-6B17-C91E-A5E8C72331A1}"/>
              </a:ext>
            </a:extLst>
          </p:cNvPr>
          <p:cNvSpPr txBox="1"/>
          <p:nvPr/>
        </p:nvSpPr>
        <p:spPr>
          <a:xfrm>
            <a:off x="4787900" y="2768600"/>
            <a:ext cx="2032000" cy="812800"/>
          </a:xfrm>
          <a:prstGeom prst="rect">
            <a:avLst/>
          </a:prstGeom>
          <a:noFill/>
        </p:spPr>
        <p:txBody>
          <a:bodyPr vert="horz" wrap="square" lIns="0" tIns="0" rIns="0" bIns="0" rtlCol="0" anchor="t">
            <a:noAutofit/>
          </a:bodyPr>
          <a:lstStyle/>
          <a:p>
            <a:r>
              <a:rPr lang="en-IN" sz="4300" b="1">
                <a:solidFill>
                  <a:srgbClr val="2D7257"/>
                </a:solidFill>
                <a:latin typeface="Calibri" panose="020F0502020204030204" pitchFamily="34" charset="0"/>
              </a:rPr>
              <a:t>3</a:t>
            </a:r>
          </a:p>
        </p:txBody>
      </p:sp>
      <p:sp>
        <p:nvSpPr>
          <p:cNvPr id="12" name="s17-object11-text">
            <a:extLst>
              <a:ext uri="{FF2B5EF4-FFF2-40B4-BE49-F238E27FC236}">
                <a16:creationId xmlns:a16="http://schemas.microsoft.com/office/drawing/2014/main" id="{44ACDD43-C676-9F9B-98A1-68B0DD201C81}"/>
              </a:ext>
            </a:extLst>
          </p:cNvPr>
          <p:cNvSpPr txBox="1"/>
          <p:nvPr/>
        </p:nvSpPr>
        <p:spPr>
          <a:xfrm>
            <a:off x="4787900" y="3695700"/>
            <a:ext cx="1968500" cy="698500"/>
          </a:xfrm>
          <a:prstGeom prst="rect">
            <a:avLst/>
          </a:prstGeom>
          <a:noFill/>
        </p:spPr>
        <p:txBody>
          <a:bodyPr vert="horz" wrap="square" lIns="0" tIns="0" rIns="0" bIns="0" rtlCol="0" anchor="t">
            <a:noAutofit/>
          </a:bodyPr>
          <a:lstStyle/>
          <a:p>
            <a:r>
              <a:rPr lang="en-IN" sz="1700">
                <a:solidFill>
                  <a:srgbClr val="62756A"/>
                </a:solidFill>
                <a:latin typeface="Calibri" panose="020F0502020204030204" pitchFamily="34" charset="0"/>
              </a:rPr>
              <a:t>Supporting study groups</a:t>
            </a:r>
          </a:p>
        </p:txBody>
      </p:sp>
      <p:sp>
        <p:nvSpPr>
          <p:cNvPr id="13" name="s17-object12-text">
            <a:extLst>
              <a:ext uri="{FF2B5EF4-FFF2-40B4-BE49-F238E27FC236}">
                <a16:creationId xmlns:a16="http://schemas.microsoft.com/office/drawing/2014/main" id="{BCC18E60-1607-5EE6-36B6-7FCC98697992}"/>
              </a:ext>
            </a:extLst>
          </p:cNvPr>
          <p:cNvSpPr txBox="1"/>
          <p:nvPr/>
        </p:nvSpPr>
        <p:spPr>
          <a:xfrm>
            <a:off x="7086600" y="2768600"/>
            <a:ext cx="2032000" cy="812800"/>
          </a:xfrm>
          <a:prstGeom prst="rect">
            <a:avLst/>
          </a:prstGeom>
          <a:noFill/>
        </p:spPr>
        <p:txBody>
          <a:bodyPr vert="horz" wrap="square" lIns="0" tIns="0" rIns="0" bIns="0" rtlCol="0" anchor="t">
            <a:noAutofit/>
          </a:bodyPr>
          <a:lstStyle/>
          <a:p>
            <a:r>
              <a:rPr lang="en-IN" sz="4300" b="1">
                <a:solidFill>
                  <a:srgbClr val="AE644E"/>
                </a:solidFill>
                <a:latin typeface="Calibri" panose="020F0502020204030204" pitchFamily="34" charset="0"/>
              </a:rPr>
              <a:t>0</a:t>
            </a:r>
          </a:p>
        </p:txBody>
      </p:sp>
      <p:sp>
        <p:nvSpPr>
          <p:cNvPr id="14" name="s17-object13-text">
            <a:extLst>
              <a:ext uri="{FF2B5EF4-FFF2-40B4-BE49-F238E27FC236}">
                <a16:creationId xmlns:a16="http://schemas.microsoft.com/office/drawing/2014/main" id="{55F0BAD2-E73D-FD3C-03C3-D013E53940AA}"/>
              </a:ext>
            </a:extLst>
          </p:cNvPr>
          <p:cNvSpPr txBox="1"/>
          <p:nvPr/>
        </p:nvSpPr>
        <p:spPr>
          <a:xfrm>
            <a:off x="7086600" y="3695700"/>
            <a:ext cx="1968500" cy="698500"/>
          </a:xfrm>
          <a:prstGeom prst="rect">
            <a:avLst/>
          </a:prstGeom>
          <a:noFill/>
        </p:spPr>
        <p:txBody>
          <a:bodyPr vert="horz" wrap="square" lIns="0" tIns="0" rIns="0" bIns="0" rtlCol="0" anchor="t">
            <a:noAutofit/>
          </a:bodyPr>
          <a:lstStyle/>
          <a:p>
            <a:r>
              <a:rPr lang="en-IN" sz="1700">
                <a:solidFill>
                  <a:srgbClr val="62756A"/>
                </a:solidFill>
                <a:latin typeface="Calibri" panose="020F0502020204030204" pitchFamily="34" charset="0"/>
              </a:rPr>
              <a:t>Contradicting study groups</a:t>
            </a:r>
          </a:p>
        </p:txBody>
      </p:sp>
      <p:sp>
        <p:nvSpPr>
          <p:cNvPr id="15" name="s17-object14-text">
            <a:extLst>
              <a:ext uri="{FF2B5EF4-FFF2-40B4-BE49-F238E27FC236}">
                <a16:creationId xmlns:a16="http://schemas.microsoft.com/office/drawing/2014/main" id="{FAE924E6-E848-2094-5894-4D5C91559D74}"/>
              </a:ext>
            </a:extLst>
          </p:cNvPr>
          <p:cNvSpPr txBox="1"/>
          <p:nvPr/>
        </p:nvSpPr>
        <p:spPr>
          <a:xfrm>
            <a:off x="9385300" y="2768600"/>
            <a:ext cx="2032000" cy="812800"/>
          </a:xfrm>
          <a:prstGeom prst="rect">
            <a:avLst/>
          </a:prstGeom>
          <a:noFill/>
        </p:spPr>
        <p:txBody>
          <a:bodyPr vert="horz" wrap="square" lIns="0" tIns="0" rIns="0" bIns="0" rtlCol="0" anchor="t">
            <a:noAutofit/>
          </a:bodyPr>
          <a:lstStyle/>
          <a:p>
            <a:r>
              <a:rPr lang="en-IN" sz="4300" b="1">
                <a:solidFill>
                  <a:srgbClr val="B28A4F"/>
                </a:solidFill>
                <a:latin typeface="Calibri" panose="020F0502020204030204" pitchFamily="34" charset="0"/>
              </a:rPr>
              <a:t>4</a:t>
            </a:r>
          </a:p>
        </p:txBody>
      </p:sp>
      <p:sp>
        <p:nvSpPr>
          <p:cNvPr id="16" name="s17-object15-text">
            <a:extLst>
              <a:ext uri="{FF2B5EF4-FFF2-40B4-BE49-F238E27FC236}">
                <a16:creationId xmlns:a16="http://schemas.microsoft.com/office/drawing/2014/main" id="{945F0446-8998-2E7D-EBE5-1FC7AD81FE83}"/>
              </a:ext>
            </a:extLst>
          </p:cNvPr>
          <p:cNvSpPr txBox="1"/>
          <p:nvPr/>
        </p:nvSpPr>
        <p:spPr>
          <a:xfrm>
            <a:off x="9385300" y="3695700"/>
            <a:ext cx="1968500" cy="698500"/>
          </a:xfrm>
          <a:prstGeom prst="rect">
            <a:avLst/>
          </a:prstGeom>
          <a:noFill/>
        </p:spPr>
        <p:txBody>
          <a:bodyPr vert="horz" wrap="square" lIns="0" tIns="0" rIns="0" bIns="0" rtlCol="0" anchor="t">
            <a:noAutofit/>
          </a:bodyPr>
          <a:lstStyle/>
          <a:p>
            <a:r>
              <a:rPr lang="en-IN" sz="1700">
                <a:solidFill>
                  <a:srgbClr val="62756A"/>
                </a:solidFill>
                <a:latin typeface="Calibri" panose="020F0502020204030204" pitchFamily="34" charset="0"/>
              </a:rPr>
              <a:t>Unresolved paper findings</a:t>
            </a:r>
          </a:p>
        </p:txBody>
      </p:sp>
      <p:cxnSp>
        <p:nvCxnSpPr>
          <p:cNvPr id="17" name="s17-object16-line">
            <a:extLst>
              <a:ext uri="{FF2B5EF4-FFF2-40B4-BE49-F238E27FC236}">
                <a16:creationId xmlns:a16="http://schemas.microsoft.com/office/drawing/2014/main" id="{D0C849E8-24AF-7599-8807-733948F352E3}"/>
              </a:ext>
            </a:extLst>
          </p:cNvPr>
          <p:cNvCxnSpPr/>
          <p:nvPr/>
        </p:nvCxnSpPr>
        <p:spPr>
          <a:xfrm>
            <a:off x="609600" y="4826000"/>
            <a:ext cx="10972800" cy="0"/>
          </a:xfrm>
          <a:prstGeom prst="line">
            <a:avLst/>
          </a:prstGeom>
          <a:ln w="15240">
            <a:solidFill>
              <a:srgbClr val="D7E3DA"/>
            </a:solidFill>
          </a:ln>
        </p:spPr>
        <p:style>
          <a:lnRef idx="2">
            <a:schemeClr val="accent1"/>
          </a:lnRef>
          <a:fillRef idx="0">
            <a:schemeClr val="accent1"/>
          </a:fillRef>
          <a:effectRef idx="1">
            <a:schemeClr val="accent1"/>
          </a:effectRef>
          <a:fontRef idx="minor">
            <a:schemeClr val="tx1"/>
          </a:fontRef>
        </p:style>
      </p:cxnSp>
      <p:sp>
        <p:nvSpPr>
          <p:cNvPr id="18" name="s17-object17-text">
            <a:extLst>
              <a:ext uri="{FF2B5EF4-FFF2-40B4-BE49-F238E27FC236}">
                <a16:creationId xmlns:a16="http://schemas.microsoft.com/office/drawing/2014/main" id="{EDD22572-4AF5-C536-2A41-C105D693FD6C}"/>
              </a:ext>
            </a:extLst>
          </p:cNvPr>
          <p:cNvSpPr txBox="1"/>
          <p:nvPr/>
        </p:nvSpPr>
        <p:spPr>
          <a:xfrm>
            <a:off x="609600" y="5105400"/>
            <a:ext cx="5016500" cy="393700"/>
          </a:xfrm>
          <a:prstGeom prst="rect">
            <a:avLst/>
          </a:prstGeom>
          <a:noFill/>
        </p:spPr>
        <p:txBody>
          <a:bodyPr vert="horz" wrap="square" lIns="0" tIns="0" rIns="0" bIns="0" rtlCol="0" anchor="t">
            <a:noAutofit/>
          </a:bodyPr>
          <a:lstStyle/>
          <a:p>
            <a:r>
              <a:rPr lang="en-US" sz="2000" b="1">
                <a:solidFill>
                  <a:srgbClr val="193F35"/>
                </a:solidFill>
                <a:latin typeface="Calibri" panose="020F0502020204030204" pitchFamily="34" charset="0"/>
              </a:rPr>
              <a:t>One original study contributes once</a:t>
            </a:r>
            <a:endParaRPr lang="en-IN" sz="2000" b="1">
              <a:solidFill>
                <a:srgbClr val="193F35"/>
              </a:solidFill>
              <a:latin typeface="Calibri" panose="020F0502020204030204" pitchFamily="34" charset="0"/>
            </a:endParaRPr>
          </a:p>
        </p:txBody>
      </p:sp>
      <p:sp>
        <p:nvSpPr>
          <p:cNvPr id="19" name="s17-object18-text">
            <a:extLst>
              <a:ext uri="{FF2B5EF4-FFF2-40B4-BE49-F238E27FC236}">
                <a16:creationId xmlns:a16="http://schemas.microsoft.com/office/drawing/2014/main" id="{0A5AA9A0-D4D3-2AEA-19DE-48D463B375B6}"/>
              </a:ext>
            </a:extLst>
          </p:cNvPr>
          <p:cNvSpPr txBox="1"/>
          <p:nvPr/>
        </p:nvSpPr>
        <p:spPr>
          <a:xfrm>
            <a:off x="609600" y="5600700"/>
            <a:ext cx="5080000" cy="660400"/>
          </a:xfrm>
          <a:prstGeom prst="rect">
            <a:avLst/>
          </a:prstGeom>
          <a:noFill/>
        </p:spPr>
        <p:txBody>
          <a:bodyPr vert="horz" wrap="square" lIns="0" tIns="0" rIns="0" bIns="0" rtlCol="0" anchor="t">
            <a:noAutofit/>
          </a:bodyPr>
          <a:lstStyle/>
          <a:p>
            <a:r>
              <a:rPr lang="en-US" sz="1700">
                <a:solidFill>
                  <a:srgbClr val="62756A"/>
                </a:solidFill>
                <a:latin typeface="Calibri" panose="020F0502020204030204" pitchFamily="34" charset="0"/>
              </a:rPr>
              <a:t>Repeated papers, passages or pathways do not add new votes.</a:t>
            </a:r>
            <a:endParaRPr lang="en-IN" sz="1700">
              <a:solidFill>
                <a:srgbClr val="62756A"/>
              </a:solidFill>
              <a:latin typeface="Calibri" panose="020F0502020204030204" pitchFamily="34" charset="0"/>
            </a:endParaRPr>
          </a:p>
        </p:txBody>
      </p:sp>
      <p:sp>
        <p:nvSpPr>
          <p:cNvPr id="20" name="s17-object19-text">
            <a:extLst>
              <a:ext uri="{FF2B5EF4-FFF2-40B4-BE49-F238E27FC236}">
                <a16:creationId xmlns:a16="http://schemas.microsoft.com/office/drawing/2014/main" id="{44A8F8B4-1FC1-33E9-436C-47A710808D59}"/>
              </a:ext>
            </a:extLst>
          </p:cNvPr>
          <p:cNvSpPr txBox="1"/>
          <p:nvPr/>
        </p:nvSpPr>
        <p:spPr>
          <a:xfrm>
            <a:off x="6375400" y="5105400"/>
            <a:ext cx="5207000" cy="393700"/>
          </a:xfrm>
          <a:prstGeom prst="rect">
            <a:avLst/>
          </a:prstGeom>
          <a:noFill/>
        </p:spPr>
        <p:txBody>
          <a:bodyPr vert="horz" wrap="square" lIns="0" tIns="0" rIns="0" bIns="0" rtlCol="0" anchor="t">
            <a:noAutofit/>
          </a:bodyPr>
          <a:lstStyle/>
          <a:p>
            <a:r>
              <a:rPr lang="en-IN" sz="2000" b="1">
                <a:solidFill>
                  <a:srgbClr val="193F35"/>
                </a:solidFill>
                <a:latin typeface="Calibri" panose="020F0502020204030204" pitchFamily="34" charset="0"/>
              </a:rPr>
              <a:t>Final graph eligibility</a:t>
            </a:r>
          </a:p>
        </p:txBody>
      </p:sp>
      <p:sp>
        <p:nvSpPr>
          <p:cNvPr id="21" name="s17-object20-text">
            <a:extLst>
              <a:ext uri="{FF2B5EF4-FFF2-40B4-BE49-F238E27FC236}">
                <a16:creationId xmlns:a16="http://schemas.microsoft.com/office/drawing/2014/main" id="{32184A92-936B-C8E3-B105-2A4585980D44}"/>
              </a:ext>
            </a:extLst>
          </p:cNvPr>
          <p:cNvSpPr txBox="1"/>
          <p:nvPr/>
        </p:nvSpPr>
        <p:spPr>
          <a:xfrm>
            <a:off x="6375400" y="5600700"/>
            <a:ext cx="5207000" cy="787400"/>
          </a:xfrm>
          <a:prstGeom prst="rect">
            <a:avLst/>
          </a:prstGeom>
          <a:noFill/>
        </p:spPr>
        <p:txBody>
          <a:bodyPr vert="horz" wrap="square" lIns="0" tIns="0" rIns="0" bIns="0" rtlCol="0" anchor="t">
            <a:noAutofit/>
          </a:bodyPr>
          <a:lstStyle/>
          <a:p>
            <a:r>
              <a:rPr lang="en-US" sz="1600">
                <a:solidFill>
                  <a:srgbClr val="62756A"/>
                </a:solidFill>
                <a:latin typeface="Calibri" panose="020F0502020204030204" pitchFamily="34" charset="0"/>
              </a:rPr>
              <a:t>Keep source-grounded, in-scope edges with completed assessments that meet evidence requirements.</a:t>
            </a:r>
            <a:endParaRPr lang="en-IN" sz="1600">
              <a:solidFill>
                <a:srgbClr val="62756A"/>
              </a:solidFill>
              <a:latin typeface="Calibri" panose="020F0502020204030204" pitchFamily="34" charset="0"/>
            </a:endParaRPr>
          </a:p>
        </p:txBody>
      </p:sp>
      <p:sp>
        <p:nvSpPr>
          <p:cNvPr id="22" name="s17-object21-text">
            <a:extLst>
              <a:ext uri="{FF2B5EF4-FFF2-40B4-BE49-F238E27FC236}">
                <a16:creationId xmlns:a16="http://schemas.microsoft.com/office/drawing/2014/main" id="{A6CE2589-1AE2-3992-2D02-711EED08251A}"/>
              </a:ext>
            </a:extLst>
          </p:cNvPr>
          <p:cNvSpPr txBox="1"/>
          <p:nvPr/>
        </p:nvSpPr>
        <p:spPr>
          <a:xfrm>
            <a:off x="609600" y="4533900"/>
            <a:ext cx="10972800" cy="368300"/>
          </a:xfrm>
          <a:prstGeom prst="rect">
            <a:avLst/>
          </a:prstGeom>
          <a:noFill/>
        </p:spPr>
        <p:txBody>
          <a:bodyPr vert="horz" wrap="square" lIns="0" tIns="0" rIns="0" bIns="0" rtlCol="0" anchor="t">
            <a:noAutofit/>
          </a:bodyPr>
          <a:lstStyle/>
          <a:p>
            <a:r>
              <a:rPr lang="en-US" sz="1600">
                <a:solidFill>
                  <a:srgbClr val="62756A"/>
                </a:solidFill>
                <a:latin typeface="Calibri" panose="020F0502020204030204" pitchFamily="34" charset="0"/>
              </a:rPr>
              <a:t>Evidence balance is a count, not a probability. Graph connectivity is reported separately.</a:t>
            </a:r>
            <a:endParaRPr lang="en-IN" sz="1600">
              <a:solidFill>
                <a:srgbClr val="62756A"/>
              </a:solidFill>
              <a:latin typeface="Calibri" panose="020F0502020204030204" pitchFamily="34" charset="0"/>
            </a:endParaRPr>
          </a:p>
        </p:txBody>
      </p:sp>
    </p:spTree>
    <p:extLst>
      <p:ext uri="{BB962C8B-B14F-4D97-AF65-F5344CB8AC3E}">
        <p14:creationId xmlns:p14="http://schemas.microsoft.com/office/powerpoint/2010/main" val="4185851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CFDFB"/>
        </a:solidFill>
        <a:effectLst/>
      </p:bgPr>
    </p:bg>
    <p:spTree>
      <p:nvGrpSpPr>
        <p:cNvPr id="1" name=""/>
        <p:cNvGrpSpPr/>
        <p:nvPr/>
      </p:nvGrpSpPr>
      <p:grpSpPr>
        <a:xfrm>
          <a:off x="0" y="0"/>
          <a:ext cx="0" cy="0"/>
          <a:chOff x="0" y="0"/>
          <a:chExt cx="0" cy="0"/>
        </a:xfrm>
      </p:grpSpPr>
      <p:sp>
        <p:nvSpPr>
          <p:cNvPr id="2" name="s18-object1-text">
            <a:extLst>
              <a:ext uri="{FF2B5EF4-FFF2-40B4-BE49-F238E27FC236}">
                <a16:creationId xmlns:a16="http://schemas.microsoft.com/office/drawing/2014/main" id="{6EC91F25-090F-BFCE-3781-A1F336A3DB18}"/>
              </a:ext>
            </a:extLst>
          </p:cNvPr>
          <p:cNvSpPr txBox="1"/>
          <p:nvPr/>
        </p:nvSpPr>
        <p:spPr>
          <a:xfrm>
            <a:off x="609600" y="304800"/>
            <a:ext cx="10160000" cy="228600"/>
          </a:xfrm>
          <a:prstGeom prst="rect">
            <a:avLst/>
          </a:prstGeom>
          <a:noFill/>
        </p:spPr>
        <p:txBody>
          <a:bodyPr vert="horz" wrap="square" lIns="0" tIns="0" rIns="0" bIns="0" rtlCol="0" anchor="t">
            <a:noAutofit/>
          </a:bodyPr>
          <a:lstStyle/>
          <a:p>
            <a:r>
              <a:rPr lang="en-IN" sz="1000" b="1">
                <a:solidFill>
                  <a:srgbClr val="2D7257"/>
                </a:solidFill>
                <a:latin typeface="Calibri" panose="020F0502020204030204" pitchFamily="34" charset="0"/>
              </a:rPr>
              <a:t>RESEARCH FINDINGS</a:t>
            </a:r>
          </a:p>
        </p:txBody>
      </p:sp>
      <p:sp>
        <p:nvSpPr>
          <p:cNvPr id="3" name="s18-object2-text">
            <a:extLst>
              <a:ext uri="{FF2B5EF4-FFF2-40B4-BE49-F238E27FC236}">
                <a16:creationId xmlns:a16="http://schemas.microsoft.com/office/drawing/2014/main" id="{4C29432B-F26E-5177-5165-02882B504464}"/>
              </a:ext>
            </a:extLst>
          </p:cNvPr>
          <p:cNvSpPr txBox="1"/>
          <p:nvPr/>
        </p:nvSpPr>
        <p:spPr>
          <a:xfrm>
            <a:off x="609600" y="647700"/>
            <a:ext cx="10972800" cy="622300"/>
          </a:xfrm>
          <a:prstGeom prst="rect">
            <a:avLst/>
          </a:prstGeom>
          <a:noFill/>
        </p:spPr>
        <p:txBody>
          <a:bodyPr vert="horz" wrap="square" lIns="0" tIns="0" rIns="0" bIns="0" rtlCol="0" anchor="t">
            <a:noAutofit/>
          </a:bodyPr>
          <a:lstStyle/>
          <a:p>
            <a:r>
              <a:rPr lang="en-US" sz="3000" b="1">
                <a:solidFill>
                  <a:srgbClr val="193F35"/>
                </a:solidFill>
                <a:latin typeface="Calibri" panose="020F0502020204030204" pitchFamily="34" charset="0"/>
              </a:rPr>
              <a:t>Saved results for the Crop Health case study</a:t>
            </a:r>
            <a:endParaRPr lang="en-IN" sz="3000" b="1">
              <a:solidFill>
                <a:srgbClr val="193F35"/>
              </a:solidFill>
              <a:latin typeface="Calibri" panose="020F0502020204030204" pitchFamily="34" charset="0"/>
            </a:endParaRPr>
          </a:p>
        </p:txBody>
      </p:sp>
      <p:sp>
        <p:nvSpPr>
          <p:cNvPr id="4" name="s18-object3-text">
            <a:extLst>
              <a:ext uri="{FF2B5EF4-FFF2-40B4-BE49-F238E27FC236}">
                <a16:creationId xmlns:a16="http://schemas.microsoft.com/office/drawing/2014/main" id="{192E14DA-3049-179F-2329-46108BA596D5}"/>
              </a:ext>
            </a:extLst>
          </p:cNvPr>
          <p:cNvSpPr txBox="1"/>
          <p:nvPr/>
        </p:nvSpPr>
        <p:spPr>
          <a:xfrm>
            <a:off x="609600" y="1346200"/>
            <a:ext cx="10972800" cy="584200"/>
          </a:xfrm>
          <a:prstGeom prst="rect">
            <a:avLst/>
          </a:prstGeom>
          <a:noFill/>
        </p:spPr>
        <p:txBody>
          <a:bodyPr vert="horz" wrap="square" lIns="0" tIns="0" rIns="0" bIns="0" rtlCol="0" anchor="t">
            <a:noAutofit/>
          </a:bodyPr>
          <a:lstStyle/>
          <a:p>
            <a:r>
              <a:rPr lang="en-US" sz="1600">
                <a:solidFill>
                  <a:srgbClr val="62756A"/>
                </a:solidFill>
                <a:latin typeface="Calibri" panose="020F0502020204030204" pitchFamily="34" charset="0"/>
              </a:rPr>
              <a:t>A single-document research snapshot with separate source and external evidence outcomes.</a:t>
            </a:r>
            <a:endParaRPr lang="en-IN" sz="1600">
              <a:solidFill>
                <a:srgbClr val="62756A"/>
              </a:solidFill>
              <a:latin typeface="Calibri" panose="020F0502020204030204" pitchFamily="34" charset="0"/>
            </a:endParaRPr>
          </a:p>
        </p:txBody>
      </p:sp>
      <p:cxnSp>
        <p:nvCxnSpPr>
          <p:cNvPr id="5" name="s18-object4-line">
            <a:extLst>
              <a:ext uri="{FF2B5EF4-FFF2-40B4-BE49-F238E27FC236}">
                <a16:creationId xmlns:a16="http://schemas.microsoft.com/office/drawing/2014/main" id="{77B9B84D-F112-CCF4-E06C-6A2CA2DB70AB}"/>
              </a:ext>
            </a:extLst>
          </p:cNvPr>
          <p:cNvCxnSpPr/>
          <p:nvPr/>
        </p:nvCxnSpPr>
        <p:spPr>
          <a:xfrm>
            <a:off x="609600" y="6477000"/>
            <a:ext cx="10972800" cy="0"/>
          </a:xfrm>
          <a:prstGeom prst="line">
            <a:avLst/>
          </a:prstGeom>
          <a:ln w="15240">
            <a:solidFill>
              <a:srgbClr val="D7E3DA"/>
            </a:solidFill>
          </a:ln>
        </p:spPr>
        <p:style>
          <a:lnRef idx="2">
            <a:schemeClr val="accent1"/>
          </a:lnRef>
          <a:fillRef idx="0">
            <a:schemeClr val="accent1"/>
          </a:fillRef>
          <a:effectRef idx="1">
            <a:schemeClr val="accent1"/>
          </a:effectRef>
          <a:fontRef idx="minor">
            <a:schemeClr val="tx1"/>
          </a:fontRef>
        </p:style>
      </p:cxnSp>
      <p:sp>
        <p:nvSpPr>
          <p:cNvPr id="6" name="s18-object5-text">
            <a:extLst>
              <a:ext uri="{FF2B5EF4-FFF2-40B4-BE49-F238E27FC236}">
                <a16:creationId xmlns:a16="http://schemas.microsoft.com/office/drawing/2014/main" id="{02906AE9-A3BB-A4CB-7B15-95EE3479CC18}"/>
              </a:ext>
            </a:extLst>
          </p:cNvPr>
          <p:cNvSpPr txBox="1"/>
          <p:nvPr/>
        </p:nvSpPr>
        <p:spPr>
          <a:xfrm>
            <a:off x="609600" y="6553200"/>
            <a:ext cx="8255000" cy="190500"/>
          </a:xfrm>
          <a:prstGeom prst="rect">
            <a:avLst/>
          </a:prstGeom>
          <a:noFill/>
        </p:spPr>
        <p:txBody>
          <a:bodyPr vert="horz" wrap="square" lIns="0" tIns="0" rIns="0" bIns="0" rtlCol="0" anchor="t">
            <a:noAutofit/>
          </a:bodyPr>
          <a:lstStyle/>
          <a:p>
            <a:r>
              <a:rPr lang="en-US" sz="900">
                <a:solidFill>
                  <a:srgbClr val="62756A"/>
                </a:solidFill>
                <a:latin typeface="Calibri" panose="020F0502020204030204" pitchFamily="34" charset="0"/>
              </a:rPr>
              <a:t>Reasoning with Food Knowledge Graphs</a:t>
            </a:r>
            <a:endParaRPr lang="en-IN" sz="900">
              <a:solidFill>
                <a:srgbClr val="62756A"/>
              </a:solidFill>
              <a:latin typeface="Calibri" panose="020F0502020204030204" pitchFamily="34" charset="0"/>
            </a:endParaRPr>
          </a:p>
        </p:txBody>
      </p:sp>
      <p:sp>
        <p:nvSpPr>
          <p:cNvPr id="7" name="s18-object6-text">
            <a:extLst>
              <a:ext uri="{FF2B5EF4-FFF2-40B4-BE49-F238E27FC236}">
                <a16:creationId xmlns:a16="http://schemas.microsoft.com/office/drawing/2014/main" id="{4410E837-86BE-C535-36AA-57D528A74BD6}"/>
              </a:ext>
            </a:extLst>
          </p:cNvPr>
          <p:cNvSpPr txBox="1"/>
          <p:nvPr/>
        </p:nvSpPr>
        <p:spPr>
          <a:xfrm>
            <a:off x="11049000" y="6553200"/>
            <a:ext cx="533400" cy="190500"/>
          </a:xfrm>
          <a:prstGeom prst="rect">
            <a:avLst/>
          </a:prstGeom>
          <a:noFill/>
        </p:spPr>
        <p:txBody>
          <a:bodyPr vert="horz" wrap="square" lIns="0" tIns="0" rIns="0" bIns="0" rtlCol="0" anchor="t">
            <a:noAutofit/>
          </a:bodyPr>
          <a:lstStyle/>
          <a:p>
            <a:pPr algn="r"/>
            <a:r>
              <a:rPr lang="en-IN" sz="900">
                <a:solidFill>
                  <a:srgbClr val="62756A"/>
                </a:solidFill>
                <a:latin typeface="Calibri" panose="020F0502020204030204" pitchFamily="34" charset="0"/>
              </a:rPr>
              <a:t>18</a:t>
            </a:r>
          </a:p>
        </p:txBody>
      </p:sp>
      <p:sp>
        <p:nvSpPr>
          <p:cNvPr id="8" name="s18-object7-text">
            <a:extLst>
              <a:ext uri="{FF2B5EF4-FFF2-40B4-BE49-F238E27FC236}">
                <a16:creationId xmlns:a16="http://schemas.microsoft.com/office/drawing/2014/main" id="{267C7D08-2F9C-6296-1D2A-A245BE13584F}"/>
              </a:ext>
            </a:extLst>
          </p:cNvPr>
          <p:cNvSpPr txBox="1"/>
          <p:nvPr/>
        </p:nvSpPr>
        <p:spPr>
          <a:xfrm>
            <a:off x="609600" y="2222500"/>
            <a:ext cx="2667000" cy="774700"/>
          </a:xfrm>
          <a:prstGeom prst="rect">
            <a:avLst/>
          </a:prstGeom>
          <a:noFill/>
        </p:spPr>
        <p:txBody>
          <a:bodyPr vert="horz" wrap="square" lIns="0" tIns="0" rIns="0" bIns="0" rtlCol="0" anchor="t">
            <a:noAutofit/>
          </a:bodyPr>
          <a:lstStyle/>
          <a:p>
            <a:r>
              <a:rPr lang="en-IN" sz="4300" b="1">
                <a:solidFill>
                  <a:srgbClr val="2D7257"/>
                </a:solidFill>
                <a:latin typeface="Calibri" panose="020F0502020204030204" pitchFamily="34" charset="0"/>
              </a:rPr>
              <a:t>49</a:t>
            </a:r>
          </a:p>
        </p:txBody>
      </p:sp>
      <p:sp>
        <p:nvSpPr>
          <p:cNvPr id="9" name="s18-object8-text">
            <a:extLst>
              <a:ext uri="{FF2B5EF4-FFF2-40B4-BE49-F238E27FC236}">
                <a16:creationId xmlns:a16="http://schemas.microsoft.com/office/drawing/2014/main" id="{D5436F5D-DE13-F5CE-0AAA-BF61F9131C81}"/>
              </a:ext>
            </a:extLst>
          </p:cNvPr>
          <p:cNvSpPr txBox="1"/>
          <p:nvPr/>
        </p:nvSpPr>
        <p:spPr>
          <a:xfrm>
            <a:off x="609600" y="3149600"/>
            <a:ext cx="2667000" cy="711200"/>
          </a:xfrm>
          <a:prstGeom prst="rect">
            <a:avLst/>
          </a:prstGeom>
          <a:noFill/>
        </p:spPr>
        <p:txBody>
          <a:bodyPr vert="horz" wrap="square" lIns="0" tIns="0" rIns="0" bIns="0" rtlCol="0" anchor="t">
            <a:noAutofit/>
          </a:bodyPr>
          <a:lstStyle/>
          <a:p>
            <a:r>
              <a:rPr lang="en-IN" sz="1700">
                <a:solidFill>
                  <a:srgbClr val="62756A"/>
                </a:solidFill>
                <a:latin typeface="Calibri" panose="020F0502020204030204" pitchFamily="34" charset="0"/>
              </a:rPr>
              <a:t>Extracted claims</a:t>
            </a:r>
          </a:p>
        </p:txBody>
      </p:sp>
      <p:sp>
        <p:nvSpPr>
          <p:cNvPr id="10" name="s18-object9-text">
            <a:extLst>
              <a:ext uri="{FF2B5EF4-FFF2-40B4-BE49-F238E27FC236}">
                <a16:creationId xmlns:a16="http://schemas.microsoft.com/office/drawing/2014/main" id="{DC3CE1F3-3337-A27A-823A-6E4447073E05}"/>
              </a:ext>
            </a:extLst>
          </p:cNvPr>
          <p:cNvSpPr txBox="1"/>
          <p:nvPr/>
        </p:nvSpPr>
        <p:spPr>
          <a:xfrm>
            <a:off x="3606800" y="2222500"/>
            <a:ext cx="2667000" cy="774700"/>
          </a:xfrm>
          <a:prstGeom prst="rect">
            <a:avLst/>
          </a:prstGeom>
          <a:noFill/>
        </p:spPr>
        <p:txBody>
          <a:bodyPr vert="horz" wrap="square" lIns="0" tIns="0" rIns="0" bIns="0" rtlCol="0" anchor="t">
            <a:noAutofit/>
          </a:bodyPr>
          <a:lstStyle/>
          <a:p>
            <a:r>
              <a:rPr lang="en-IN" sz="4300" b="1">
                <a:solidFill>
                  <a:srgbClr val="2D7257"/>
                </a:solidFill>
                <a:latin typeface="Calibri" panose="020F0502020204030204" pitchFamily="34" charset="0"/>
              </a:rPr>
              <a:t>46</a:t>
            </a:r>
          </a:p>
        </p:txBody>
      </p:sp>
      <p:sp>
        <p:nvSpPr>
          <p:cNvPr id="11" name="s18-object10-text">
            <a:extLst>
              <a:ext uri="{FF2B5EF4-FFF2-40B4-BE49-F238E27FC236}">
                <a16:creationId xmlns:a16="http://schemas.microsoft.com/office/drawing/2014/main" id="{E18D0ED0-3C24-66E7-3555-ABD1CA0F6CD0}"/>
              </a:ext>
            </a:extLst>
          </p:cNvPr>
          <p:cNvSpPr txBox="1"/>
          <p:nvPr/>
        </p:nvSpPr>
        <p:spPr>
          <a:xfrm>
            <a:off x="3606800" y="3149600"/>
            <a:ext cx="2667000" cy="711200"/>
          </a:xfrm>
          <a:prstGeom prst="rect">
            <a:avLst/>
          </a:prstGeom>
          <a:noFill/>
        </p:spPr>
        <p:txBody>
          <a:bodyPr vert="horz" wrap="square" lIns="0" tIns="0" rIns="0" bIns="0" rtlCol="0" anchor="t">
            <a:noAutofit/>
          </a:bodyPr>
          <a:lstStyle/>
          <a:p>
            <a:r>
              <a:rPr lang="en-IN" sz="1700">
                <a:solidFill>
                  <a:srgbClr val="62756A"/>
                </a:solidFill>
                <a:latin typeface="Calibri" panose="020F0502020204030204" pitchFamily="34" charset="0"/>
              </a:rPr>
              <a:t>Source-grounded claims</a:t>
            </a:r>
          </a:p>
        </p:txBody>
      </p:sp>
      <p:sp>
        <p:nvSpPr>
          <p:cNvPr id="12" name="s18-object11-text">
            <a:extLst>
              <a:ext uri="{FF2B5EF4-FFF2-40B4-BE49-F238E27FC236}">
                <a16:creationId xmlns:a16="http://schemas.microsoft.com/office/drawing/2014/main" id="{9B082A85-3D6E-94CC-51AF-E728711EDDC9}"/>
              </a:ext>
            </a:extLst>
          </p:cNvPr>
          <p:cNvSpPr txBox="1"/>
          <p:nvPr/>
        </p:nvSpPr>
        <p:spPr>
          <a:xfrm>
            <a:off x="609600" y="4114800"/>
            <a:ext cx="2667000" cy="774700"/>
          </a:xfrm>
          <a:prstGeom prst="rect">
            <a:avLst/>
          </a:prstGeom>
          <a:noFill/>
        </p:spPr>
        <p:txBody>
          <a:bodyPr vert="horz" wrap="square" lIns="0" tIns="0" rIns="0" bIns="0" rtlCol="0" anchor="t">
            <a:noAutofit/>
          </a:bodyPr>
          <a:lstStyle/>
          <a:p>
            <a:r>
              <a:rPr lang="en-IN" sz="4300" b="1">
                <a:solidFill>
                  <a:srgbClr val="2D7257"/>
                </a:solidFill>
                <a:latin typeface="Calibri" panose="020F0502020204030204" pitchFamily="34" charset="0"/>
              </a:rPr>
              <a:t>8</a:t>
            </a:r>
          </a:p>
        </p:txBody>
      </p:sp>
      <p:sp>
        <p:nvSpPr>
          <p:cNvPr id="13" name="s18-object12-text">
            <a:extLst>
              <a:ext uri="{FF2B5EF4-FFF2-40B4-BE49-F238E27FC236}">
                <a16:creationId xmlns:a16="http://schemas.microsoft.com/office/drawing/2014/main" id="{3A8F46C7-F153-3049-74CF-AFC6FFF0A9CB}"/>
              </a:ext>
            </a:extLst>
          </p:cNvPr>
          <p:cNvSpPr txBox="1"/>
          <p:nvPr/>
        </p:nvSpPr>
        <p:spPr>
          <a:xfrm>
            <a:off x="609600" y="5041900"/>
            <a:ext cx="2667000" cy="711200"/>
          </a:xfrm>
          <a:prstGeom prst="rect">
            <a:avLst/>
          </a:prstGeom>
          <a:noFill/>
        </p:spPr>
        <p:txBody>
          <a:bodyPr vert="horz" wrap="square" lIns="0" tIns="0" rIns="0" bIns="0" rtlCol="0" anchor="t">
            <a:noAutofit/>
          </a:bodyPr>
          <a:lstStyle/>
          <a:p>
            <a:r>
              <a:rPr lang="en-IN" sz="1700">
                <a:solidFill>
                  <a:srgbClr val="62756A"/>
                </a:solidFill>
                <a:latin typeface="Calibri" panose="020F0502020204030204" pitchFamily="34" charset="0"/>
              </a:rPr>
              <a:t>Retained graph edges</a:t>
            </a:r>
          </a:p>
        </p:txBody>
      </p:sp>
      <p:sp>
        <p:nvSpPr>
          <p:cNvPr id="14" name="s18-object13-text">
            <a:extLst>
              <a:ext uri="{FF2B5EF4-FFF2-40B4-BE49-F238E27FC236}">
                <a16:creationId xmlns:a16="http://schemas.microsoft.com/office/drawing/2014/main" id="{A89B4F11-B21B-142A-391C-C1949797D487}"/>
              </a:ext>
            </a:extLst>
          </p:cNvPr>
          <p:cNvSpPr txBox="1"/>
          <p:nvPr/>
        </p:nvSpPr>
        <p:spPr>
          <a:xfrm>
            <a:off x="3606800" y="4114800"/>
            <a:ext cx="2667000" cy="774700"/>
          </a:xfrm>
          <a:prstGeom prst="rect">
            <a:avLst/>
          </a:prstGeom>
          <a:noFill/>
        </p:spPr>
        <p:txBody>
          <a:bodyPr vert="horz" wrap="square" lIns="0" tIns="0" rIns="0" bIns="0" rtlCol="0" anchor="t">
            <a:noAutofit/>
          </a:bodyPr>
          <a:lstStyle/>
          <a:p>
            <a:r>
              <a:rPr lang="en-IN" sz="4300" b="1">
                <a:solidFill>
                  <a:srgbClr val="2D7257"/>
                </a:solidFill>
                <a:latin typeface="Calibri" panose="020F0502020204030204" pitchFamily="34" charset="0"/>
              </a:rPr>
              <a:t>15</a:t>
            </a:r>
          </a:p>
        </p:txBody>
      </p:sp>
      <p:sp>
        <p:nvSpPr>
          <p:cNvPr id="15" name="s18-object14-text">
            <a:extLst>
              <a:ext uri="{FF2B5EF4-FFF2-40B4-BE49-F238E27FC236}">
                <a16:creationId xmlns:a16="http://schemas.microsoft.com/office/drawing/2014/main" id="{1E0C62F7-E8D5-FA0E-E325-91F12B9FCBE4}"/>
              </a:ext>
            </a:extLst>
          </p:cNvPr>
          <p:cNvSpPr txBox="1"/>
          <p:nvPr/>
        </p:nvSpPr>
        <p:spPr>
          <a:xfrm>
            <a:off x="3606800" y="5041900"/>
            <a:ext cx="2667000" cy="711200"/>
          </a:xfrm>
          <a:prstGeom prst="rect">
            <a:avLst/>
          </a:prstGeom>
          <a:noFill/>
        </p:spPr>
        <p:txBody>
          <a:bodyPr vert="horz" wrap="square" lIns="0" tIns="0" rIns="0" bIns="0" rtlCol="0" anchor="t">
            <a:noAutofit/>
          </a:bodyPr>
          <a:lstStyle/>
          <a:p>
            <a:r>
              <a:rPr lang="en-US" sz="1700">
                <a:solidFill>
                  <a:srgbClr val="62756A"/>
                </a:solidFill>
                <a:latin typeface="Calibri" panose="020F0502020204030204" pitchFamily="34" charset="0"/>
              </a:rPr>
              <a:t>Entities in the external graph</a:t>
            </a:r>
            <a:endParaRPr lang="en-IN" sz="1700">
              <a:solidFill>
                <a:srgbClr val="62756A"/>
              </a:solidFill>
              <a:latin typeface="Calibri" panose="020F0502020204030204" pitchFamily="34" charset="0"/>
            </a:endParaRPr>
          </a:p>
        </p:txBody>
      </p:sp>
      <p:graphicFrame>
        <p:nvGraphicFramePr>
          <p:cNvPr id="16" name="s18-object15-table">
            <a:extLst>
              <a:ext uri="{FF2B5EF4-FFF2-40B4-BE49-F238E27FC236}">
                <a16:creationId xmlns:a16="http://schemas.microsoft.com/office/drawing/2014/main" id="{EDBE83E6-E33D-09F7-CEDC-47056AEDB21F}"/>
              </a:ext>
            </a:extLst>
          </p:cNvPr>
          <p:cNvGraphicFramePr>
            <a:graphicFrameLocks noGrp="1"/>
          </p:cNvGraphicFramePr>
          <p:nvPr>
            <p:extLst>
              <p:ext uri="{D42A27DB-BD31-4B8C-83A1-F6EECF244321}">
                <p14:modId xmlns:p14="http://schemas.microsoft.com/office/powerpoint/2010/main" val="2904075615"/>
              </p:ext>
            </p:extLst>
          </p:nvPr>
        </p:nvGraphicFramePr>
        <p:xfrm>
          <a:off x="6858000" y="2184400"/>
          <a:ext cx="4724400" cy="3568700"/>
        </p:xfrm>
        <a:graphic>
          <a:graphicData uri="http://schemas.openxmlformats.org/drawingml/2006/table">
            <a:tbl>
              <a:tblPr firstRow="1" bandRow="1">
                <a:tableStyleId>{5C22544A-7EE6-4342-B048-85BDC9FD1C3A}</a:tableStyleId>
              </a:tblPr>
              <a:tblGrid>
                <a:gridCol w="3771900">
                  <a:extLst>
                    <a:ext uri="{9D8B030D-6E8A-4147-A177-3AD203B41FA5}">
                      <a16:colId xmlns:a16="http://schemas.microsoft.com/office/drawing/2014/main" val="585805815"/>
                    </a:ext>
                  </a:extLst>
                </a:gridCol>
                <a:gridCol w="952500">
                  <a:extLst>
                    <a:ext uri="{9D8B030D-6E8A-4147-A177-3AD203B41FA5}">
                      <a16:colId xmlns:a16="http://schemas.microsoft.com/office/drawing/2014/main" val="2388005490"/>
                    </a:ext>
                  </a:extLst>
                </a:gridCol>
              </a:tblGrid>
              <a:tr h="446088">
                <a:tc>
                  <a:txBody>
                    <a:bodyPr/>
                    <a:lstStyle/>
                    <a:p>
                      <a:pPr algn="l"/>
                      <a:r>
                        <a:rPr lang="en-IN" sz="1500" b="1">
                          <a:solidFill>
                            <a:srgbClr val="FFFFFF"/>
                          </a:solidFill>
                          <a:latin typeface="Calibri" panose="020F0502020204030204" pitchFamily="34" charset="0"/>
                        </a:rPr>
                        <a:t>External outcome</a:t>
                      </a:r>
                    </a:p>
                  </a:txBody>
                  <a:tcPr marL="127000" marR="101600" anchor="ctr">
                    <a:lnL w="6350" cmpd="sng">
                      <a:solidFill>
                        <a:srgbClr val="D7E3DA"/>
                      </a:solidFill>
                    </a:lnL>
                    <a:lnR w="6350" cmpd="sng">
                      <a:solidFill>
                        <a:srgbClr val="D7E3DA"/>
                      </a:solidFill>
                    </a:lnR>
                    <a:lnT w="6350" cmpd="sng">
                      <a:solidFill>
                        <a:srgbClr val="D7E3DA"/>
                      </a:solidFill>
                    </a:lnT>
                    <a:lnB w="6350" cmpd="sng">
                      <a:solidFill>
                        <a:srgbClr val="D7E3DA"/>
                      </a:solidFill>
                    </a:lnB>
                    <a:solidFill>
                      <a:srgbClr val="193F35"/>
                    </a:solidFill>
                  </a:tcPr>
                </a:tc>
                <a:tc>
                  <a:txBody>
                    <a:bodyPr/>
                    <a:lstStyle/>
                    <a:p>
                      <a:pPr algn="ctr"/>
                      <a:r>
                        <a:rPr lang="en-IN" sz="1500" b="1">
                          <a:solidFill>
                            <a:srgbClr val="FFFFFF"/>
                          </a:solidFill>
                          <a:latin typeface="Calibri" panose="020F0502020204030204" pitchFamily="34" charset="0"/>
                        </a:rPr>
                        <a:t>Claims</a:t>
                      </a:r>
                    </a:p>
                  </a:txBody>
                  <a:tcPr marL="127000" marR="101600" anchor="ctr">
                    <a:lnL w="6350" cmpd="sng">
                      <a:solidFill>
                        <a:srgbClr val="D7E3DA"/>
                      </a:solidFill>
                    </a:lnL>
                    <a:lnR w="6350" cmpd="sng">
                      <a:solidFill>
                        <a:srgbClr val="D7E3DA"/>
                      </a:solidFill>
                    </a:lnR>
                    <a:lnT w="6350" cmpd="sng">
                      <a:solidFill>
                        <a:srgbClr val="D7E3DA"/>
                      </a:solidFill>
                    </a:lnT>
                    <a:lnB w="6350" cmpd="sng">
                      <a:solidFill>
                        <a:srgbClr val="D7E3DA"/>
                      </a:solidFill>
                    </a:lnB>
                    <a:solidFill>
                      <a:srgbClr val="193F35"/>
                    </a:solidFill>
                  </a:tcPr>
                </a:tc>
                <a:extLst>
                  <a:ext uri="{0D108BD9-81ED-4DB2-BD59-A6C34878D82A}">
                    <a16:rowId xmlns:a16="http://schemas.microsoft.com/office/drawing/2014/main" val="688756429"/>
                  </a:ext>
                </a:extLst>
              </a:tr>
              <a:tr h="446088">
                <a:tc>
                  <a:txBody>
                    <a:bodyPr/>
                    <a:lstStyle/>
                    <a:p>
                      <a:pPr algn="l"/>
                      <a:r>
                        <a:rPr lang="en-IN" sz="1500" b="0">
                          <a:solidFill>
                            <a:srgbClr val="193F35"/>
                          </a:solidFill>
                          <a:latin typeface="Calibri" panose="020F0502020204030204" pitchFamily="34" charset="0"/>
                        </a:rPr>
                        <a:t>Independent supporting evidence</a:t>
                      </a:r>
                    </a:p>
                  </a:txBody>
                  <a:tcPr marL="127000" marR="101600" anchor="ctr">
                    <a:lnL w="6350" cmpd="sng">
                      <a:solidFill>
                        <a:srgbClr val="D7E3DA"/>
                      </a:solidFill>
                    </a:lnL>
                    <a:lnR w="6350" cmpd="sng">
                      <a:solidFill>
                        <a:srgbClr val="D7E3DA"/>
                      </a:solidFill>
                    </a:lnR>
                    <a:lnT w="6350" cmpd="sng">
                      <a:solidFill>
                        <a:srgbClr val="D7E3DA"/>
                      </a:solidFill>
                    </a:lnT>
                    <a:lnB w="6350" cmpd="sng">
                      <a:solidFill>
                        <a:srgbClr val="D7E3DA"/>
                      </a:solidFill>
                    </a:lnB>
                    <a:solidFill>
                      <a:srgbClr val="EDF4EF"/>
                    </a:solidFill>
                  </a:tcPr>
                </a:tc>
                <a:tc>
                  <a:txBody>
                    <a:bodyPr/>
                    <a:lstStyle/>
                    <a:p>
                      <a:pPr algn="ctr"/>
                      <a:r>
                        <a:rPr lang="en-IN" sz="1500" b="0">
                          <a:solidFill>
                            <a:srgbClr val="193F35"/>
                          </a:solidFill>
                          <a:latin typeface="Calibri" panose="020F0502020204030204" pitchFamily="34" charset="0"/>
                        </a:rPr>
                        <a:t>8</a:t>
                      </a:r>
                    </a:p>
                  </a:txBody>
                  <a:tcPr marL="127000" marR="101600" anchor="ctr">
                    <a:lnL w="6350" cmpd="sng">
                      <a:solidFill>
                        <a:srgbClr val="D7E3DA"/>
                      </a:solidFill>
                    </a:lnL>
                    <a:lnR w="6350" cmpd="sng">
                      <a:solidFill>
                        <a:srgbClr val="D7E3DA"/>
                      </a:solidFill>
                    </a:lnR>
                    <a:lnT w="6350" cmpd="sng">
                      <a:solidFill>
                        <a:srgbClr val="D7E3DA"/>
                      </a:solidFill>
                    </a:lnT>
                    <a:lnB w="6350" cmpd="sng">
                      <a:solidFill>
                        <a:srgbClr val="D7E3DA"/>
                      </a:solidFill>
                    </a:lnB>
                    <a:solidFill>
                      <a:srgbClr val="EDF4EF"/>
                    </a:solidFill>
                  </a:tcPr>
                </a:tc>
                <a:extLst>
                  <a:ext uri="{0D108BD9-81ED-4DB2-BD59-A6C34878D82A}">
                    <a16:rowId xmlns:a16="http://schemas.microsoft.com/office/drawing/2014/main" val="3075441262"/>
                  </a:ext>
                </a:extLst>
              </a:tr>
              <a:tr h="446088">
                <a:tc>
                  <a:txBody>
                    <a:bodyPr/>
                    <a:lstStyle/>
                    <a:p>
                      <a:pPr algn="l"/>
                      <a:r>
                        <a:rPr lang="en-IN" sz="1500" b="0">
                          <a:solidFill>
                            <a:srgbClr val="193F35"/>
                          </a:solidFill>
                          <a:latin typeface="Calibri" panose="020F0502020204030204" pitchFamily="34" charset="0"/>
                        </a:rPr>
                        <a:t>Source-reference support</a:t>
                      </a:r>
                    </a:p>
                  </a:txBody>
                  <a:tcPr marL="127000" marR="101600" anchor="ctr">
                    <a:lnL w="6350" cmpd="sng">
                      <a:solidFill>
                        <a:srgbClr val="D7E3DA"/>
                      </a:solidFill>
                    </a:lnL>
                    <a:lnR w="6350" cmpd="sng">
                      <a:solidFill>
                        <a:srgbClr val="D7E3DA"/>
                      </a:solidFill>
                    </a:lnR>
                    <a:lnT w="6350" cmpd="sng">
                      <a:solidFill>
                        <a:srgbClr val="D7E3DA"/>
                      </a:solidFill>
                    </a:lnT>
                    <a:lnB w="6350" cmpd="sng">
                      <a:solidFill>
                        <a:srgbClr val="D7E3DA"/>
                      </a:solidFill>
                    </a:lnB>
                    <a:solidFill>
                      <a:srgbClr val="FFFFFF"/>
                    </a:solidFill>
                  </a:tcPr>
                </a:tc>
                <a:tc>
                  <a:txBody>
                    <a:bodyPr/>
                    <a:lstStyle/>
                    <a:p>
                      <a:pPr algn="ctr"/>
                      <a:r>
                        <a:rPr lang="en-IN" sz="1500" b="0">
                          <a:solidFill>
                            <a:srgbClr val="193F35"/>
                          </a:solidFill>
                          <a:latin typeface="Calibri" panose="020F0502020204030204" pitchFamily="34" charset="0"/>
                        </a:rPr>
                        <a:t>1</a:t>
                      </a:r>
                    </a:p>
                  </a:txBody>
                  <a:tcPr marL="127000" marR="101600" anchor="ctr">
                    <a:lnL w="6350" cmpd="sng">
                      <a:solidFill>
                        <a:srgbClr val="D7E3DA"/>
                      </a:solidFill>
                    </a:lnL>
                    <a:lnR w="6350" cmpd="sng">
                      <a:solidFill>
                        <a:srgbClr val="D7E3DA"/>
                      </a:solidFill>
                    </a:lnR>
                    <a:lnT w="6350" cmpd="sng">
                      <a:solidFill>
                        <a:srgbClr val="D7E3DA"/>
                      </a:solidFill>
                    </a:lnT>
                    <a:lnB w="6350" cmpd="sng">
                      <a:solidFill>
                        <a:srgbClr val="D7E3DA"/>
                      </a:solidFill>
                    </a:lnB>
                    <a:solidFill>
                      <a:srgbClr val="FFFFFF"/>
                    </a:solidFill>
                  </a:tcPr>
                </a:tc>
                <a:extLst>
                  <a:ext uri="{0D108BD9-81ED-4DB2-BD59-A6C34878D82A}">
                    <a16:rowId xmlns:a16="http://schemas.microsoft.com/office/drawing/2014/main" val="4290908673"/>
                  </a:ext>
                </a:extLst>
              </a:tr>
              <a:tr h="446088">
                <a:tc>
                  <a:txBody>
                    <a:bodyPr/>
                    <a:lstStyle/>
                    <a:p>
                      <a:pPr algn="l"/>
                      <a:r>
                        <a:rPr lang="en-IN" sz="1500" b="0">
                          <a:solidFill>
                            <a:srgbClr val="193F35"/>
                          </a:solidFill>
                          <a:latin typeface="Calibri" panose="020F0502020204030204" pitchFamily="34" charset="0"/>
                        </a:rPr>
                        <a:t>Review required</a:t>
                      </a:r>
                    </a:p>
                  </a:txBody>
                  <a:tcPr marL="127000" marR="101600" anchor="ctr">
                    <a:lnL w="6350" cmpd="sng">
                      <a:solidFill>
                        <a:srgbClr val="D7E3DA"/>
                      </a:solidFill>
                    </a:lnL>
                    <a:lnR w="6350" cmpd="sng">
                      <a:solidFill>
                        <a:srgbClr val="D7E3DA"/>
                      </a:solidFill>
                    </a:lnR>
                    <a:lnT w="6350" cmpd="sng">
                      <a:solidFill>
                        <a:srgbClr val="D7E3DA"/>
                      </a:solidFill>
                    </a:lnT>
                    <a:lnB w="6350" cmpd="sng">
                      <a:solidFill>
                        <a:srgbClr val="D7E3DA"/>
                      </a:solidFill>
                    </a:lnB>
                    <a:solidFill>
                      <a:srgbClr val="EDF4EF"/>
                    </a:solidFill>
                  </a:tcPr>
                </a:tc>
                <a:tc>
                  <a:txBody>
                    <a:bodyPr/>
                    <a:lstStyle/>
                    <a:p>
                      <a:pPr algn="ctr"/>
                      <a:r>
                        <a:rPr lang="en-IN" sz="1500" b="0">
                          <a:solidFill>
                            <a:srgbClr val="193F35"/>
                          </a:solidFill>
                          <a:latin typeface="Calibri" panose="020F0502020204030204" pitchFamily="34" charset="0"/>
                        </a:rPr>
                        <a:t>26</a:t>
                      </a:r>
                    </a:p>
                  </a:txBody>
                  <a:tcPr marL="127000" marR="101600" anchor="ctr">
                    <a:lnL w="6350" cmpd="sng">
                      <a:solidFill>
                        <a:srgbClr val="D7E3DA"/>
                      </a:solidFill>
                    </a:lnL>
                    <a:lnR w="6350" cmpd="sng">
                      <a:solidFill>
                        <a:srgbClr val="D7E3DA"/>
                      </a:solidFill>
                    </a:lnR>
                    <a:lnT w="6350" cmpd="sng">
                      <a:solidFill>
                        <a:srgbClr val="D7E3DA"/>
                      </a:solidFill>
                    </a:lnT>
                    <a:lnB w="6350" cmpd="sng">
                      <a:solidFill>
                        <a:srgbClr val="D7E3DA"/>
                      </a:solidFill>
                    </a:lnB>
                    <a:solidFill>
                      <a:srgbClr val="EDF4EF"/>
                    </a:solidFill>
                  </a:tcPr>
                </a:tc>
                <a:extLst>
                  <a:ext uri="{0D108BD9-81ED-4DB2-BD59-A6C34878D82A}">
                    <a16:rowId xmlns:a16="http://schemas.microsoft.com/office/drawing/2014/main" val="3306637910"/>
                  </a:ext>
                </a:extLst>
              </a:tr>
              <a:tr h="446088">
                <a:tc>
                  <a:txBody>
                    <a:bodyPr/>
                    <a:lstStyle/>
                    <a:p>
                      <a:pPr algn="l"/>
                      <a:r>
                        <a:rPr lang="en-IN" sz="1500" b="0">
                          <a:solidFill>
                            <a:srgbClr val="193F35"/>
                          </a:solidFill>
                          <a:latin typeface="Calibri" panose="020F0502020204030204" pitchFamily="34" charset="0"/>
                        </a:rPr>
                        <a:t>Outside project scope</a:t>
                      </a:r>
                    </a:p>
                  </a:txBody>
                  <a:tcPr marL="127000" marR="101600" anchor="ctr">
                    <a:lnL w="6350" cmpd="sng">
                      <a:solidFill>
                        <a:srgbClr val="D7E3DA"/>
                      </a:solidFill>
                    </a:lnL>
                    <a:lnR w="6350" cmpd="sng">
                      <a:solidFill>
                        <a:srgbClr val="D7E3DA"/>
                      </a:solidFill>
                    </a:lnR>
                    <a:lnT w="6350" cmpd="sng">
                      <a:solidFill>
                        <a:srgbClr val="D7E3DA"/>
                      </a:solidFill>
                    </a:lnT>
                    <a:lnB w="6350" cmpd="sng">
                      <a:solidFill>
                        <a:srgbClr val="D7E3DA"/>
                      </a:solidFill>
                    </a:lnB>
                    <a:solidFill>
                      <a:srgbClr val="FFFFFF"/>
                    </a:solidFill>
                  </a:tcPr>
                </a:tc>
                <a:tc>
                  <a:txBody>
                    <a:bodyPr/>
                    <a:lstStyle/>
                    <a:p>
                      <a:pPr algn="ctr"/>
                      <a:r>
                        <a:rPr lang="en-IN" sz="1500" b="0">
                          <a:solidFill>
                            <a:srgbClr val="193F35"/>
                          </a:solidFill>
                          <a:latin typeface="Calibri" panose="020F0502020204030204" pitchFamily="34" charset="0"/>
                        </a:rPr>
                        <a:t>7</a:t>
                      </a:r>
                    </a:p>
                  </a:txBody>
                  <a:tcPr marL="127000" marR="101600" anchor="ctr">
                    <a:lnL w="6350" cmpd="sng">
                      <a:solidFill>
                        <a:srgbClr val="D7E3DA"/>
                      </a:solidFill>
                    </a:lnL>
                    <a:lnR w="6350" cmpd="sng">
                      <a:solidFill>
                        <a:srgbClr val="D7E3DA"/>
                      </a:solidFill>
                    </a:lnR>
                    <a:lnT w="6350" cmpd="sng">
                      <a:solidFill>
                        <a:srgbClr val="D7E3DA"/>
                      </a:solidFill>
                    </a:lnT>
                    <a:lnB w="6350" cmpd="sng">
                      <a:solidFill>
                        <a:srgbClr val="D7E3DA"/>
                      </a:solidFill>
                    </a:lnB>
                    <a:solidFill>
                      <a:srgbClr val="FFFFFF"/>
                    </a:solidFill>
                  </a:tcPr>
                </a:tc>
                <a:extLst>
                  <a:ext uri="{0D108BD9-81ED-4DB2-BD59-A6C34878D82A}">
                    <a16:rowId xmlns:a16="http://schemas.microsoft.com/office/drawing/2014/main" val="2458019170"/>
                  </a:ext>
                </a:extLst>
              </a:tr>
              <a:tr h="446088">
                <a:tc>
                  <a:txBody>
                    <a:bodyPr/>
                    <a:lstStyle/>
                    <a:p>
                      <a:pPr algn="l"/>
                      <a:r>
                        <a:rPr lang="en-IN" sz="1500" b="0">
                          <a:solidFill>
                            <a:srgbClr val="193F35"/>
                          </a:solidFill>
                          <a:latin typeface="Calibri" panose="020F0502020204030204" pitchFamily="34" charset="0"/>
                        </a:rPr>
                        <a:t>Contradiction / contested</a:t>
                      </a:r>
                    </a:p>
                  </a:txBody>
                  <a:tcPr marL="127000" marR="101600" anchor="ctr">
                    <a:lnL w="6350" cmpd="sng">
                      <a:solidFill>
                        <a:srgbClr val="D7E3DA"/>
                      </a:solidFill>
                    </a:lnL>
                    <a:lnR w="6350" cmpd="sng">
                      <a:solidFill>
                        <a:srgbClr val="D7E3DA"/>
                      </a:solidFill>
                    </a:lnR>
                    <a:lnT w="6350" cmpd="sng">
                      <a:solidFill>
                        <a:srgbClr val="D7E3DA"/>
                      </a:solidFill>
                    </a:lnT>
                    <a:lnB w="6350" cmpd="sng">
                      <a:solidFill>
                        <a:srgbClr val="D7E3DA"/>
                      </a:solidFill>
                    </a:lnB>
                    <a:solidFill>
                      <a:srgbClr val="EDF4EF"/>
                    </a:solidFill>
                  </a:tcPr>
                </a:tc>
                <a:tc>
                  <a:txBody>
                    <a:bodyPr/>
                    <a:lstStyle/>
                    <a:p>
                      <a:pPr algn="ctr"/>
                      <a:r>
                        <a:rPr lang="en-IN" sz="1500" b="0">
                          <a:solidFill>
                            <a:srgbClr val="193F35"/>
                          </a:solidFill>
                          <a:latin typeface="Calibri" panose="020F0502020204030204" pitchFamily="34" charset="0"/>
                        </a:rPr>
                        <a:t>2</a:t>
                      </a:r>
                    </a:p>
                  </a:txBody>
                  <a:tcPr marL="127000" marR="101600" anchor="ctr">
                    <a:lnL w="6350" cmpd="sng">
                      <a:solidFill>
                        <a:srgbClr val="D7E3DA"/>
                      </a:solidFill>
                    </a:lnL>
                    <a:lnR w="6350" cmpd="sng">
                      <a:solidFill>
                        <a:srgbClr val="D7E3DA"/>
                      </a:solidFill>
                    </a:lnR>
                    <a:lnT w="6350" cmpd="sng">
                      <a:solidFill>
                        <a:srgbClr val="D7E3DA"/>
                      </a:solidFill>
                    </a:lnT>
                    <a:lnB w="6350" cmpd="sng">
                      <a:solidFill>
                        <a:srgbClr val="D7E3DA"/>
                      </a:solidFill>
                    </a:lnB>
                    <a:solidFill>
                      <a:srgbClr val="EDF4EF"/>
                    </a:solidFill>
                  </a:tcPr>
                </a:tc>
                <a:extLst>
                  <a:ext uri="{0D108BD9-81ED-4DB2-BD59-A6C34878D82A}">
                    <a16:rowId xmlns:a16="http://schemas.microsoft.com/office/drawing/2014/main" val="1533012019"/>
                  </a:ext>
                </a:extLst>
              </a:tr>
              <a:tr h="446088">
                <a:tc>
                  <a:txBody>
                    <a:bodyPr/>
                    <a:lstStyle/>
                    <a:p>
                      <a:pPr algn="l"/>
                      <a:r>
                        <a:rPr lang="en-IN" sz="1500" b="0">
                          <a:solidFill>
                            <a:srgbClr val="193F35"/>
                          </a:solidFill>
                          <a:latin typeface="Calibri" panose="020F0502020204030204" pitchFamily="34" charset="0"/>
                        </a:rPr>
                        <a:t>External evidence not found</a:t>
                      </a:r>
                    </a:p>
                  </a:txBody>
                  <a:tcPr marL="127000" marR="101600" anchor="ctr">
                    <a:lnL w="6350" cmpd="sng">
                      <a:solidFill>
                        <a:srgbClr val="D7E3DA"/>
                      </a:solidFill>
                    </a:lnL>
                    <a:lnR w="6350" cmpd="sng">
                      <a:solidFill>
                        <a:srgbClr val="D7E3DA"/>
                      </a:solidFill>
                    </a:lnR>
                    <a:lnT w="6350" cmpd="sng">
                      <a:solidFill>
                        <a:srgbClr val="D7E3DA"/>
                      </a:solidFill>
                    </a:lnT>
                    <a:lnB w="6350" cmpd="sng">
                      <a:solidFill>
                        <a:srgbClr val="D7E3DA"/>
                      </a:solidFill>
                    </a:lnB>
                    <a:solidFill>
                      <a:srgbClr val="FFFFFF"/>
                    </a:solidFill>
                  </a:tcPr>
                </a:tc>
                <a:tc>
                  <a:txBody>
                    <a:bodyPr/>
                    <a:lstStyle/>
                    <a:p>
                      <a:pPr algn="ctr"/>
                      <a:r>
                        <a:rPr lang="en-IN" sz="1500" b="0">
                          <a:solidFill>
                            <a:srgbClr val="193F35"/>
                          </a:solidFill>
                          <a:latin typeface="Calibri" panose="020F0502020204030204" pitchFamily="34" charset="0"/>
                        </a:rPr>
                        <a:t>1</a:t>
                      </a:r>
                    </a:p>
                  </a:txBody>
                  <a:tcPr marL="127000" marR="101600" anchor="ctr">
                    <a:lnL w="6350" cmpd="sng">
                      <a:solidFill>
                        <a:srgbClr val="D7E3DA"/>
                      </a:solidFill>
                    </a:lnL>
                    <a:lnR w="6350" cmpd="sng">
                      <a:solidFill>
                        <a:srgbClr val="D7E3DA"/>
                      </a:solidFill>
                    </a:lnR>
                    <a:lnT w="6350" cmpd="sng">
                      <a:solidFill>
                        <a:srgbClr val="D7E3DA"/>
                      </a:solidFill>
                    </a:lnT>
                    <a:lnB w="6350" cmpd="sng">
                      <a:solidFill>
                        <a:srgbClr val="D7E3DA"/>
                      </a:solidFill>
                    </a:lnB>
                    <a:solidFill>
                      <a:srgbClr val="FFFFFF"/>
                    </a:solidFill>
                  </a:tcPr>
                </a:tc>
                <a:extLst>
                  <a:ext uri="{0D108BD9-81ED-4DB2-BD59-A6C34878D82A}">
                    <a16:rowId xmlns:a16="http://schemas.microsoft.com/office/drawing/2014/main" val="4267037838"/>
                  </a:ext>
                </a:extLst>
              </a:tr>
              <a:tr h="446088">
                <a:tc>
                  <a:txBody>
                    <a:bodyPr/>
                    <a:lstStyle/>
                    <a:p>
                      <a:pPr algn="l"/>
                      <a:r>
                        <a:rPr lang="en-IN" sz="1500" b="0">
                          <a:solidFill>
                            <a:srgbClr val="193F35"/>
                          </a:solidFill>
                          <a:latin typeface="Calibri" panose="020F0502020204030204" pitchFamily="34" charset="0"/>
                        </a:rPr>
                        <a:t>Retrieval pending</a:t>
                      </a:r>
                    </a:p>
                  </a:txBody>
                  <a:tcPr marL="127000" marR="101600" anchor="ctr">
                    <a:lnL w="6350" cmpd="sng">
                      <a:solidFill>
                        <a:srgbClr val="D7E3DA"/>
                      </a:solidFill>
                    </a:lnL>
                    <a:lnR w="6350" cmpd="sng">
                      <a:solidFill>
                        <a:srgbClr val="D7E3DA"/>
                      </a:solidFill>
                    </a:lnR>
                    <a:lnT w="6350" cmpd="sng">
                      <a:solidFill>
                        <a:srgbClr val="D7E3DA"/>
                      </a:solidFill>
                    </a:lnT>
                    <a:lnB w="6350" cmpd="sng">
                      <a:solidFill>
                        <a:srgbClr val="D7E3DA"/>
                      </a:solidFill>
                    </a:lnB>
                    <a:solidFill>
                      <a:srgbClr val="EDF4EF"/>
                    </a:solidFill>
                  </a:tcPr>
                </a:tc>
                <a:tc>
                  <a:txBody>
                    <a:bodyPr/>
                    <a:lstStyle/>
                    <a:p>
                      <a:pPr algn="ctr"/>
                      <a:r>
                        <a:rPr lang="en-IN" sz="1500" b="0">
                          <a:solidFill>
                            <a:srgbClr val="193F35"/>
                          </a:solidFill>
                          <a:latin typeface="Calibri" panose="020F0502020204030204" pitchFamily="34" charset="0"/>
                        </a:rPr>
                        <a:t>1</a:t>
                      </a:r>
                    </a:p>
                  </a:txBody>
                  <a:tcPr marL="127000" marR="101600" anchor="ctr">
                    <a:lnL w="6350" cmpd="sng">
                      <a:solidFill>
                        <a:srgbClr val="D7E3DA"/>
                      </a:solidFill>
                    </a:lnL>
                    <a:lnR w="6350" cmpd="sng">
                      <a:solidFill>
                        <a:srgbClr val="D7E3DA"/>
                      </a:solidFill>
                    </a:lnR>
                    <a:lnT w="6350" cmpd="sng">
                      <a:solidFill>
                        <a:srgbClr val="D7E3DA"/>
                      </a:solidFill>
                    </a:lnT>
                    <a:lnB w="6350" cmpd="sng">
                      <a:solidFill>
                        <a:srgbClr val="D7E3DA"/>
                      </a:solidFill>
                    </a:lnB>
                    <a:solidFill>
                      <a:srgbClr val="EDF4EF"/>
                    </a:solidFill>
                  </a:tcPr>
                </a:tc>
                <a:extLst>
                  <a:ext uri="{0D108BD9-81ED-4DB2-BD59-A6C34878D82A}">
                    <a16:rowId xmlns:a16="http://schemas.microsoft.com/office/drawing/2014/main" val="1206790186"/>
                  </a:ext>
                </a:extLst>
              </a:tr>
            </a:tbl>
          </a:graphicData>
        </a:graphic>
      </p:graphicFrame>
      <p:sp>
        <p:nvSpPr>
          <p:cNvPr id="17" name="s18-object16-text">
            <a:extLst>
              <a:ext uri="{FF2B5EF4-FFF2-40B4-BE49-F238E27FC236}">
                <a16:creationId xmlns:a16="http://schemas.microsoft.com/office/drawing/2014/main" id="{C62C5479-4CBB-7D07-E471-6CBCDC84C28F}"/>
              </a:ext>
            </a:extLst>
          </p:cNvPr>
          <p:cNvSpPr txBox="1"/>
          <p:nvPr/>
        </p:nvSpPr>
        <p:spPr>
          <a:xfrm>
            <a:off x="6858000" y="5943600"/>
            <a:ext cx="4724400" cy="482600"/>
          </a:xfrm>
          <a:prstGeom prst="rect">
            <a:avLst/>
          </a:prstGeom>
          <a:noFill/>
        </p:spPr>
        <p:txBody>
          <a:bodyPr vert="horz" wrap="square" lIns="0" tIns="0" rIns="0" bIns="0" rtlCol="0" anchor="t">
            <a:noAutofit/>
          </a:bodyPr>
          <a:lstStyle/>
          <a:p>
            <a:r>
              <a:rPr lang="en-US" sz="1300">
                <a:solidFill>
                  <a:srgbClr val="62756A"/>
                </a:solidFill>
                <a:latin typeface="Calibri" panose="020F0502020204030204" pitchFamily="34" charset="0"/>
              </a:rPr>
              <a:t>46 source-grounded claims enter evidence assessment.
45 have completed assessments; 1 has pending retrieval.</a:t>
            </a:r>
            <a:endParaRPr lang="en-IN" sz="1300">
              <a:solidFill>
                <a:srgbClr val="62756A"/>
              </a:solidFill>
              <a:latin typeface="Calibri" panose="020F0502020204030204" pitchFamily="34" charset="0"/>
            </a:endParaRPr>
          </a:p>
        </p:txBody>
      </p:sp>
    </p:spTree>
    <p:extLst>
      <p:ext uri="{BB962C8B-B14F-4D97-AF65-F5344CB8AC3E}">
        <p14:creationId xmlns:p14="http://schemas.microsoft.com/office/powerpoint/2010/main" val="1681892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CFDFB"/>
        </a:solidFill>
        <a:effectLst/>
      </p:bgPr>
    </p:bg>
    <p:spTree>
      <p:nvGrpSpPr>
        <p:cNvPr id="1" name=""/>
        <p:cNvGrpSpPr/>
        <p:nvPr/>
      </p:nvGrpSpPr>
      <p:grpSpPr>
        <a:xfrm>
          <a:off x="0" y="0"/>
          <a:ext cx="0" cy="0"/>
          <a:chOff x="0" y="0"/>
          <a:chExt cx="0" cy="0"/>
        </a:xfrm>
      </p:grpSpPr>
      <p:sp>
        <p:nvSpPr>
          <p:cNvPr id="2" name="s19-object1-text">
            <a:extLst>
              <a:ext uri="{FF2B5EF4-FFF2-40B4-BE49-F238E27FC236}">
                <a16:creationId xmlns:a16="http://schemas.microsoft.com/office/drawing/2014/main" id="{A156537F-9706-C13A-EB87-9C711D243167}"/>
              </a:ext>
            </a:extLst>
          </p:cNvPr>
          <p:cNvSpPr txBox="1"/>
          <p:nvPr/>
        </p:nvSpPr>
        <p:spPr>
          <a:xfrm>
            <a:off x="609600" y="304800"/>
            <a:ext cx="10160000" cy="228600"/>
          </a:xfrm>
          <a:prstGeom prst="rect">
            <a:avLst/>
          </a:prstGeom>
          <a:noFill/>
        </p:spPr>
        <p:txBody>
          <a:bodyPr vert="horz" wrap="square" lIns="0" tIns="0" rIns="0" bIns="0" rtlCol="0" anchor="t">
            <a:noAutofit/>
          </a:bodyPr>
          <a:lstStyle/>
          <a:p>
            <a:r>
              <a:rPr lang="en-IN" sz="1000" b="1">
                <a:solidFill>
                  <a:srgbClr val="2D7257"/>
                </a:solidFill>
                <a:latin typeface="Calibri" panose="020F0502020204030204" pitchFamily="34" charset="0"/>
              </a:rPr>
              <a:t>RESEARCH DASHBOARD</a:t>
            </a:r>
          </a:p>
        </p:txBody>
      </p:sp>
      <p:sp>
        <p:nvSpPr>
          <p:cNvPr id="3" name="s19-object2-text">
            <a:extLst>
              <a:ext uri="{FF2B5EF4-FFF2-40B4-BE49-F238E27FC236}">
                <a16:creationId xmlns:a16="http://schemas.microsoft.com/office/drawing/2014/main" id="{9E2671B5-4CA3-7B61-9F19-E82B2E137FBE}"/>
              </a:ext>
            </a:extLst>
          </p:cNvPr>
          <p:cNvSpPr txBox="1"/>
          <p:nvPr/>
        </p:nvSpPr>
        <p:spPr>
          <a:xfrm>
            <a:off x="609600" y="647700"/>
            <a:ext cx="10972800" cy="622300"/>
          </a:xfrm>
          <a:prstGeom prst="rect">
            <a:avLst/>
          </a:prstGeom>
          <a:noFill/>
        </p:spPr>
        <p:txBody>
          <a:bodyPr vert="horz" wrap="square" lIns="0" tIns="0" rIns="0" bIns="0" rtlCol="0" anchor="t">
            <a:noAutofit/>
          </a:bodyPr>
          <a:lstStyle/>
          <a:p>
            <a:r>
              <a:rPr lang="en-US" sz="3000" b="1">
                <a:solidFill>
                  <a:srgbClr val="193F35"/>
                </a:solidFill>
                <a:latin typeface="Calibri" panose="020F0502020204030204" pitchFamily="34" charset="0"/>
              </a:rPr>
              <a:t>Researchers can inspect a pathway and its evidence</a:t>
            </a:r>
            <a:endParaRPr lang="en-IN" sz="3000" b="1">
              <a:solidFill>
                <a:srgbClr val="193F35"/>
              </a:solidFill>
              <a:latin typeface="Calibri" panose="020F0502020204030204" pitchFamily="34" charset="0"/>
            </a:endParaRPr>
          </a:p>
        </p:txBody>
      </p:sp>
      <p:sp>
        <p:nvSpPr>
          <p:cNvPr id="4" name="s19-object3-text">
            <a:extLst>
              <a:ext uri="{FF2B5EF4-FFF2-40B4-BE49-F238E27FC236}">
                <a16:creationId xmlns:a16="http://schemas.microsoft.com/office/drawing/2014/main" id="{3747475B-117F-C4DB-5EF1-9701505544A8}"/>
              </a:ext>
            </a:extLst>
          </p:cNvPr>
          <p:cNvSpPr txBox="1"/>
          <p:nvPr/>
        </p:nvSpPr>
        <p:spPr>
          <a:xfrm>
            <a:off x="609600" y="1346200"/>
            <a:ext cx="10972800" cy="584200"/>
          </a:xfrm>
          <a:prstGeom prst="rect">
            <a:avLst/>
          </a:prstGeom>
          <a:noFill/>
        </p:spPr>
        <p:txBody>
          <a:bodyPr vert="horz" wrap="square" lIns="0" tIns="0" rIns="0" bIns="0" rtlCol="0" anchor="t">
            <a:noAutofit/>
          </a:bodyPr>
          <a:lstStyle/>
          <a:p>
            <a:r>
              <a:rPr lang="en-US" sz="1600">
                <a:solidFill>
                  <a:srgbClr val="62756A"/>
                </a:solidFill>
                <a:latin typeface="Calibri" panose="020F0502020204030204" pitchFamily="34" charset="0"/>
              </a:rPr>
              <a:t>The interface keeps extracted claims, provisional connections and validated edges distinguishable.</a:t>
            </a:r>
            <a:endParaRPr lang="en-IN" sz="1600">
              <a:solidFill>
                <a:srgbClr val="62756A"/>
              </a:solidFill>
              <a:latin typeface="Calibri" panose="020F0502020204030204" pitchFamily="34" charset="0"/>
            </a:endParaRPr>
          </a:p>
        </p:txBody>
      </p:sp>
      <p:cxnSp>
        <p:nvCxnSpPr>
          <p:cNvPr id="5" name="s19-object4-line">
            <a:extLst>
              <a:ext uri="{FF2B5EF4-FFF2-40B4-BE49-F238E27FC236}">
                <a16:creationId xmlns:a16="http://schemas.microsoft.com/office/drawing/2014/main" id="{50DAC2FE-13FC-21DB-895D-FEE5DA339F53}"/>
              </a:ext>
            </a:extLst>
          </p:cNvPr>
          <p:cNvCxnSpPr/>
          <p:nvPr/>
        </p:nvCxnSpPr>
        <p:spPr>
          <a:xfrm>
            <a:off x="609600" y="6477000"/>
            <a:ext cx="10972800" cy="0"/>
          </a:xfrm>
          <a:prstGeom prst="line">
            <a:avLst/>
          </a:prstGeom>
          <a:ln w="15240">
            <a:solidFill>
              <a:srgbClr val="D7E3DA"/>
            </a:solidFill>
          </a:ln>
        </p:spPr>
        <p:style>
          <a:lnRef idx="2">
            <a:schemeClr val="accent1"/>
          </a:lnRef>
          <a:fillRef idx="0">
            <a:schemeClr val="accent1"/>
          </a:fillRef>
          <a:effectRef idx="1">
            <a:schemeClr val="accent1"/>
          </a:effectRef>
          <a:fontRef idx="minor">
            <a:schemeClr val="tx1"/>
          </a:fontRef>
        </p:style>
      </p:cxnSp>
      <p:sp>
        <p:nvSpPr>
          <p:cNvPr id="6" name="s19-object5-text">
            <a:extLst>
              <a:ext uri="{FF2B5EF4-FFF2-40B4-BE49-F238E27FC236}">
                <a16:creationId xmlns:a16="http://schemas.microsoft.com/office/drawing/2014/main" id="{EFC7EEA0-F985-8E2D-1068-782CB0C11A3C}"/>
              </a:ext>
            </a:extLst>
          </p:cNvPr>
          <p:cNvSpPr txBox="1"/>
          <p:nvPr/>
        </p:nvSpPr>
        <p:spPr>
          <a:xfrm>
            <a:off x="609600" y="6553200"/>
            <a:ext cx="8255000" cy="190500"/>
          </a:xfrm>
          <a:prstGeom prst="rect">
            <a:avLst/>
          </a:prstGeom>
          <a:noFill/>
        </p:spPr>
        <p:txBody>
          <a:bodyPr vert="horz" wrap="square" lIns="0" tIns="0" rIns="0" bIns="0" rtlCol="0" anchor="t">
            <a:noAutofit/>
          </a:bodyPr>
          <a:lstStyle/>
          <a:p>
            <a:r>
              <a:rPr lang="en-US" sz="900">
                <a:solidFill>
                  <a:srgbClr val="62756A"/>
                </a:solidFill>
                <a:latin typeface="Calibri" panose="020F0502020204030204" pitchFamily="34" charset="0"/>
              </a:rPr>
              <a:t>Reasoning with Food Knowledge Graphs</a:t>
            </a:r>
            <a:endParaRPr lang="en-IN" sz="900">
              <a:solidFill>
                <a:srgbClr val="62756A"/>
              </a:solidFill>
              <a:latin typeface="Calibri" panose="020F0502020204030204" pitchFamily="34" charset="0"/>
            </a:endParaRPr>
          </a:p>
        </p:txBody>
      </p:sp>
      <p:sp>
        <p:nvSpPr>
          <p:cNvPr id="7" name="s19-object6-text">
            <a:extLst>
              <a:ext uri="{FF2B5EF4-FFF2-40B4-BE49-F238E27FC236}">
                <a16:creationId xmlns:a16="http://schemas.microsoft.com/office/drawing/2014/main" id="{90D97F20-6043-774A-4A65-DFA6BDAB1D96}"/>
              </a:ext>
            </a:extLst>
          </p:cNvPr>
          <p:cNvSpPr txBox="1"/>
          <p:nvPr/>
        </p:nvSpPr>
        <p:spPr>
          <a:xfrm>
            <a:off x="11049000" y="6553200"/>
            <a:ext cx="533400" cy="190500"/>
          </a:xfrm>
          <a:prstGeom prst="rect">
            <a:avLst/>
          </a:prstGeom>
          <a:noFill/>
        </p:spPr>
        <p:txBody>
          <a:bodyPr vert="horz" wrap="square" lIns="0" tIns="0" rIns="0" bIns="0" rtlCol="0" anchor="t">
            <a:noAutofit/>
          </a:bodyPr>
          <a:lstStyle/>
          <a:p>
            <a:pPr algn="r"/>
            <a:r>
              <a:rPr lang="en-IN" sz="900">
                <a:solidFill>
                  <a:srgbClr val="62756A"/>
                </a:solidFill>
                <a:latin typeface="Calibri" panose="020F0502020204030204" pitchFamily="34" charset="0"/>
              </a:rPr>
              <a:t>19</a:t>
            </a:r>
          </a:p>
        </p:txBody>
      </p:sp>
      <p:sp>
        <p:nvSpPr>
          <p:cNvPr id="8" name="s19-object7-rect">
            <a:extLst>
              <a:ext uri="{FF2B5EF4-FFF2-40B4-BE49-F238E27FC236}">
                <a16:creationId xmlns:a16="http://schemas.microsoft.com/office/drawing/2014/main" id="{980957F6-AC06-99A3-091D-FE1DFCDA8E07}"/>
              </a:ext>
            </a:extLst>
          </p:cNvPr>
          <p:cNvSpPr/>
          <p:nvPr/>
        </p:nvSpPr>
        <p:spPr>
          <a:xfrm>
            <a:off x="662940" y="2211070"/>
            <a:ext cx="293370" cy="363220"/>
          </a:xfrm>
          <a:prstGeom prst="rect">
            <a:avLst/>
          </a:prstGeom>
          <a:noFill/>
          <a:ln w="10160" cap="flat" cmpd="sng" algn="ctr">
            <a:solidFill>
              <a:srgbClr val="2D7257"/>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19-object8-line">
            <a:extLst>
              <a:ext uri="{FF2B5EF4-FFF2-40B4-BE49-F238E27FC236}">
                <a16:creationId xmlns:a16="http://schemas.microsoft.com/office/drawing/2014/main" id="{C9AFF71E-D237-A5D0-C76D-4829C453CD28}"/>
              </a:ext>
            </a:extLst>
          </p:cNvPr>
          <p:cNvCxnSpPr/>
          <p:nvPr/>
        </p:nvCxnSpPr>
        <p:spPr>
          <a:xfrm>
            <a:off x="732790" y="2308860"/>
            <a:ext cx="15367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0" name="s19-object9-line">
            <a:extLst>
              <a:ext uri="{FF2B5EF4-FFF2-40B4-BE49-F238E27FC236}">
                <a16:creationId xmlns:a16="http://schemas.microsoft.com/office/drawing/2014/main" id="{B727C580-6102-5B8B-7336-AD71E67923D8}"/>
              </a:ext>
            </a:extLst>
          </p:cNvPr>
          <p:cNvCxnSpPr/>
          <p:nvPr/>
        </p:nvCxnSpPr>
        <p:spPr>
          <a:xfrm>
            <a:off x="732790" y="2392680"/>
            <a:ext cx="15367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1" name="s19-object10-line">
            <a:extLst>
              <a:ext uri="{FF2B5EF4-FFF2-40B4-BE49-F238E27FC236}">
                <a16:creationId xmlns:a16="http://schemas.microsoft.com/office/drawing/2014/main" id="{BA814EE9-14C3-2064-A626-8C8D322684C5}"/>
              </a:ext>
            </a:extLst>
          </p:cNvPr>
          <p:cNvCxnSpPr/>
          <p:nvPr/>
        </p:nvCxnSpPr>
        <p:spPr>
          <a:xfrm>
            <a:off x="732790" y="2476500"/>
            <a:ext cx="12573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12" name="s19-object11-text">
            <a:extLst>
              <a:ext uri="{FF2B5EF4-FFF2-40B4-BE49-F238E27FC236}">
                <a16:creationId xmlns:a16="http://schemas.microsoft.com/office/drawing/2014/main" id="{2786CF5A-F1A1-3E49-6136-E71326119EFC}"/>
              </a:ext>
            </a:extLst>
          </p:cNvPr>
          <p:cNvSpPr txBox="1"/>
          <p:nvPr/>
        </p:nvSpPr>
        <p:spPr>
          <a:xfrm>
            <a:off x="1143000" y="2184400"/>
            <a:ext cx="2984500" cy="419100"/>
          </a:xfrm>
          <a:prstGeom prst="rect">
            <a:avLst/>
          </a:prstGeom>
          <a:noFill/>
        </p:spPr>
        <p:txBody>
          <a:bodyPr vert="horz" wrap="square" lIns="0" tIns="0" rIns="0" bIns="0" rtlCol="0" anchor="t">
            <a:noAutofit/>
          </a:bodyPr>
          <a:lstStyle/>
          <a:p>
            <a:r>
              <a:rPr lang="en-IN" sz="2200" b="1">
                <a:solidFill>
                  <a:srgbClr val="193F35"/>
                </a:solidFill>
                <a:latin typeface="Calibri" panose="020F0502020204030204" pitchFamily="34" charset="0"/>
              </a:rPr>
              <a:t>Claim inspector</a:t>
            </a:r>
          </a:p>
        </p:txBody>
      </p:sp>
      <p:cxnSp>
        <p:nvCxnSpPr>
          <p:cNvPr id="13" name="s19-object12-line">
            <a:extLst>
              <a:ext uri="{FF2B5EF4-FFF2-40B4-BE49-F238E27FC236}">
                <a16:creationId xmlns:a16="http://schemas.microsoft.com/office/drawing/2014/main" id="{A83DA96E-C1D4-3BE0-BEBD-42B9DE5926D4}"/>
              </a:ext>
            </a:extLst>
          </p:cNvPr>
          <p:cNvCxnSpPr/>
          <p:nvPr/>
        </p:nvCxnSpPr>
        <p:spPr>
          <a:xfrm>
            <a:off x="609600" y="2844800"/>
            <a:ext cx="3403600" cy="0"/>
          </a:xfrm>
          <a:prstGeom prst="line">
            <a:avLst/>
          </a:prstGeom>
          <a:ln w="15240">
            <a:solidFill>
              <a:srgbClr val="D7E3DA"/>
            </a:solidFill>
          </a:ln>
        </p:spPr>
        <p:style>
          <a:lnRef idx="2">
            <a:schemeClr val="accent1"/>
          </a:lnRef>
          <a:fillRef idx="0">
            <a:schemeClr val="accent1"/>
          </a:fillRef>
          <a:effectRef idx="1">
            <a:schemeClr val="accent1"/>
          </a:effectRef>
          <a:fontRef idx="minor">
            <a:schemeClr val="tx1"/>
          </a:fontRef>
        </p:style>
      </p:cxnSp>
      <p:sp>
        <p:nvSpPr>
          <p:cNvPr id="14" name="s19-object13-ellipse">
            <a:extLst>
              <a:ext uri="{FF2B5EF4-FFF2-40B4-BE49-F238E27FC236}">
                <a16:creationId xmlns:a16="http://schemas.microsoft.com/office/drawing/2014/main" id="{4492F5B2-0DB5-36FC-4997-DF600C6EA66D}"/>
              </a:ext>
            </a:extLst>
          </p:cNvPr>
          <p:cNvSpPr/>
          <p:nvPr/>
        </p:nvSpPr>
        <p:spPr>
          <a:xfrm>
            <a:off x="4408170" y="2225040"/>
            <a:ext cx="83820" cy="83820"/>
          </a:xfrm>
          <a:prstGeom prst="ellipse">
            <a:avLst/>
          </a:prstGeom>
          <a:solidFill>
            <a:srgbClr val="FFFFFF"/>
          </a:solidFill>
          <a:ln w="10160">
            <a:solidFill>
              <a:srgbClr val="2D725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s19-object14-ellipse">
            <a:extLst>
              <a:ext uri="{FF2B5EF4-FFF2-40B4-BE49-F238E27FC236}">
                <a16:creationId xmlns:a16="http://schemas.microsoft.com/office/drawing/2014/main" id="{8FFF3522-1AB1-3C63-DAD3-798E0EF35433}"/>
              </a:ext>
            </a:extLst>
          </p:cNvPr>
          <p:cNvSpPr/>
          <p:nvPr/>
        </p:nvSpPr>
        <p:spPr>
          <a:xfrm>
            <a:off x="4645660" y="2225040"/>
            <a:ext cx="83820" cy="83820"/>
          </a:xfrm>
          <a:prstGeom prst="ellipse">
            <a:avLst/>
          </a:prstGeom>
          <a:solidFill>
            <a:srgbClr val="FFFFFF"/>
          </a:solidFill>
          <a:ln w="10160">
            <a:solidFill>
              <a:srgbClr val="2D725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s19-object15-ellipse">
            <a:extLst>
              <a:ext uri="{FF2B5EF4-FFF2-40B4-BE49-F238E27FC236}">
                <a16:creationId xmlns:a16="http://schemas.microsoft.com/office/drawing/2014/main" id="{6FAB5279-FB6F-ABA0-2354-0D1537570BE3}"/>
              </a:ext>
            </a:extLst>
          </p:cNvPr>
          <p:cNvSpPr/>
          <p:nvPr/>
        </p:nvSpPr>
        <p:spPr>
          <a:xfrm>
            <a:off x="4519930" y="2476500"/>
            <a:ext cx="83820" cy="83820"/>
          </a:xfrm>
          <a:prstGeom prst="ellipse">
            <a:avLst/>
          </a:prstGeom>
          <a:solidFill>
            <a:srgbClr val="FFFFFF"/>
          </a:solidFill>
          <a:ln w="10160">
            <a:solidFill>
              <a:srgbClr val="2D725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s19-object16-line">
            <a:extLst>
              <a:ext uri="{FF2B5EF4-FFF2-40B4-BE49-F238E27FC236}">
                <a16:creationId xmlns:a16="http://schemas.microsoft.com/office/drawing/2014/main" id="{49E7B03C-9907-1601-7567-A13CF77E1E15}"/>
              </a:ext>
            </a:extLst>
          </p:cNvPr>
          <p:cNvCxnSpPr/>
          <p:nvPr/>
        </p:nvCxnSpPr>
        <p:spPr>
          <a:xfrm>
            <a:off x="4491990" y="2266950"/>
            <a:ext cx="153670" cy="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8" name="s19-object17-line">
            <a:extLst>
              <a:ext uri="{FF2B5EF4-FFF2-40B4-BE49-F238E27FC236}">
                <a16:creationId xmlns:a16="http://schemas.microsoft.com/office/drawing/2014/main" id="{71A7E227-A470-966D-2165-3AFC9CCFAC05}"/>
              </a:ext>
            </a:extLst>
          </p:cNvPr>
          <p:cNvCxnSpPr/>
          <p:nvPr/>
        </p:nvCxnSpPr>
        <p:spPr>
          <a:xfrm>
            <a:off x="4464050" y="2308860"/>
            <a:ext cx="69850" cy="16764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19" name="s19-object18-line">
            <a:extLst>
              <a:ext uri="{FF2B5EF4-FFF2-40B4-BE49-F238E27FC236}">
                <a16:creationId xmlns:a16="http://schemas.microsoft.com/office/drawing/2014/main" id="{CD160BC5-09C8-0D7C-7E36-AC08429D12A5}"/>
              </a:ext>
            </a:extLst>
          </p:cNvPr>
          <p:cNvCxnSpPr/>
          <p:nvPr/>
        </p:nvCxnSpPr>
        <p:spPr>
          <a:xfrm flipH="1">
            <a:off x="4589780" y="2308860"/>
            <a:ext cx="69850" cy="16764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20" name="s19-object19-text">
            <a:extLst>
              <a:ext uri="{FF2B5EF4-FFF2-40B4-BE49-F238E27FC236}">
                <a16:creationId xmlns:a16="http://schemas.microsoft.com/office/drawing/2014/main" id="{640F3A16-D96E-9AC6-FDCA-58612CDDA15A}"/>
              </a:ext>
            </a:extLst>
          </p:cNvPr>
          <p:cNvSpPr txBox="1"/>
          <p:nvPr/>
        </p:nvSpPr>
        <p:spPr>
          <a:xfrm>
            <a:off x="4902200" y="2184400"/>
            <a:ext cx="2984500" cy="419100"/>
          </a:xfrm>
          <a:prstGeom prst="rect">
            <a:avLst/>
          </a:prstGeom>
          <a:noFill/>
        </p:spPr>
        <p:txBody>
          <a:bodyPr vert="horz" wrap="square" lIns="0" tIns="0" rIns="0" bIns="0" rtlCol="0" anchor="t">
            <a:noAutofit/>
          </a:bodyPr>
          <a:lstStyle/>
          <a:p>
            <a:r>
              <a:rPr lang="en-IN" sz="2200" b="1">
                <a:solidFill>
                  <a:srgbClr val="193F35"/>
                </a:solidFill>
                <a:latin typeface="Calibri" panose="020F0502020204030204" pitchFamily="34" charset="0"/>
              </a:rPr>
              <a:t>Trust network</a:t>
            </a:r>
          </a:p>
        </p:txBody>
      </p:sp>
      <p:cxnSp>
        <p:nvCxnSpPr>
          <p:cNvPr id="21" name="s19-object20-line">
            <a:extLst>
              <a:ext uri="{FF2B5EF4-FFF2-40B4-BE49-F238E27FC236}">
                <a16:creationId xmlns:a16="http://schemas.microsoft.com/office/drawing/2014/main" id="{D907ECC2-20E6-13EA-2765-B6FCDC6DF2A7}"/>
              </a:ext>
            </a:extLst>
          </p:cNvPr>
          <p:cNvCxnSpPr/>
          <p:nvPr/>
        </p:nvCxnSpPr>
        <p:spPr>
          <a:xfrm>
            <a:off x="4368800" y="2844800"/>
            <a:ext cx="3403600" cy="0"/>
          </a:xfrm>
          <a:prstGeom prst="line">
            <a:avLst/>
          </a:prstGeom>
          <a:ln w="15240">
            <a:solidFill>
              <a:srgbClr val="D7E3DA"/>
            </a:solidFill>
          </a:ln>
        </p:spPr>
        <p:style>
          <a:lnRef idx="2">
            <a:schemeClr val="accent1"/>
          </a:lnRef>
          <a:fillRef idx="0">
            <a:schemeClr val="accent1"/>
          </a:fillRef>
          <a:effectRef idx="1">
            <a:schemeClr val="accent1"/>
          </a:effectRef>
          <a:fontRef idx="minor">
            <a:schemeClr val="tx1"/>
          </a:fontRef>
        </p:style>
      </p:cxnSp>
      <p:cxnSp>
        <p:nvCxnSpPr>
          <p:cNvPr id="22" name="s19-object21-line">
            <a:extLst>
              <a:ext uri="{FF2B5EF4-FFF2-40B4-BE49-F238E27FC236}">
                <a16:creationId xmlns:a16="http://schemas.microsoft.com/office/drawing/2014/main" id="{ED3E5AD6-31B7-D503-1FF1-505A0CF5F08D}"/>
              </a:ext>
            </a:extLst>
          </p:cNvPr>
          <p:cNvCxnSpPr/>
          <p:nvPr/>
        </p:nvCxnSpPr>
        <p:spPr>
          <a:xfrm>
            <a:off x="8195310" y="2392680"/>
            <a:ext cx="83820" cy="8382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cxnSp>
        <p:nvCxnSpPr>
          <p:cNvPr id="23" name="s19-object22-line">
            <a:extLst>
              <a:ext uri="{FF2B5EF4-FFF2-40B4-BE49-F238E27FC236}">
                <a16:creationId xmlns:a16="http://schemas.microsoft.com/office/drawing/2014/main" id="{CF9DA7BB-9276-2E1E-1F4D-7D3FAE89104D}"/>
              </a:ext>
            </a:extLst>
          </p:cNvPr>
          <p:cNvCxnSpPr/>
          <p:nvPr/>
        </p:nvCxnSpPr>
        <p:spPr>
          <a:xfrm flipV="1">
            <a:off x="8279130" y="2252980"/>
            <a:ext cx="195580" cy="223520"/>
          </a:xfrm>
          <a:prstGeom prst="line">
            <a:avLst/>
          </a:prstGeom>
          <a:ln w="19050">
            <a:solidFill>
              <a:srgbClr val="2D7257"/>
            </a:solidFill>
          </a:ln>
        </p:spPr>
        <p:style>
          <a:lnRef idx="2">
            <a:schemeClr val="accent1"/>
          </a:lnRef>
          <a:fillRef idx="0">
            <a:schemeClr val="accent1"/>
          </a:fillRef>
          <a:effectRef idx="1">
            <a:schemeClr val="accent1"/>
          </a:effectRef>
          <a:fontRef idx="minor">
            <a:schemeClr val="tx1"/>
          </a:fontRef>
        </p:style>
      </p:cxnSp>
      <p:sp>
        <p:nvSpPr>
          <p:cNvPr id="24" name="s19-object23-text">
            <a:extLst>
              <a:ext uri="{FF2B5EF4-FFF2-40B4-BE49-F238E27FC236}">
                <a16:creationId xmlns:a16="http://schemas.microsoft.com/office/drawing/2014/main" id="{2B483DF5-A1E5-1D84-21C4-55337326C70F}"/>
              </a:ext>
            </a:extLst>
          </p:cNvPr>
          <p:cNvSpPr txBox="1"/>
          <p:nvPr/>
        </p:nvSpPr>
        <p:spPr>
          <a:xfrm>
            <a:off x="8661400" y="2184400"/>
            <a:ext cx="2984500" cy="419100"/>
          </a:xfrm>
          <a:prstGeom prst="rect">
            <a:avLst/>
          </a:prstGeom>
          <a:noFill/>
        </p:spPr>
        <p:txBody>
          <a:bodyPr vert="horz" wrap="square" lIns="0" tIns="0" rIns="0" bIns="0" rtlCol="0" anchor="t">
            <a:noAutofit/>
          </a:bodyPr>
          <a:lstStyle/>
          <a:p>
            <a:r>
              <a:rPr lang="en-IN" sz="2200" b="1">
                <a:solidFill>
                  <a:srgbClr val="193F35"/>
                </a:solidFill>
                <a:latin typeface="Calibri" panose="020F0502020204030204" pitchFamily="34" charset="0"/>
              </a:rPr>
              <a:t>Validated graph</a:t>
            </a:r>
          </a:p>
        </p:txBody>
      </p:sp>
      <p:cxnSp>
        <p:nvCxnSpPr>
          <p:cNvPr id="25" name="s19-object24-line">
            <a:extLst>
              <a:ext uri="{FF2B5EF4-FFF2-40B4-BE49-F238E27FC236}">
                <a16:creationId xmlns:a16="http://schemas.microsoft.com/office/drawing/2014/main" id="{07F9CC88-E691-C211-C745-0E8FE1FE5A18}"/>
              </a:ext>
            </a:extLst>
          </p:cNvPr>
          <p:cNvCxnSpPr/>
          <p:nvPr/>
        </p:nvCxnSpPr>
        <p:spPr>
          <a:xfrm>
            <a:off x="8128000" y="2844800"/>
            <a:ext cx="3403600" cy="0"/>
          </a:xfrm>
          <a:prstGeom prst="line">
            <a:avLst/>
          </a:prstGeom>
          <a:ln w="15240">
            <a:solidFill>
              <a:srgbClr val="D7E3DA"/>
            </a:solidFill>
          </a:ln>
        </p:spPr>
        <p:style>
          <a:lnRef idx="2">
            <a:schemeClr val="accent1"/>
          </a:lnRef>
          <a:fillRef idx="0">
            <a:schemeClr val="accent1"/>
          </a:fillRef>
          <a:effectRef idx="1">
            <a:schemeClr val="accent1"/>
          </a:effectRef>
          <a:fontRef idx="minor">
            <a:schemeClr val="tx1"/>
          </a:fontRef>
        </p:style>
      </p:cxnSp>
      <p:sp>
        <p:nvSpPr>
          <p:cNvPr id="26" name="s19-object25-text">
            <a:extLst>
              <a:ext uri="{FF2B5EF4-FFF2-40B4-BE49-F238E27FC236}">
                <a16:creationId xmlns:a16="http://schemas.microsoft.com/office/drawing/2014/main" id="{322A7EF1-FAF8-44B4-3619-6CF0E140EFA7}"/>
              </a:ext>
            </a:extLst>
          </p:cNvPr>
          <p:cNvSpPr txBox="1"/>
          <p:nvPr/>
        </p:nvSpPr>
        <p:spPr>
          <a:xfrm>
            <a:off x="609600" y="3175000"/>
            <a:ext cx="3352800" cy="2133600"/>
          </a:xfrm>
          <a:prstGeom prst="rect">
            <a:avLst/>
          </a:prstGeom>
          <a:noFill/>
        </p:spPr>
        <p:txBody>
          <a:bodyPr vert="horz" wrap="square" lIns="0" tIns="0" rIns="0" bIns="0" rtlCol="0" anchor="t">
            <a:noAutofit/>
          </a:bodyPr>
          <a:lstStyle/>
          <a:p>
            <a:r>
              <a:rPr lang="en-IN" sz="1900">
                <a:solidFill>
                  <a:srgbClr val="193F35"/>
                </a:solidFill>
                <a:latin typeface="Calibri" panose="020F0502020204030204" pitchFamily="34" charset="0"/>
              </a:rPr>
              <a:t>Original triplet
Source passage and page
External paper findings</a:t>
            </a:r>
          </a:p>
        </p:txBody>
      </p:sp>
      <p:sp>
        <p:nvSpPr>
          <p:cNvPr id="27" name="s19-object26-ellipse">
            <a:extLst>
              <a:ext uri="{FF2B5EF4-FFF2-40B4-BE49-F238E27FC236}">
                <a16:creationId xmlns:a16="http://schemas.microsoft.com/office/drawing/2014/main" id="{EFA8B82A-3B32-F82B-D7C8-685E99A634F2}"/>
              </a:ext>
            </a:extLst>
          </p:cNvPr>
          <p:cNvSpPr/>
          <p:nvPr/>
        </p:nvSpPr>
        <p:spPr>
          <a:xfrm>
            <a:off x="4978400" y="3238500"/>
            <a:ext cx="558800" cy="558800"/>
          </a:xfrm>
          <a:prstGeom prst="ellipse">
            <a:avLst/>
          </a:prstGeom>
          <a:solidFill>
            <a:srgbClr val="EDF4EF"/>
          </a:solidFill>
          <a:ln w="10160">
            <a:solidFill>
              <a:srgbClr val="D7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s19-object27-ellipse">
            <a:extLst>
              <a:ext uri="{FF2B5EF4-FFF2-40B4-BE49-F238E27FC236}">
                <a16:creationId xmlns:a16="http://schemas.microsoft.com/office/drawing/2014/main" id="{717A530C-761F-06DE-BFA5-E13C0A59AF69}"/>
              </a:ext>
            </a:extLst>
          </p:cNvPr>
          <p:cNvSpPr/>
          <p:nvPr/>
        </p:nvSpPr>
        <p:spPr>
          <a:xfrm>
            <a:off x="6870700" y="3238500"/>
            <a:ext cx="558800" cy="558800"/>
          </a:xfrm>
          <a:prstGeom prst="ellipse">
            <a:avLst/>
          </a:prstGeom>
          <a:solidFill>
            <a:srgbClr val="EDF4EF"/>
          </a:solidFill>
          <a:ln w="10160">
            <a:solidFill>
              <a:srgbClr val="D7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s19-object28-ellipse">
            <a:extLst>
              <a:ext uri="{FF2B5EF4-FFF2-40B4-BE49-F238E27FC236}">
                <a16:creationId xmlns:a16="http://schemas.microsoft.com/office/drawing/2014/main" id="{C207C80F-F086-31D9-C4FD-8E76FBC0377B}"/>
              </a:ext>
            </a:extLst>
          </p:cNvPr>
          <p:cNvSpPr/>
          <p:nvPr/>
        </p:nvSpPr>
        <p:spPr>
          <a:xfrm>
            <a:off x="5892800" y="4419600"/>
            <a:ext cx="558800" cy="558800"/>
          </a:xfrm>
          <a:prstGeom prst="ellipse">
            <a:avLst/>
          </a:prstGeom>
          <a:solidFill>
            <a:srgbClr val="F7F1E5"/>
          </a:solidFill>
          <a:ln w="10160">
            <a:solidFill>
              <a:srgbClr val="D7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0" name="s19-object29-line">
            <a:extLst>
              <a:ext uri="{FF2B5EF4-FFF2-40B4-BE49-F238E27FC236}">
                <a16:creationId xmlns:a16="http://schemas.microsoft.com/office/drawing/2014/main" id="{DA00FCA1-9879-0ECF-6398-DC676FFF3FCC}"/>
              </a:ext>
            </a:extLst>
          </p:cNvPr>
          <p:cNvCxnSpPr/>
          <p:nvPr/>
        </p:nvCxnSpPr>
        <p:spPr>
          <a:xfrm>
            <a:off x="5537200" y="3517900"/>
            <a:ext cx="1320800" cy="0"/>
          </a:xfrm>
          <a:prstGeom prst="line">
            <a:avLst/>
          </a:prstGeom>
          <a:ln w="20320">
            <a:solidFill>
              <a:srgbClr val="2D7257"/>
            </a:solidFill>
            <a:tailEnd type="arrow"/>
          </a:ln>
        </p:spPr>
        <p:style>
          <a:lnRef idx="2">
            <a:schemeClr val="accent1"/>
          </a:lnRef>
          <a:fillRef idx="0">
            <a:schemeClr val="accent1"/>
          </a:fillRef>
          <a:effectRef idx="1">
            <a:schemeClr val="accent1"/>
          </a:effectRef>
          <a:fontRef idx="minor">
            <a:schemeClr val="tx1"/>
          </a:fontRef>
        </p:style>
      </p:cxnSp>
      <p:cxnSp>
        <p:nvCxnSpPr>
          <p:cNvPr id="31" name="s19-object30-line">
            <a:extLst>
              <a:ext uri="{FF2B5EF4-FFF2-40B4-BE49-F238E27FC236}">
                <a16:creationId xmlns:a16="http://schemas.microsoft.com/office/drawing/2014/main" id="{2ECD5408-C314-67E1-4F9F-9C3E87467BC5}"/>
              </a:ext>
            </a:extLst>
          </p:cNvPr>
          <p:cNvCxnSpPr/>
          <p:nvPr/>
        </p:nvCxnSpPr>
        <p:spPr>
          <a:xfrm flipH="1">
            <a:off x="6350000" y="3771900"/>
            <a:ext cx="635000" cy="673100"/>
          </a:xfrm>
          <a:prstGeom prst="line">
            <a:avLst/>
          </a:prstGeom>
          <a:ln w="20320">
            <a:solidFill>
              <a:srgbClr val="B28A4F"/>
            </a:solidFill>
            <a:tailEnd type="arrow"/>
          </a:ln>
        </p:spPr>
        <p:style>
          <a:lnRef idx="2">
            <a:schemeClr val="accent1"/>
          </a:lnRef>
          <a:fillRef idx="0">
            <a:schemeClr val="accent1"/>
          </a:fillRef>
          <a:effectRef idx="1">
            <a:schemeClr val="accent1"/>
          </a:effectRef>
          <a:fontRef idx="minor">
            <a:schemeClr val="tx1"/>
          </a:fontRef>
        </p:style>
      </p:cxnSp>
      <p:sp>
        <p:nvSpPr>
          <p:cNvPr id="32" name="s19-object31-text">
            <a:extLst>
              <a:ext uri="{FF2B5EF4-FFF2-40B4-BE49-F238E27FC236}">
                <a16:creationId xmlns:a16="http://schemas.microsoft.com/office/drawing/2014/main" id="{97430AA2-DFF9-AB7E-94DF-996A7B7BD731}"/>
              </a:ext>
            </a:extLst>
          </p:cNvPr>
          <p:cNvSpPr txBox="1"/>
          <p:nvPr/>
        </p:nvSpPr>
        <p:spPr>
          <a:xfrm>
            <a:off x="4978400" y="3429000"/>
            <a:ext cx="558800" cy="228600"/>
          </a:xfrm>
          <a:prstGeom prst="rect">
            <a:avLst/>
          </a:prstGeom>
          <a:noFill/>
        </p:spPr>
        <p:txBody>
          <a:bodyPr vert="horz" wrap="square" lIns="0" tIns="0" rIns="0" bIns="0" rtlCol="0" anchor="t">
            <a:noAutofit/>
          </a:bodyPr>
          <a:lstStyle/>
          <a:p>
            <a:pPr algn="ctr"/>
            <a:r>
              <a:rPr lang="en-IN" sz="1100" b="1">
                <a:solidFill>
                  <a:srgbClr val="193F35"/>
                </a:solidFill>
                <a:latin typeface="Calibri" panose="020F0502020204030204" pitchFamily="34" charset="0"/>
              </a:rPr>
              <a:t>Grain</a:t>
            </a:r>
          </a:p>
        </p:txBody>
      </p:sp>
      <p:sp>
        <p:nvSpPr>
          <p:cNvPr id="33" name="s19-object32-text">
            <a:extLst>
              <a:ext uri="{FF2B5EF4-FFF2-40B4-BE49-F238E27FC236}">
                <a16:creationId xmlns:a16="http://schemas.microsoft.com/office/drawing/2014/main" id="{934A1331-DED5-A2D7-00F4-8C3E8B700702}"/>
              </a:ext>
            </a:extLst>
          </p:cNvPr>
          <p:cNvSpPr txBox="1"/>
          <p:nvPr/>
        </p:nvSpPr>
        <p:spPr>
          <a:xfrm>
            <a:off x="6870700" y="3429000"/>
            <a:ext cx="558800" cy="228600"/>
          </a:xfrm>
          <a:prstGeom prst="rect">
            <a:avLst/>
          </a:prstGeom>
          <a:noFill/>
        </p:spPr>
        <p:txBody>
          <a:bodyPr vert="horz" wrap="square" lIns="0" tIns="0" rIns="0" bIns="0" rtlCol="0" anchor="t">
            <a:noAutofit/>
          </a:bodyPr>
          <a:lstStyle/>
          <a:p>
            <a:pPr algn="ctr"/>
            <a:r>
              <a:rPr lang="en-IN" sz="1100" b="1">
                <a:solidFill>
                  <a:srgbClr val="193F35"/>
                </a:solidFill>
                <a:latin typeface="Calibri" panose="020F0502020204030204" pitchFamily="34" charset="0"/>
              </a:rPr>
              <a:t>Toxin</a:t>
            </a:r>
          </a:p>
        </p:txBody>
      </p:sp>
      <p:sp>
        <p:nvSpPr>
          <p:cNvPr id="34" name="s19-object33-text">
            <a:extLst>
              <a:ext uri="{FF2B5EF4-FFF2-40B4-BE49-F238E27FC236}">
                <a16:creationId xmlns:a16="http://schemas.microsoft.com/office/drawing/2014/main" id="{8D554271-4BCE-DDC8-7310-0BC1796E854A}"/>
              </a:ext>
            </a:extLst>
          </p:cNvPr>
          <p:cNvSpPr txBox="1"/>
          <p:nvPr/>
        </p:nvSpPr>
        <p:spPr>
          <a:xfrm>
            <a:off x="5727700" y="4597400"/>
            <a:ext cx="889000" cy="241300"/>
          </a:xfrm>
          <a:prstGeom prst="rect">
            <a:avLst/>
          </a:prstGeom>
          <a:noFill/>
        </p:spPr>
        <p:txBody>
          <a:bodyPr vert="horz" wrap="square" lIns="0" tIns="0" rIns="0" bIns="0" rtlCol="0" anchor="t">
            <a:noAutofit/>
          </a:bodyPr>
          <a:lstStyle/>
          <a:p>
            <a:pPr algn="ctr"/>
            <a:r>
              <a:rPr lang="en-IN" sz="1100" b="1">
                <a:solidFill>
                  <a:srgbClr val="193F35"/>
                </a:solidFill>
                <a:latin typeface="Calibri" panose="020F0502020204030204" pitchFamily="34" charset="0"/>
              </a:rPr>
              <a:t>Food use</a:t>
            </a:r>
          </a:p>
        </p:txBody>
      </p:sp>
      <p:sp>
        <p:nvSpPr>
          <p:cNvPr id="35" name="s19-object34-text">
            <a:extLst>
              <a:ext uri="{FF2B5EF4-FFF2-40B4-BE49-F238E27FC236}">
                <a16:creationId xmlns:a16="http://schemas.microsoft.com/office/drawing/2014/main" id="{C0FF2A46-FA03-EAA0-D60A-D06B7A71CAC9}"/>
              </a:ext>
            </a:extLst>
          </p:cNvPr>
          <p:cNvSpPr txBox="1"/>
          <p:nvPr/>
        </p:nvSpPr>
        <p:spPr>
          <a:xfrm>
            <a:off x="4368800" y="5219700"/>
            <a:ext cx="3390900" cy="381000"/>
          </a:xfrm>
          <a:prstGeom prst="rect">
            <a:avLst/>
          </a:prstGeom>
          <a:noFill/>
        </p:spPr>
        <p:txBody>
          <a:bodyPr vert="horz" wrap="square" lIns="0" tIns="0" rIns="0" bIns="0" rtlCol="0" anchor="t">
            <a:noAutofit/>
          </a:bodyPr>
          <a:lstStyle/>
          <a:p>
            <a:r>
              <a:rPr lang="en-IN" sz="1500">
                <a:solidFill>
                  <a:srgbClr val="62756A"/>
                </a:solidFill>
                <a:latin typeface="Calibri" panose="020F0502020204030204" pitchFamily="34" charset="0"/>
              </a:rPr>
              <a:t>Evidence balance + review states</a:t>
            </a:r>
          </a:p>
        </p:txBody>
      </p:sp>
      <p:sp>
        <p:nvSpPr>
          <p:cNvPr id="36" name="s19-object35-text">
            <a:extLst>
              <a:ext uri="{FF2B5EF4-FFF2-40B4-BE49-F238E27FC236}">
                <a16:creationId xmlns:a16="http://schemas.microsoft.com/office/drawing/2014/main" id="{C70F0E18-5D94-4C07-B282-2C28451EFE25}"/>
              </a:ext>
            </a:extLst>
          </p:cNvPr>
          <p:cNvSpPr txBox="1"/>
          <p:nvPr/>
        </p:nvSpPr>
        <p:spPr>
          <a:xfrm>
            <a:off x="8128000" y="3175000"/>
            <a:ext cx="3403600" cy="2133600"/>
          </a:xfrm>
          <a:prstGeom prst="rect">
            <a:avLst/>
          </a:prstGeom>
          <a:noFill/>
        </p:spPr>
        <p:txBody>
          <a:bodyPr vert="horz" wrap="square" lIns="0" tIns="0" rIns="0" bIns="0" rtlCol="0" anchor="t">
            <a:noAutofit/>
          </a:bodyPr>
          <a:lstStyle/>
          <a:p>
            <a:r>
              <a:rPr lang="en-IN" sz="1900">
                <a:solidFill>
                  <a:srgbClr val="193F35"/>
                </a:solidFill>
                <a:latin typeface="Calibri" panose="020F0502020204030204" pitchFamily="34" charset="0"/>
              </a:rPr>
              <a:t>8 retained edges
15 aligned entities
Traceable source citations</a:t>
            </a:r>
          </a:p>
        </p:txBody>
      </p:sp>
      <p:sp>
        <p:nvSpPr>
          <p:cNvPr id="37" name="s19-object36-rect">
            <a:extLst>
              <a:ext uri="{FF2B5EF4-FFF2-40B4-BE49-F238E27FC236}">
                <a16:creationId xmlns:a16="http://schemas.microsoft.com/office/drawing/2014/main" id="{914D282F-6871-18E8-075B-1C7C9C4837C9}"/>
              </a:ext>
            </a:extLst>
          </p:cNvPr>
          <p:cNvSpPr/>
          <p:nvPr/>
        </p:nvSpPr>
        <p:spPr>
          <a:xfrm>
            <a:off x="609600" y="5803900"/>
            <a:ext cx="10972800" cy="546100"/>
          </a:xfrm>
          <a:prstGeom prst="rect">
            <a:avLst/>
          </a:prstGeom>
          <a:solidFill>
            <a:srgbClr val="EDF4E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s19-object37-text">
            <a:extLst>
              <a:ext uri="{FF2B5EF4-FFF2-40B4-BE49-F238E27FC236}">
                <a16:creationId xmlns:a16="http://schemas.microsoft.com/office/drawing/2014/main" id="{ADBE52BA-30A9-1051-6FA1-8C551221F298}"/>
              </a:ext>
            </a:extLst>
          </p:cNvPr>
          <p:cNvSpPr txBox="1"/>
          <p:nvPr/>
        </p:nvSpPr>
        <p:spPr>
          <a:xfrm>
            <a:off x="787400" y="5892800"/>
            <a:ext cx="10617200" cy="355600"/>
          </a:xfrm>
          <a:prstGeom prst="rect">
            <a:avLst/>
          </a:prstGeom>
          <a:noFill/>
        </p:spPr>
        <p:txBody>
          <a:bodyPr vert="horz" wrap="square" lIns="0" tIns="0" rIns="0" bIns="0" rtlCol="0" anchor="t">
            <a:noAutofit/>
          </a:bodyPr>
          <a:lstStyle/>
          <a:p>
            <a:r>
              <a:rPr lang="en-US" sz="1900" b="1">
                <a:solidFill>
                  <a:srgbClr val="2D7257"/>
                </a:solidFill>
                <a:latin typeface="Calibri" panose="020F0502020204030204" pitchFamily="34" charset="0"/>
              </a:rPr>
              <a:t>A connected research graph with an inspectable evidence record for every claim</a:t>
            </a:r>
            <a:endParaRPr lang="en-IN" sz="1900" b="1">
              <a:solidFill>
                <a:srgbClr val="2D7257"/>
              </a:solidFill>
              <a:latin typeface="Calibri" panose="020F0502020204030204" pitchFamily="34" charset="0"/>
            </a:endParaRPr>
          </a:p>
        </p:txBody>
      </p:sp>
    </p:spTree>
    <p:extLst>
      <p:ext uri="{BB962C8B-B14F-4D97-AF65-F5344CB8AC3E}">
        <p14:creationId xmlns:p14="http://schemas.microsoft.com/office/powerpoint/2010/main" val="21162688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3550</Words>
  <Application>Microsoft Office PowerPoint</Application>
  <PresentationFormat>Custom</PresentationFormat>
  <Paragraphs>342</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nilesh gupta</dc:creator>
  <cp:lastModifiedBy>nilesh gupta</cp:lastModifiedBy>
  <cp:revision>1</cp:revision>
  <dcterms:created xsi:type="dcterms:W3CDTF">2026-10-28T10:14:01Z</dcterms:created>
  <dcterms:modified xsi:type="dcterms:W3CDTF">2026-10-28T10:14:01Z</dcterms:modified>
</cp:coreProperties>
</file>